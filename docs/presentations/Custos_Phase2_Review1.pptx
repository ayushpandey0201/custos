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17"/>
    <p:sldId id="262" r:id="rId18"/>
    <p:sldId id="263" r:id="rId7"/>
    <p:sldId id="264" r:id="rId8"/>
    <p:sldId id="265" r:id="rId19"/>
    <p:sldId id="266" r:id="rId20"/>
    <p:sldId id="267" r:id="rId21"/>
    <p:sldId id="268" r:id="rId9"/>
    <p:sldId id="269" r:id="rId22"/>
    <p:sldId id="270" r:id="rId23"/>
    <p:sldId id="271" r:id="rId27"/>
    <p:sldId id="272" r:id="rId28"/>
    <p:sldId id="273" r:id="rId29"/>
    <p:sldId id="274" r:id="rId24"/>
    <p:sldId id="275" r:id="rId25"/>
    <p:sldId id="276" r:id="rId26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3.xml"/><Relationship Id="rId10" Type="http://schemas.openxmlformats.org/officeDocument/2006/relationships/slide" Target="slides/slide22.xml"/><Relationship Id="rId11" Type="http://schemas.openxmlformats.org/officeDocument/2006/relationships/notesMaster" Target="notesMasters/notesMaster1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E64CC-FAEA-419F-85AD-198B850C8D2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8047E-ABDD-4AF6-BACE-9BE3DC3E4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421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8DC7-A1AF-454D-8F51-1EED3626D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5B11F-023F-4919-AB4A-585D993C1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1392C-B085-4A0C-835C-887FE05E4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690A-2018-4C35-84C1-074B36A8631B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16E43-37A0-4A7C-8D2E-D56ED0504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48056-AE10-4E2D-836A-8FE0A214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015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CB72E-9EB0-4D5C-9212-928BA2680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BAEB-BDDE-4D24-8B52-E7DA57FB6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63259-5941-4A24-9144-10E25DA07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5C25-6344-4FCC-B0C5-B8E7C09A7920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62CA2-E8B4-4C80-8E31-44F6F336A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CB4F3-0B0C-45B4-8CD2-8CEA9926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84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C05A-F84C-46F4-AA53-E5BD71E6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58BEB-486A-40BF-BFA4-AAC41F702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777AD-1E4A-49AD-B010-4B5F40947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C459-52BE-4A7F-8B66-B0BDD5930200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39839-E3C8-4668-B4BB-8F9AA9CFD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3822D-B98B-437B-820A-234A6367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895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5003-09BE-47AD-ABD9-CF3855D76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4CB74-49D3-41E8-95EE-82990C444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FC566-6024-497C-BE11-8D0352BC3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4B89F-D41B-462A-A991-2D4B6323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00D5F-C7D7-4DA9-8ED1-6A26ED488053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69D38-E1C2-4933-BBFE-F57C3917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9292E-2746-4501-ADF7-C4F14A8D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18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0879-8E62-45BC-AF8C-25286B3B2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83ABB-CE83-403E-8621-103F660E8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C4F16-181B-418B-8C33-53BD349A3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4CB22-06EF-4C53-97AD-6005175A8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DC58C-36E6-4ED2-A747-8257F32B0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59A9E8-C2BF-4670-8445-296C9B288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19B0-41D6-4259-BDD5-5E4016DE45FE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029DB8-1E8B-4256-906C-E498D14E7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8EAA8-29C1-4CB8-9FB3-CA8AC6ADF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73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AEF7-FFC2-4F73-B673-20FA77FA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BD792-97FD-4783-B155-DCBBCEC69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B6B39-79AD-49CF-9581-BBED8573797D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E01A47-5CA7-49DD-B220-7036801F4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A02EB-4172-4384-8A07-825746F5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73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F028B-BC35-4777-8DA5-349770F4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09DC-397F-4C90-BEF8-1B27AE70C1B8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1F0F5-4C14-4F89-807A-BAFA18E6D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ECB63-3832-410F-B52B-EA5059FB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92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265A5-589F-436F-B963-51B674C2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C5788-6A11-41D3-AFA3-9AEA251F6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CE902-1E56-451A-B337-0A06E5A5F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E3FBC-6860-44C4-AA13-71D32C829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D71C-7E0D-4C06-BD4A-154CEF952E54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17787-1889-4CB9-A6B6-0B536CE4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C5F25-288D-4C05-A2D0-34DF85E3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47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D07F-8DC5-4B8C-9A7F-3DCCA66B9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75A51A-5EDE-4327-972A-56F8AD07C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9361E-CE10-493C-AEDB-CA7DA6A2E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CDBE5-0868-41ED-B735-08360E92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FDE7-01DF-4ABF-99D1-733E01D15C4D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8971D-9DD4-4EF2-9CE0-1E2EA1EF7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E5A19-0667-4C50-872A-ADBEF04AF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992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A367-7B98-4B2A-AD6F-870DCECC2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F63E8-4F90-40DC-B1B5-8723F4D22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4E234-4D4A-47CB-BF9E-3E0A5A2E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4DF75-2FED-488D-BFD6-8E71635C4D39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46CE3-AF2A-4CBF-AA79-BFBF38FF4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FBBF8-FA99-4380-AC6E-975D04836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01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161571-5B71-44C5-B8A1-03F5C543A6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2296D-5675-43B3-A998-5E03CAB29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7514F-7C52-405E-9731-6E25A1D84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5C36C-502D-4ECE-A30C-9E599D171CDD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6880-27F0-438E-8025-61DE8779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0B98-06B8-4EC1-9657-61C66E3F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0956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C45A6E-8825-46BC-99DE-D500EC37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CE6DD-1CF5-45D9-A60F-1126C62EE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227C5-F783-4179-A852-7DEB6E167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68655-725C-4355-803F-4C179E033006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64982-03A8-46F2-A6BE-9F377DEF7A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755F6-3403-4B19-B155-5ED22F4EA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821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198" y="0"/>
            <a:ext cx="8365069" cy="2658535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8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BMS College of Engineering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(Autonomous College under VTU)</a:t>
            </a:r>
          </a:p>
          <a:p>
            <a:pPr marL="0" indent="0" algn="ctr">
              <a:spcBef>
                <a:spcPts val="250"/>
              </a:spcBef>
              <a:buNone/>
            </a:pPr>
            <a:r>
              <a:rPr lang="en-US" sz="16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Artificial Intelligence and Data Science</a:t>
            </a:r>
          </a:p>
          <a:p>
            <a:pPr marL="0" indent="0" algn="ctr">
              <a:spcBef>
                <a:spcPts val="35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Work Phase-II (23AI7PWPP1) — Review-1</a:t>
            </a:r>
          </a:p>
          <a:p>
            <a:pPr marL="0" indent="0" algn="ctr">
              <a:spcBef>
                <a:spcPts val="35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CUSTOS</a:t>
            </a:r>
          </a:p>
          <a:p>
            <a:pPr marL="0" indent="0" algn="ctr">
              <a:spcBef>
                <a:spcPts val="120"/>
              </a:spcBef>
              <a:buNone/>
            </a:pPr>
            <a:r>
              <a:rPr lang="en-US" sz="18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Runtime Drift Enforcement for Production ML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3657597"/>
            <a:ext cx="8957733" cy="2531536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US" sz="16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AYUSH PANDEY		1BM23AD074</a:t>
            </a:r>
          </a:p>
          <a:p>
            <a:pPr marL="0" indent="0" algn="ctr">
              <a:spcBef>
                <a:spcPts val="120"/>
              </a:spcBef>
              <a:buNone/>
            </a:pPr>
            <a:r>
              <a:rPr lang="en-US" sz="16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VIVEK BOORA		1BM23AD073</a:t>
            </a:r>
          </a:p>
          <a:p>
            <a:pPr marL="0" indent="0" algn="ctr">
              <a:spcBef>
                <a:spcPts val="120"/>
              </a:spcBef>
              <a:buNone/>
            </a:pPr>
            <a:r>
              <a:rPr lang="en-US" sz="16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NITIN		1BM24AD404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US" sz="1300" b="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the guidance of</a:t>
            </a:r>
          </a:p>
          <a:p>
            <a:pPr marL="0" indent="0" algn="ctr">
              <a:spcBef>
                <a:spcPts val="150"/>
              </a:spcBef>
              <a:buNone/>
            </a:pPr>
            <a:r>
              <a:rPr lang="en-US" sz="17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Shruthi K R</a:t>
            </a:r>
          </a:p>
          <a:p>
            <a:pPr marL="0" indent="0" algn="ctr">
              <a:spcBef>
                <a:spcPts val="6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Dept. of AI &amp; DS, BMSCE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240E3-26F4-4429-8843-A286E3DC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4AD60-7A91-4584-9CFF-40792E6A86E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B91F5-5ED3-4E5D-840C-40EC0896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6A3399C-E55B-4351-BDB5-EC39B3EC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8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 — and why existing tooling does not close it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survey and research gap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Objectives, scope and requirements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design — architecture, request flow, drift pipeline, decision logic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status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— live demonstration and drift attribution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and validation — how the detector is calibrated, and against what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rigour — load testing, the defects it found, and the fixes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contributions and conclusion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9101FD2-598A-4BE2-AC54-854A97F6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9FD98-5FDC-4CCE-BD5A-59D793565931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34A87-4A6E-4927-B895-60B8978B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0EDBAA-3DAF-4A0B-ADCD-B56430B1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99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5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model is validated once, deployed, and then trusted indefinitely. Drift is checked on a quarterly report — but decisions are made every second.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pic>
        <p:nvPicPr>
          <p:cNvPr id="8" name="Picture 7" descr="problem_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7" y="2606040"/>
            <a:ext cx="100584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Existing Tooling Does Not Close 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9467" y="16002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5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tools exist. They sit beside the request path and report afterwards. None of them can stop the decision that is about to be made.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pic>
        <p:nvPicPr>
          <p:cNvPr id="8" name="Picture 7" descr="on_pa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527" y="2514600"/>
            <a:ext cx="9692640" cy="288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62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Survey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Six works across three areas: ML systems infrastructure, distribution-shift detection, and tamper-evident logging.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F0831F2-8306-4C86-91C8-F8915A9B23B3}"/>
              </a:ext>
            </a:extLst>
          </p:cNvPr>
          <p:cNvGraphicFramePr>
            <a:graphicFrameLocks noGrp="1"/>
          </p:cNvGraphicFramePr>
          <p:nvPr/>
        </p:nvGraphicFramePr>
        <p:xfrm>
          <a:off x="960120" y="2240280"/>
          <a:ext cx="10241277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07">
                  <a:extLst>
                    <a:ext uri="{9D8B030D-6E8A-4147-A177-3AD203B41FA5}">
                      <a16:colId xmlns:a16="http://schemas.microsoft.com/office/drawing/2014/main" val="2288673594"/>
                    </a:ext>
                  </a:extLst>
                </a:gridCol>
                <a:gridCol w="1228953">
                  <a:extLst>
                    <a:ext uri="{9D8B030D-6E8A-4147-A177-3AD203B41FA5}">
                      <a16:colId xmlns:a16="http://schemas.microsoft.com/office/drawing/2014/main" val="333199711"/>
                    </a:ext>
                  </a:extLst>
                </a:gridCol>
                <a:gridCol w="614476">
                  <a:extLst>
                    <a:ext uri="{9D8B030D-6E8A-4147-A177-3AD203B41FA5}">
                      <a16:colId xmlns:a16="http://schemas.microsoft.com/office/drawing/2014/main" val="3714884348"/>
                    </a:ext>
                  </a:extLst>
                </a:gridCol>
                <a:gridCol w="2457907">
                  <a:extLst>
                    <a:ext uri="{9D8B030D-6E8A-4147-A177-3AD203B41FA5}">
                      <a16:colId xmlns:a16="http://schemas.microsoft.com/office/drawing/2014/main" val="72185476"/>
                    </a:ext>
                  </a:extLst>
                </a:gridCol>
                <a:gridCol w="1843430">
                  <a:extLst>
                    <a:ext uri="{9D8B030D-6E8A-4147-A177-3AD203B41FA5}">
                      <a16:colId xmlns:a16="http://schemas.microsoft.com/office/drawing/2014/main" val="872815148"/>
                    </a:ext>
                  </a:extLst>
                </a:gridCol>
                <a:gridCol w="1638604">
                  <a:extLst>
                    <a:ext uri="{9D8B030D-6E8A-4147-A177-3AD203B41FA5}">
                      <a16:colId xmlns:a16="http://schemas.microsoft.com/office/drawing/2014/main" val="2673185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z="1000" b="1"/>
                        <a:t>Paper Title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000" b="1"/>
                        <a:t>Name of Journal / Conference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000" b="1"/>
                        <a:t>Published Year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000" b="1"/>
                        <a:t>Novelty / Techniques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000" b="1"/>
                        <a:t>Limitations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000" b="1"/>
                        <a:t>Gap Identified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915848"/>
                  </a:ext>
                </a:extLst>
              </a:tr>
              <a:tr h="370840"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Hidden Technical Debt in Machine Learning Systems</a:t>
                      </a:r>
                      <a:endParaRPr lang="en-IN"/>
                    </a:p>
                    <a:p>
                      <a:r>
                        <a:rPr sz="850" i="1">
                          <a:latin typeface="Calibri"/>
                        </a:rPr>
                        <a:t>Sculley et al., Google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NeurIPS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2015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Shows ML systems accrue hidden debt: glue code, configuration and data dependencies dominate the codebase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Diagnoses the problem; proposes no runtime mechanism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Names the infrastructure gap but does not close 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672611"/>
                  </a:ext>
                </a:extLst>
              </a:tr>
              <a:tr h="370840"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A Survey on Concept Drift Adaptation</a:t>
                      </a:r>
                      <a:endParaRPr lang="en-IN" dirty="0"/>
                    </a:p>
                    <a:p>
                      <a:r>
                        <a:rPr sz="850" i="1">
                          <a:latin typeface="Calibri"/>
                        </a:rPr>
                        <a:t>Gama, Zliobaite, Bifet et al.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ACM Computing Surveys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2014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Canonical taxonomy of drift; detectors, adaptive windowing, ensemble adaptation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Framed as offline / streaming learning; no enforcement step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Detection is fully decoupled from any decision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28343"/>
                  </a:ext>
                </a:extLst>
              </a:tr>
              <a:tr h="370840"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Learning under Concept Drift: A Review</a:t>
                      </a:r>
                      <a:endParaRPr lang="en-IN" dirty="0"/>
                    </a:p>
                    <a:p>
                      <a:r>
                        <a:rPr sz="850" i="1">
                          <a:latin typeface="Calibri"/>
                        </a:rPr>
                        <a:t>Lu, Liu, Dong, Gu, Gama, Zhang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IEEE TKDE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2019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Consolidates drift detection, understanding and adaptation into one framework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Assumes labels arrive; evaluated in batch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Unlabelled live traffic is not addressed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905800"/>
                  </a:ext>
                </a:extLst>
              </a:tr>
              <a:tr h="370840"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Failing Loudly: Detecting Dataset Shift</a:t>
                      </a:r>
                      <a:endParaRPr lang="en-IN" dirty="0"/>
                    </a:p>
                    <a:p>
                      <a:r>
                        <a:rPr sz="850" i="1">
                          <a:latin typeface="Calibri"/>
                        </a:rPr>
                        <a:t>Rabanser, Gunnemann, Lipton (CMU)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NeurIPS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2019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Empirical comparison of shift detectors; dimensionality reduction plus two-sample tests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Offline batch study; no latency budget considered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Detectors are never placed on a request path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25700"/>
                  </a:ext>
                </a:extLst>
              </a:tr>
              <a:tr h="370840"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Data Validation for Machine Learning</a:t>
                      </a:r>
                      <a:endParaRPr lang="en-IN" dirty="0"/>
                    </a:p>
                    <a:p>
                      <a:r>
                        <a:rPr sz="850" i="1">
                          <a:latin typeface="Calibri"/>
                        </a:rPr>
                        <a:t>Breck, Polyzotis et al., Google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MLSys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2019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Schema-driven validation of training and serving data in production TFX pipelines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Validates schema conformance, not distributional trust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Pipeline-time only; no per-request verdict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25700"/>
                  </a:ext>
                </a:extLst>
              </a:tr>
              <a:tr h="370840"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Certificate Transparency</a:t>
                      </a:r>
                      <a:endParaRPr lang="en-IN" dirty="0"/>
                    </a:p>
                    <a:p>
                      <a:r>
                        <a:rPr sz="850" i="1">
                          <a:latin typeface="Calibri"/>
                        </a:rPr>
                        <a:t>Laurie, Langley, Kasper, Google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RFC 6962, IETF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2013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Append-only Merkle-tree logs making modification of history detectable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Designed for TLS certificates, not model decisions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latin typeface="Calibri"/>
                        </a:rPr>
                        <a:t>Tamper-evidence never applied to ML decision records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25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600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Gap and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5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gap the survey identified maps to an objective, and every objective is implemented and demonstrated.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pic>
        <p:nvPicPr>
          <p:cNvPr id="8" name="Picture 7" descr="gap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7" y="2606040"/>
            <a:ext cx="1005840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and SDG Alignment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75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scope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5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Drift detection with per-feature attribution, policy evaluation, signal fusion, runtime enforcement, tamper-evident audit, multi-tenant configuration.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75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 of scope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5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Custos does not train, serve or host models. It does not explain individual predictions, and it does not retrain or roll back. It decides and records — humans act.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75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SDG alignment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5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SDG 9  </a:t>
            </a:r>
            <a:r>
              <a:rPr lang="en-US" sz="15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Industry, Innovation and Infrastructure — auditable infrastructure for automated decisions.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5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SDG 10  </a:t>
            </a:r>
            <a:r>
              <a:rPr lang="en-US" sz="15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Inequalities — blocking a drifted model limits systematically unfair credit decisions.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5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SDG 16  </a:t>
            </a:r>
            <a:r>
              <a:rPr lang="en-US" sz="15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Peace, Justice and Strong Institutions — verifiable records support regulatory audit.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9991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 functional requirements and six non-functional ones. The latency and fail-open constraints drove most of the architecture.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2468880"/>
          <a:ext cx="10241278" cy="279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064"/>
                <a:gridCol w="4301337"/>
                <a:gridCol w="716889"/>
                <a:gridCol w="4710988"/>
              </a:tblGrid>
              <a:tr h="254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Non-functional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FR1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Register models and capture a reference distribution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NFR1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Gateway p99 &lt;= 50 ms; 20 ms per-engine cap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FR2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Compute PSI and KS per feature, offline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NFR2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A Custos failure must not fail the caller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FR3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Roll per-feature statistics into one severity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NFR3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tenant_id on every table and every query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FR4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Evaluate tenant policy rules against request context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NFR4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Keys stored as SHA-256; rule text parsed, never eval'd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FR5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Fuse signals into a weighted trust score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NFR5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A new signal must not modify existing code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FR6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Return ALLOW / REVIEW / BLOCK with reasons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NFR6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Gateway and worker horizontally scalable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FR7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Honour an engine veto over all other signals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/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Python 3.11, FastAPI, SQLAlchemy 2, Celery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FR8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Append every decision to a tamper-evident chain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/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React 18 + TypeScript 5, Vite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FR9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Verify a chain and report the first modified entry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/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PostgreSQL 16 + Redis 7; SQLite on a single node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FR10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Route unregistered models to REVIEW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/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Docker Compose; runs on a laptop, no services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40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planes. The data plane does the minimum possible work per request; everything expensive lives on the control plane or in the offline worker.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7" y="2697480"/>
            <a:ext cx="1005840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04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5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/v1/evaluate call. Steps 2, 3 and 5 are cached reads; step 7 is pure computation; only 8 and 10 touch the database — and 10 runs after the caller already has its answer.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pic>
        <p:nvPicPr>
          <p:cNvPr id="8" name="Picture 7" descr="request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967" y="2331720"/>
            <a:ext cx="9509760" cy="358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Drift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5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the statistics run, and where they do not. This split is what makes a 50 ms budget achievable while still computing PSI and KS over full windows.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pic>
        <p:nvPicPr>
          <p:cNvPr id="8" name="Picture 7" descr="drift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7" y="2697480"/>
            <a:ext cx="1005840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Logic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5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Signals fuse as a weighted mean over non-degraded engines; a veto clamps the score to zero. The cascade below is then evaluated in order — the order is the specification.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pic>
        <p:nvPicPr>
          <p:cNvPr id="8" name="Picture 7" descr="decision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7" y="2743200"/>
            <a:ext cx="100584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Status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Nine of eleven components are complete and exercised end to end. The remaining two are deliberate, not unfinished.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2468880"/>
          <a:ext cx="10241279" cy="304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5843"/>
                <a:gridCol w="6964070"/>
                <a:gridCol w="1331366"/>
              </a:tblGrid>
              <a:tr h="254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was built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Contract layer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Pydantic schemas, SQLAlchemy ORM over 7 tables, Alembic migration, TTL cache, tenant config, JSON logging, metrics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Complete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Drift engine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PSI and KS in pure stdlib Python, band mapping, monotone severity roll-up, offline Celery worker, cached hot-path read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Complete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Policy engine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Tokeniser, recursive-descent parser, AST evaluator, veto handling — no eval anywhere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Complete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Trust engine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Concurrent fan-out with per-engine timeouts, weighted fusion, degraded exclusion, decision matrix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Complete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Audit chain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SHA-256 chain with race-safe append, verification endpoint, streamed evidence export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Complete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Gateway + control plane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/v1/evaluate, /health, /metrics and 14 control-plane endpoints across 5 route modules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Complete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Python SDK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@guard decorator, gate() context manager, fail-open client — standard library only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Complete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Dashboard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React + TypeScript operator console: models, drift, decisions, audit, chain verification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Complete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Fintech demo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Credit model, guarded loan agent, three drift scenarios, narrated one-command runner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Complete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Risk engine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Seam registered and wired; returns degraded so it cannot contribute unearned trust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By design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Sidecar proxy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Language-agnostic interceptor for non-Python callers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latin typeface="Calibri"/>
                        </a:rPr>
                        <a:t>Review-2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800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— Live Demonstration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lending agent auto-approves loans behind Custos. One command, no external infrastructure. The model and the code never change — only the incoming population does.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pic>
        <p:nvPicPr>
          <p:cNvPr id="8" name="Picture 7" descr="demo_traje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7" y="2560320"/>
            <a:ext cx="1005840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— Drift Attribution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Severity says the model moved; attribution says which input moved — the difference between a population shift and a broken upstream feed.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pic>
        <p:nvPicPr>
          <p:cNvPr id="8" name="Picture 7" descr="drift_at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7" y="2651760"/>
            <a:ext cx="1005840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and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Custos contains no trained model, no fitted parameters, no weights. It is a measuring instrument — so it is validated the way instruments are, by calibration against known inputs, not by accuracy on held-out data.</a:t>
            </a:r>
          </a:p>
          <a:p>
            <a:pPr marL="0" indent="0" algn="l">
              <a:spcBef>
                <a:spcPts val="260"/>
              </a:spcBef>
              <a:buNone/>
            </a:pPr>
            <a:r>
              <a:rPr lang="en-US" sz="13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thermometer is not validated by pointing it at random objects. It goes into melting ice to read 0 °C and boiling water to read 100 °C. The reference points have to be known, or the reading cannot be checked against anything.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3931920"/>
          <a:ext cx="10241278" cy="76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26540"/>
                <a:gridCol w="3072384"/>
                <a:gridCol w="1945843"/>
                <a:gridCol w="2355494"/>
                <a:gridCol w="1741017"/>
              </a:tblGrid>
              <a:tr h="25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 used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 it answers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Ground truth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Calibration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Controlled distributions with shifts of a chosen size, injected into the demo's own feature population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Is the detector correct?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Known — we chose the shift, so the right answer exists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Done · 43 detector tests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Field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Public real-world credit data, replayed in time order through the same drift code the gateway runs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Does it fire on drift that actually happened?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Unknown — but nobody chose the drift, which is what makes it fair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Harness built · Lending Club run is Review-2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Calibration — the Instrument in Ice and Steam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 a feature's mean by a chosen number of standard deviations and check what PSI reports back. Because the input was chosen, the correct output is known — which is precisely what real data cannot offer.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pic>
        <p:nvPicPr>
          <p:cNvPr id="8" name="Picture 7" descr="calibration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7" y="2514600"/>
            <a:ext cx="10058400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the Controlled Data Proves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Five properties, 43 detector tests. The right-hand column is the answer to “why not just use a real dataset?” — none of these could be checked on one.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2468880"/>
          <a:ext cx="10241278" cy="152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3081"/>
                <a:gridCol w="4710988"/>
                <a:gridCol w="3277209"/>
              </a:tblGrid>
              <a:tr h="25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is checked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could not be done on real data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PSI is arithmetically right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Checked against a value computed by hand from the definition; KS against a case where the CDF gap is exactly 0.5 by construction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There is no hand-computable right answer for 2.2 million rows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0σ reads stable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Two draws from the same distribution report PSI 0.030 — below the 0.10 stable band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No real dataset is known to contain zero drift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1σ reads significant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A one-standard-deviation mean shift reports PSI 1.019 — 4× the 0.25 threshold a credit-risk team already uses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The true shift in real data is unmeasured, so the reading cannot be graded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Severity never moves the wrong way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500 randomised perturbations: increasing any feature's drift can never lower the reported severity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Requires controlling the input to know which direction is correct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It refuses to guess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An empty window raises rather than returning 0.0; below MIN_SAMPLES = 30 it reports insufficient data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Reporting 'no drift' for 'no data' is the exact failure the system exists to prevent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Validating the Latency Claim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NFR1 asserts a 50 ms p99. An assertion in a design document is not evidence, so we built the instrument that could falsify it — and it did.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pic>
        <p:nvPicPr>
          <p:cNvPr id="8" name="Picture 7" descr="load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7" y="2560320"/>
            <a:ext cx="1005840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Load Testing Exposed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 defects, none of them reachable by a test that sends one request at a time. This is the difference between a suite that passes and a system that works.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2468880"/>
          <a:ext cx="10241279" cy="10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48256"/>
                <a:gridCol w="4915814"/>
                <a:gridCol w="3277209"/>
              </a:tblGrid>
              <a:tr h="25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we believed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the harness measured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we did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Gateway p99 is 0.5 ms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0.5 ms was the trust engine's own timer, which stops before the audit write. The caller actually waits 49 ms at the ceiling — 98% of the budget, not 1%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Report the client-observed number; treat the internal metric as a component timing, not the request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The audit chain records every decision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Under concurrent appends, 2 of 96 entries were dropped — and verification still reported the chain intact, because a hash chain detects a modified entry, never a missing one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Per-tenant advisory lock on Postgres, jittered backoff everywhere. 0 lost from 2 to 48 writers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Overload makes it slow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Overload makes it answer differently: past the ceiling, engines exceed their 20 ms timeout, drop out of fusion, and ~13% of verdicts flip ALLOW to REVIEW on traffic an idle gateway allows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Documented as an operational property; admission control is the Review-2 fix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Study — The Audit Log That Lied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strongest claim is tamper-evident evidence for every decision. Under concurrency it was dropping entries and reporting itself intact.</a:t>
            </a:r>
          </a:p>
          <a:p>
            <a:pPr marL="0" indent="0" algn="l">
              <a:spcBef>
                <a:spcPts val="280"/>
              </a:spcBef>
              <a:buNone/>
            </a:pPr>
            <a:r>
              <a:rPr lang="en-US" sz="15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Symptom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3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24 concurrent writers, 2 of 96 appends were lost — and GET /audit/verify still returned “all 94 entries verified”. A hash chain detects a modified entry, never a missing one.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5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Diagnosis before cure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3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Measured where it was actually reachable: 0 lost at 1 uvicorn worker, 2 lost at 4. The event loop already serialised single-worker writes, so the obvious per-tenant in-process lock would have protected the only configuration that was not broken.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5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3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Postgres: pg_advisory_xact_lock per tenant, taken before the chain head is read. Every backend: jittered backoff, because five instant retries kept the racers in lockstep. Result: 0 lost from 2 to 48 writers — and 2× the throughput, since the retry storm was itself the load.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Contributions and 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274 tests passing · 50 ms p99 budget verified under load to 100 req/s per instance · two concurrency defects found by our own harness and fixed · audit chain demonstrated under an actual tampering attempt.</a:t>
            </a:r>
          </a:p>
          <a:p>
            <a:pPr marL="0" indent="0" algn="l">
              <a:spcBef>
                <a:spcPts val="320"/>
              </a:spcBef>
              <a:buNone/>
            </a:pPr>
            <a:r>
              <a:rPr lang="en-US" sz="16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Next, for Review-2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35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Admission control: shed load at the door rather than let a spike silently convert auto-approvals into review backlog.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35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 against real drift using the Lending Club dataset, replacing the controlled synthetic scenarios.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35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and data versioning, plus a retraining trigger — the components practitioners named as prerequisites.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35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 the audit write off the hot path, and re-measure against Postgres rather than SQLite.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12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4343400"/>
          <a:ext cx="10241279" cy="10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48256"/>
                <a:gridCol w="1433779"/>
                <a:gridCol w="6759244"/>
              </a:tblGrid>
              <a:tr h="25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USN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Modules owned</a:t>
                      </a:r>
                    </a:p>
                  </a:txBody>
                  <a:tcPr marL="63500" marR="63500" marT="38100" marB="38100">
                    <a:solidFill>
                      <a:srgbClr val="1F5CA8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AYUSH PANDEY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1BM23AD074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Architecture and ADRs · drift engine (PSI/KS detectors, severity roll-up, offline worker) · trust engine fusion and decision matrix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VIVEK BOORA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1BM23AD073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Gateway and control-plane APIs · policy engine and rule grammar · tamper-evident audit chain and evidence export</a:t>
                      </a:r>
                    </a:p>
                  </a:txBody>
                  <a:tcPr marL="63500" marR="63500" marT="38100" marB="38100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NITIN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1BM24AD404</a:t>
                      </a:r>
                    </a:p>
                  </a:txBody>
                  <a:tcPr marL="63500" marR="63500" marT="38100" marB="3810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alibri"/>
                        </a:rPr>
                        <a:t>Python SDK · React operator dashboard · fintech demonstration · 274-test suite across unit, integration and end-to-end</a:t>
                      </a:r>
                    </a:p>
                  </a:txBody>
                  <a:tcPr marL="63500" marR="63500" marT="38100" marB="38100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99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194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BMS College of Engineering (Autonomous College under VTU) Department of Artificial Intelligence and Data Science   Project Work Phase-II(23AI7PWPP1) Review-1 Presentation on   Project Title </vt:lpstr>
      <vt:lpstr>Table of Contents </vt:lpstr>
      <vt:lpstr>Abstract </vt:lpstr>
      <vt:lpstr>Introduction</vt:lpstr>
      <vt:lpstr>Literature Survey</vt:lpstr>
      <vt:lpstr>Requirement Analysis and Specification</vt:lpstr>
      <vt:lpstr>System Design</vt:lpstr>
      <vt:lpstr>Implementation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BMS College of Engineering  Department of Artificial Intelligence and Data Science    Project Title</dc:title>
  <dc:creator>Admin</dc:creator>
  <cp:lastModifiedBy>Admin</cp:lastModifiedBy>
  <cp:revision>12</cp:revision>
  <dcterms:created xsi:type="dcterms:W3CDTF">2025-03-11T07:28:48Z</dcterms:created>
  <dcterms:modified xsi:type="dcterms:W3CDTF">2026-09-03T11:48:10Z</dcterms:modified>
</cp:coreProperties>
</file>