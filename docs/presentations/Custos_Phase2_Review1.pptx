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59" r:id="rId1"/>
  </p:sldMasterIdLst>
  <p:notesMasterIdLst>
    <p:notesMasterId r:id="rId11"/>
  </p:notesMasterIdLst>
  <p:sldIdLst>
    <p:sldId id="256" r:id="rId2"/>
    <p:sldId id="257" r:id="rId3"/>
    <p:sldId id="258" r:id="rId4"/>
    <p:sldId id="259" r:id="rId5"/>
    <p:sldId id="260" r:id="rId17"/>
    <p:sldId id="261" r:id="rId18"/>
    <p:sldId id="262" r:id="rId19"/>
    <p:sldId id="263" r:id="rId6"/>
    <p:sldId id="264" r:id="rId20"/>
    <p:sldId id="265" r:id="rId7"/>
    <p:sldId id="266" r:id="rId21"/>
    <p:sldId id="267" r:id="rId8"/>
    <p:sldId id="268" r:id="rId36"/>
    <p:sldId id="269" r:id="rId22"/>
    <p:sldId id="270" r:id="rId23"/>
    <p:sldId id="271" r:id="rId24"/>
    <p:sldId id="272" r:id="rId25"/>
    <p:sldId id="273" r:id="rId37"/>
    <p:sldId id="274" r:id="rId26"/>
    <p:sldId id="275" r:id="rId38"/>
    <p:sldId id="276" r:id="rId27"/>
    <p:sldId id="277" r:id="rId28"/>
    <p:sldId id="278" r:id="rId9"/>
    <p:sldId id="279" r:id="rId29"/>
    <p:sldId id="280" r:id="rId30"/>
    <p:sldId id="281" r:id="rId31"/>
    <p:sldId id="282" r:id="rId32"/>
    <p:sldId id="283" r:id="rId33"/>
    <p:sldId id="284" r:id="rId34"/>
    <p:sldId id="285" r:id="rId35"/>
    <p:sldId id="286"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 initials="A" lastIdx="1" clrIdx="0">
    <p:extLst>
      <p:ext uri="{19B8F6BF-5375-455C-9EA6-DF929625EA0E}">
        <p15:presenceInfo xmlns:p15="http://schemas.microsoft.com/office/powerpoint/2012/main" userId="Adm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2.xml"/><Relationship Id="rId9" Type="http://schemas.openxmlformats.org/officeDocument/2006/relationships/slide" Target="slides/slide23.xml"/><Relationship Id="rId10" Type="http://schemas.openxmlformats.org/officeDocument/2006/relationships/slide" Target="slides/slide31.xml"/><Relationship Id="rId11" Type="http://schemas.openxmlformats.org/officeDocument/2006/relationships/notesMaster" Target="notesMasters/notesMaster1.xml"/><Relationship Id="rId12" Type="http://schemas.openxmlformats.org/officeDocument/2006/relationships/commentAuthors" Target="commentAuthors.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9.xml"/><Relationship Id="rId21" Type="http://schemas.openxmlformats.org/officeDocument/2006/relationships/slide" Target="slides/slide11.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9.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13.xml"/><Relationship Id="rId37" Type="http://schemas.openxmlformats.org/officeDocument/2006/relationships/slide" Target="slides/slide18.xml"/><Relationship Id="rId38"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64CC-FAEA-419F-85AD-198B850C8D23}" type="datetimeFigureOut">
              <a:rPr lang="en-IN" smtClean="0"/>
              <a:t>03-09-2026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C8047E-ABDD-4AF6-BACE-9BE3DC3E46C3}" type="slidenum">
              <a:rPr lang="en-IN" smtClean="0"/>
              <a:t>‹#›</a:t>
            </a:fld>
            <a:endParaRPr lang="en-IN"/>
          </a:p>
        </p:txBody>
      </p:sp>
    </p:spTree>
    <p:extLst>
      <p:ext uri="{BB962C8B-B14F-4D97-AF65-F5344CB8AC3E}">
        <p14:creationId xmlns:p14="http://schemas.microsoft.com/office/powerpoint/2010/main" val="1132421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48DC7-A1AF-454D-8F51-1EED3626D65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355B11F-023F-4919-AB4A-585D993C1A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B51392C-B085-4A0C-835C-887FE05E4D59}"/>
              </a:ext>
            </a:extLst>
          </p:cNvPr>
          <p:cNvSpPr>
            <a:spLocks noGrp="1"/>
          </p:cNvSpPr>
          <p:nvPr>
            <p:ph type="dt" sz="half" idx="10"/>
          </p:nvPr>
        </p:nvSpPr>
        <p:spPr/>
        <p:txBody>
          <a:bodyPr/>
          <a:lstStyle/>
          <a:p>
            <a:fld id="{F96B690A-2018-4C35-84C1-074B36A8631B}" type="datetime3">
              <a:rPr lang="en-US" smtClean="0"/>
              <a:t>3 September 2026</a:t>
            </a:fld>
            <a:endParaRPr lang="en-US" dirty="0"/>
          </a:p>
        </p:txBody>
      </p:sp>
      <p:sp>
        <p:nvSpPr>
          <p:cNvPr id="5" name="Footer Placeholder 4">
            <a:extLst>
              <a:ext uri="{FF2B5EF4-FFF2-40B4-BE49-F238E27FC236}">
                <a16:creationId xmlns:a16="http://schemas.microsoft.com/office/drawing/2014/main" id="{B6216E43-37A0-4A7C-8D2E-D56ED0504E6F}"/>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2AD48056-AE10-4E2D-836A-8FE0A2148E5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650150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CB72E-9EB0-4D5C-9212-928BA268060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6C7BAEB-BDDE-4D24-8B52-E7DA57FB6D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263259-5941-4A24-9144-10E25DA07401}"/>
              </a:ext>
            </a:extLst>
          </p:cNvPr>
          <p:cNvSpPr>
            <a:spLocks noGrp="1"/>
          </p:cNvSpPr>
          <p:nvPr>
            <p:ph type="dt" sz="half" idx="10"/>
          </p:nvPr>
        </p:nvSpPr>
        <p:spPr/>
        <p:txBody>
          <a:bodyPr/>
          <a:lstStyle/>
          <a:p>
            <a:fld id="{8B5D5C25-6344-4FCC-B0C5-B8E7C09A7920}" type="datetime3">
              <a:rPr lang="en-US" smtClean="0"/>
              <a:t>3 September 2026</a:t>
            </a:fld>
            <a:endParaRPr lang="en-US" dirty="0"/>
          </a:p>
        </p:txBody>
      </p:sp>
      <p:sp>
        <p:nvSpPr>
          <p:cNvPr id="5" name="Footer Placeholder 4">
            <a:extLst>
              <a:ext uri="{FF2B5EF4-FFF2-40B4-BE49-F238E27FC236}">
                <a16:creationId xmlns:a16="http://schemas.microsoft.com/office/drawing/2014/main" id="{34462CA2-E8B4-4C80-8E31-44F6F336A443}"/>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C3FCB4F3-0B0C-45B4-8CD2-8CEA99260068}"/>
              </a:ext>
            </a:extLst>
          </p:cNvPr>
          <p:cNvSpPr>
            <a:spLocks noGrp="1"/>
          </p:cNvSpPr>
          <p:nvPr>
            <p:ph type="sldNum" sz="quarter" idx="12"/>
          </p:nvPr>
        </p:nvSpPr>
        <p:spPr/>
        <p:txBody>
          <a:bodyPr/>
          <a:lstStyle/>
          <a:p>
            <a:fld id="{E97799C9-84D9-46D2-A11E-BCF8A720529D}" type="slidenum">
              <a:rPr lang="en-US" smtClean="0"/>
              <a:t>‹#›</a:t>
            </a:fld>
            <a:endParaRPr lang="en-US" dirty="0"/>
          </a:p>
        </p:txBody>
      </p:sp>
    </p:spTree>
    <p:extLst>
      <p:ext uri="{BB962C8B-B14F-4D97-AF65-F5344CB8AC3E}">
        <p14:creationId xmlns:p14="http://schemas.microsoft.com/office/powerpoint/2010/main" val="32568490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7C05A-F84C-46F4-AA53-E5BD71E6CE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6758BEB-486A-40BF-BFA4-AAC41F702A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E777AD-1E4A-49AD-B010-4B5F4094713E}"/>
              </a:ext>
            </a:extLst>
          </p:cNvPr>
          <p:cNvSpPr>
            <a:spLocks noGrp="1"/>
          </p:cNvSpPr>
          <p:nvPr>
            <p:ph type="dt" sz="half" idx="10"/>
          </p:nvPr>
        </p:nvSpPr>
        <p:spPr/>
        <p:txBody>
          <a:bodyPr/>
          <a:lstStyle/>
          <a:p>
            <a:fld id="{5B63C459-52BE-4A7F-8B66-B0BDD5930200}" type="datetime3">
              <a:rPr lang="en-US" smtClean="0"/>
              <a:t>3 September 2026</a:t>
            </a:fld>
            <a:endParaRPr lang="en-US" dirty="0"/>
          </a:p>
        </p:txBody>
      </p:sp>
      <p:sp>
        <p:nvSpPr>
          <p:cNvPr id="5" name="Footer Placeholder 4">
            <a:extLst>
              <a:ext uri="{FF2B5EF4-FFF2-40B4-BE49-F238E27FC236}">
                <a16:creationId xmlns:a16="http://schemas.microsoft.com/office/drawing/2014/main" id="{EA639839-E3C8-4668-B4BB-8F9AA9CFDB8A}"/>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8523822D-B98B-437B-820A-234A636795F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02895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45003-09BE-47AD-ABD9-CF3855D76DB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164CB74-49D3-41E8-95EE-82990C4440D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FEFC566-6024-497C-BE11-8D0352BC35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CC4B89F-D41B-462A-A991-2D4B63239AFD}"/>
              </a:ext>
            </a:extLst>
          </p:cNvPr>
          <p:cNvSpPr>
            <a:spLocks noGrp="1"/>
          </p:cNvSpPr>
          <p:nvPr>
            <p:ph type="dt" sz="half" idx="10"/>
          </p:nvPr>
        </p:nvSpPr>
        <p:spPr/>
        <p:txBody>
          <a:bodyPr/>
          <a:lstStyle/>
          <a:p>
            <a:fld id="{85600D5F-C7D7-4DA9-8ED1-6A26ED488053}" type="datetime3">
              <a:rPr lang="en-US" smtClean="0"/>
              <a:t>3 September 2026</a:t>
            </a:fld>
            <a:endParaRPr lang="en-US" dirty="0"/>
          </a:p>
        </p:txBody>
      </p:sp>
      <p:sp>
        <p:nvSpPr>
          <p:cNvPr id="6" name="Footer Placeholder 5">
            <a:extLst>
              <a:ext uri="{FF2B5EF4-FFF2-40B4-BE49-F238E27FC236}">
                <a16:creationId xmlns:a16="http://schemas.microsoft.com/office/drawing/2014/main" id="{D2B69D38-E1C2-4933-BBFE-F57C39178E8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1BD9292E-2746-4501-ADF7-C4F14A8DB8BE}"/>
              </a:ext>
            </a:extLst>
          </p:cNvPr>
          <p:cNvSpPr>
            <a:spLocks noGrp="1"/>
          </p:cNvSpPr>
          <p:nvPr>
            <p:ph type="sldNum" sz="quarter" idx="12"/>
          </p:nvPr>
        </p:nvSpPr>
        <p:spPr/>
        <p:txBody>
          <a:bodyPr/>
          <a:lstStyle/>
          <a:p>
            <a:fld id="{5D84065D-F351-4B03-BD91-D8A6B8D4B362}" type="slidenum">
              <a:rPr lang="en-US" smtClean="0"/>
              <a:t>‹#›</a:t>
            </a:fld>
            <a:endParaRPr lang="en-US" dirty="0"/>
          </a:p>
        </p:txBody>
      </p:sp>
    </p:spTree>
    <p:extLst>
      <p:ext uri="{BB962C8B-B14F-4D97-AF65-F5344CB8AC3E}">
        <p14:creationId xmlns:p14="http://schemas.microsoft.com/office/powerpoint/2010/main" val="17806180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20879-8E62-45BC-AF8C-25286B3B2CA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F483ABB-CE83-403E-8621-103F660E8A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2C4F16-181B-418B-8C33-53BD349A33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854CB22-06EF-4C53-97AD-6005175A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EDC58C-36E6-4ED2-A747-8257F32B099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D59A9E8-C2BF-4670-8445-296C9B28891B}"/>
              </a:ext>
            </a:extLst>
          </p:cNvPr>
          <p:cNvSpPr>
            <a:spLocks noGrp="1"/>
          </p:cNvSpPr>
          <p:nvPr>
            <p:ph type="dt" sz="half" idx="10"/>
          </p:nvPr>
        </p:nvSpPr>
        <p:spPr/>
        <p:txBody>
          <a:bodyPr/>
          <a:lstStyle/>
          <a:p>
            <a:fld id="{9DF619B0-41D6-4259-BDD5-5E4016DE45FE}" type="datetime3">
              <a:rPr lang="en-US" smtClean="0"/>
              <a:t>3 September 2026</a:t>
            </a:fld>
            <a:endParaRPr lang="en-US" dirty="0"/>
          </a:p>
        </p:txBody>
      </p:sp>
      <p:sp>
        <p:nvSpPr>
          <p:cNvPr id="8" name="Footer Placeholder 7">
            <a:extLst>
              <a:ext uri="{FF2B5EF4-FFF2-40B4-BE49-F238E27FC236}">
                <a16:creationId xmlns:a16="http://schemas.microsoft.com/office/drawing/2014/main" id="{38029DB8-1E8B-4256-906C-E498D14E7FF7}"/>
              </a:ext>
            </a:extLst>
          </p:cNvPr>
          <p:cNvSpPr>
            <a:spLocks noGrp="1"/>
          </p:cNvSpPr>
          <p:nvPr>
            <p:ph type="ftr" sz="quarter" idx="11"/>
          </p:nvPr>
        </p:nvSpPr>
        <p:spPr/>
        <p:txBody>
          <a:bodyPr/>
          <a:lstStyle/>
          <a:p>
            <a:r>
              <a:rPr lang="en-US"/>
              <a:t>Dept of AI &amp; DS</a:t>
            </a:r>
            <a:endParaRPr lang="en-US" dirty="0"/>
          </a:p>
        </p:txBody>
      </p:sp>
      <p:sp>
        <p:nvSpPr>
          <p:cNvPr id="9" name="Slide Number Placeholder 8">
            <a:extLst>
              <a:ext uri="{FF2B5EF4-FFF2-40B4-BE49-F238E27FC236}">
                <a16:creationId xmlns:a16="http://schemas.microsoft.com/office/drawing/2014/main" id="{43F8EAA8-29C1-4CB8-9FB3-CA8AC6ADF66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85738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2AEF7-FFC2-4F73-B673-20FA77FA56D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02BD792-97FD-4783-B155-DCBBCEC6958C}"/>
              </a:ext>
            </a:extLst>
          </p:cNvPr>
          <p:cNvSpPr>
            <a:spLocks noGrp="1"/>
          </p:cNvSpPr>
          <p:nvPr>
            <p:ph type="dt" sz="half" idx="10"/>
          </p:nvPr>
        </p:nvSpPr>
        <p:spPr/>
        <p:txBody>
          <a:bodyPr/>
          <a:lstStyle/>
          <a:p>
            <a:fld id="{7AAB6B39-79AD-49CF-9581-BBED8573797D}" type="datetime3">
              <a:rPr lang="en-US" smtClean="0"/>
              <a:t>3 September 2026</a:t>
            </a:fld>
            <a:endParaRPr lang="en-US" dirty="0"/>
          </a:p>
        </p:txBody>
      </p:sp>
      <p:sp>
        <p:nvSpPr>
          <p:cNvPr id="4" name="Footer Placeholder 3">
            <a:extLst>
              <a:ext uri="{FF2B5EF4-FFF2-40B4-BE49-F238E27FC236}">
                <a16:creationId xmlns:a16="http://schemas.microsoft.com/office/drawing/2014/main" id="{50E01A47-5CA7-49DD-B220-7036801F4C5D}"/>
              </a:ext>
            </a:extLst>
          </p:cNvPr>
          <p:cNvSpPr>
            <a:spLocks noGrp="1"/>
          </p:cNvSpPr>
          <p:nvPr>
            <p:ph type="ftr" sz="quarter" idx="11"/>
          </p:nvPr>
        </p:nvSpPr>
        <p:spPr/>
        <p:txBody>
          <a:bodyPr/>
          <a:lstStyle/>
          <a:p>
            <a:r>
              <a:rPr lang="en-US"/>
              <a:t>Dept of AI &amp; DS</a:t>
            </a:r>
            <a:endParaRPr lang="en-US" dirty="0"/>
          </a:p>
        </p:txBody>
      </p:sp>
      <p:sp>
        <p:nvSpPr>
          <p:cNvPr id="5" name="Slide Number Placeholder 4">
            <a:extLst>
              <a:ext uri="{FF2B5EF4-FFF2-40B4-BE49-F238E27FC236}">
                <a16:creationId xmlns:a16="http://schemas.microsoft.com/office/drawing/2014/main" id="{C53A02EB-4172-4384-8A07-825746F55A03}"/>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75737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5F028B-BC35-4777-8DA5-349770F4D7E3}"/>
              </a:ext>
            </a:extLst>
          </p:cNvPr>
          <p:cNvSpPr>
            <a:spLocks noGrp="1"/>
          </p:cNvSpPr>
          <p:nvPr>
            <p:ph type="dt" sz="half" idx="10"/>
          </p:nvPr>
        </p:nvSpPr>
        <p:spPr/>
        <p:txBody>
          <a:bodyPr/>
          <a:lstStyle/>
          <a:p>
            <a:fld id="{354D09DC-397F-4C90-BEF8-1B27AE70C1B8}" type="datetime3">
              <a:rPr lang="en-US" smtClean="0"/>
              <a:t>3 September 2026</a:t>
            </a:fld>
            <a:endParaRPr lang="en-US" dirty="0"/>
          </a:p>
        </p:txBody>
      </p:sp>
      <p:sp>
        <p:nvSpPr>
          <p:cNvPr id="3" name="Footer Placeholder 2">
            <a:extLst>
              <a:ext uri="{FF2B5EF4-FFF2-40B4-BE49-F238E27FC236}">
                <a16:creationId xmlns:a16="http://schemas.microsoft.com/office/drawing/2014/main" id="{0781F0F5-4C14-4F89-807A-BAFA18E6D703}"/>
              </a:ext>
            </a:extLst>
          </p:cNvPr>
          <p:cNvSpPr>
            <a:spLocks noGrp="1"/>
          </p:cNvSpPr>
          <p:nvPr>
            <p:ph type="ftr" sz="quarter" idx="11"/>
          </p:nvPr>
        </p:nvSpPr>
        <p:spPr/>
        <p:txBody>
          <a:bodyPr/>
          <a:lstStyle/>
          <a:p>
            <a:r>
              <a:rPr lang="en-US"/>
              <a:t>Dept of AI &amp; DS</a:t>
            </a:r>
            <a:endParaRPr lang="en-US" dirty="0"/>
          </a:p>
        </p:txBody>
      </p:sp>
      <p:sp>
        <p:nvSpPr>
          <p:cNvPr id="4" name="Slide Number Placeholder 3">
            <a:extLst>
              <a:ext uri="{FF2B5EF4-FFF2-40B4-BE49-F238E27FC236}">
                <a16:creationId xmlns:a16="http://schemas.microsoft.com/office/drawing/2014/main" id="{2B1ECB63-3832-410F-B52B-EA5059FB425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19201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265A5-589F-436F-B963-51B674C2C3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B5C5788-6A11-41D3-AFA3-9AEA251F63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ADCE902-1E56-451A-B337-0A06E5A5F0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E3FBC-6860-44C4-AA13-71D32C829D41}"/>
              </a:ext>
            </a:extLst>
          </p:cNvPr>
          <p:cNvSpPr>
            <a:spLocks noGrp="1"/>
          </p:cNvSpPr>
          <p:nvPr>
            <p:ph type="dt" sz="half" idx="10"/>
          </p:nvPr>
        </p:nvSpPr>
        <p:spPr/>
        <p:txBody>
          <a:bodyPr/>
          <a:lstStyle/>
          <a:p>
            <a:fld id="{CB0CD71C-7E0D-4C06-BD4A-154CEF952E54}" type="datetime3">
              <a:rPr lang="en-US" smtClean="0"/>
              <a:t>3 September 2026</a:t>
            </a:fld>
            <a:endParaRPr lang="en-US" dirty="0"/>
          </a:p>
        </p:txBody>
      </p:sp>
      <p:sp>
        <p:nvSpPr>
          <p:cNvPr id="6" name="Footer Placeholder 5">
            <a:extLst>
              <a:ext uri="{FF2B5EF4-FFF2-40B4-BE49-F238E27FC236}">
                <a16:creationId xmlns:a16="http://schemas.microsoft.com/office/drawing/2014/main" id="{C0717787-1889-4CB9-A6B6-0B536CE46FB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A11C5F25-288D-4C05-A2D0-34DF85E3C32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684739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DD07F-8DC5-4B8C-9A7F-3DCCA66B92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A75A51A-5EDE-4327-972A-56F8AD07C2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3C9361E-CE10-493C-AEDB-CA7DA6A2E7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BCDBE5-0868-41ED-B735-08360E926664}"/>
              </a:ext>
            </a:extLst>
          </p:cNvPr>
          <p:cNvSpPr>
            <a:spLocks noGrp="1"/>
          </p:cNvSpPr>
          <p:nvPr>
            <p:ph type="dt" sz="half" idx="10"/>
          </p:nvPr>
        </p:nvSpPr>
        <p:spPr/>
        <p:txBody>
          <a:bodyPr/>
          <a:lstStyle/>
          <a:p>
            <a:fld id="{7A48FDE7-01DF-4ABF-99D1-733E01D15C4D}" type="datetime3">
              <a:rPr lang="en-US" smtClean="0"/>
              <a:t>3 September 2026</a:t>
            </a:fld>
            <a:endParaRPr lang="en-US" dirty="0"/>
          </a:p>
        </p:txBody>
      </p:sp>
      <p:sp>
        <p:nvSpPr>
          <p:cNvPr id="6" name="Footer Placeholder 5">
            <a:extLst>
              <a:ext uri="{FF2B5EF4-FFF2-40B4-BE49-F238E27FC236}">
                <a16:creationId xmlns:a16="http://schemas.microsoft.com/office/drawing/2014/main" id="{5018971D-9DD4-4EF2-9CE0-1E2EA1EF7CF9}"/>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5E6E5A19-0667-4C50-872A-ADBEF04AF0BB}"/>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539921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7A367-7B98-4B2A-AD6F-870DCECC2A3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2F63E8-4F90-40DC-B1B5-8723F4D226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44E234-4D4A-47CB-BF9E-3E0A5A2E1017}"/>
              </a:ext>
            </a:extLst>
          </p:cNvPr>
          <p:cNvSpPr>
            <a:spLocks noGrp="1"/>
          </p:cNvSpPr>
          <p:nvPr>
            <p:ph type="dt" sz="half" idx="10"/>
          </p:nvPr>
        </p:nvSpPr>
        <p:spPr/>
        <p:txBody>
          <a:bodyPr/>
          <a:lstStyle/>
          <a:p>
            <a:fld id="{97C4DF75-2FED-488D-BFD6-8E71635C4D39}" type="datetime3">
              <a:rPr lang="en-US" smtClean="0"/>
              <a:t>3 September 2026</a:t>
            </a:fld>
            <a:endParaRPr lang="en-US" dirty="0"/>
          </a:p>
        </p:txBody>
      </p:sp>
      <p:sp>
        <p:nvSpPr>
          <p:cNvPr id="5" name="Footer Placeholder 4">
            <a:extLst>
              <a:ext uri="{FF2B5EF4-FFF2-40B4-BE49-F238E27FC236}">
                <a16:creationId xmlns:a16="http://schemas.microsoft.com/office/drawing/2014/main" id="{C6F46CE3-AF2A-4CBF-AA79-BFBF38FF4AC2}"/>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51BFBBF8-FA99-4380-AC6E-975D048364D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37013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61571-5B71-44C5-B8A1-03F5C543A66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212296D-5675-43B3-A998-5E03CAB29D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387514F-7C52-405E-9731-6E25A1D84DE2}"/>
              </a:ext>
            </a:extLst>
          </p:cNvPr>
          <p:cNvSpPr>
            <a:spLocks noGrp="1"/>
          </p:cNvSpPr>
          <p:nvPr>
            <p:ph type="dt" sz="half" idx="10"/>
          </p:nvPr>
        </p:nvSpPr>
        <p:spPr/>
        <p:txBody>
          <a:bodyPr/>
          <a:lstStyle/>
          <a:p>
            <a:fld id="{9425C36C-502D-4ECE-A30C-9E599D171CDD}" type="datetime3">
              <a:rPr lang="en-US" smtClean="0"/>
              <a:t>3 September 2026</a:t>
            </a:fld>
            <a:endParaRPr lang="en-US" dirty="0"/>
          </a:p>
        </p:txBody>
      </p:sp>
      <p:sp>
        <p:nvSpPr>
          <p:cNvPr id="5" name="Footer Placeholder 4">
            <a:extLst>
              <a:ext uri="{FF2B5EF4-FFF2-40B4-BE49-F238E27FC236}">
                <a16:creationId xmlns:a16="http://schemas.microsoft.com/office/drawing/2014/main" id="{BAA16880-27F0-438E-8025-61DE8779EFEC}"/>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6AEC0B98-06B8-4EC1-9657-61C66E3F328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590956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C45A6E-8825-46BC-99DE-D500EC37E2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1BCE6DD-1CF5-45D9-A60F-1126C62EE2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48227C5-F783-4179-A852-7DEB6E167D5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C68655-725C-4355-803F-4C179E033006}" type="datetime3">
              <a:rPr lang="en-US" smtClean="0"/>
              <a:t>3 September 2026</a:t>
            </a:fld>
            <a:endParaRPr lang="en-US" dirty="0"/>
          </a:p>
        </p:txBody>
      </p:sp>
      <p:sp>
        <p:nvSpPr>
          <p:cNvPr id="5" name="Footer Placeholder 4">
            <a:extLst>
              <a:ext uri="{FF2B5EF4-FFF2-40B4-BE49-F238E27FC236}">
                <a16:creationId xmlns:a16="http://schemas.microsoft.com/office/drawing/2014/main" id="{E2C64982-03A8-46F2-A6BE-9F377DEF7A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Dept of AI &amp; DS</a:t>
            </a:r>
            <a:endParaRPr lang="en-US" dirty="0"/>
          </a:p>
        </p:txBody>
      </p:sp>
      <p:sp>
        <p:nvSpPr>
          <p:cNvPr id="6" name="Slide Number Placeholder 5">
            <a:extLst>
              <a:ext uri="{FF2B5EF4-FFF2-40B4-BE49-F238E27FC236}">
                <a16:creationId xmlns:a16="http://schemas.microsoft.com/office/drawing/2014/main" id="{2D2755F6-3403-4B19-B155-5ED22F4EAD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80821695"/>
      </p:ext>
    </p:extLst>
  </p:cSld>
  <p:clrMap bg1="lt1" tx1="dk1" bg2="lt2" tx2="dk2" accent1="accent1" accent2="accent2" accent3="accent3" accent4="accent4" accent5="accent5" accent6="accent6" hlink="hlink" folHlink="folHlink"/>
  <p:sldLayoutIdLst>
    <p:sldLayoutId id="2147483760" r:id="rId1"/>
    <p:sldLayoutId id="2147483761" r:id="rId2"/>
    <p:sldLayoutId id="2147483762" r:id="rId3"/>
    <p:sldLayoutId id="2147483763" r:id="rId4"/>
    <p:sldLayoutId id="2147483764" r:id="rId5"/>
    <p:sldLayoutId id="2147483765" r:id="rId6"/>
    <p:sldLayoutId id="2147483766" r:id="rId7"/>
    <p:sldLayoutId id="2147483767" r:id="rId8"/>
    <p:sldLayoutId id="2147483768" r:id="rId9"/>
    <p:sldLayoutId id="2147483769" r:id="rId10"/>
    <p:sldLayoutId id="2147483770"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981198" y="0"/>
            <a:ext cx="8365069" cy="2658535"/>
          </a:xfrm>
        </p:spPr>
        <p:txBody>
          <a:bodyPr>
            <a:normAutofit/>
          </a:bodyPr>
          <a:lstStyle/>
          <a:p>
            <a:pPr marL="0" indent="0" algn="ctr">
              <a:spcBef>
                <a:spcPts val="0"/>
              </a:spcBef>
              <a:buNone/>
            </a:pPr>
            <a:r>
              <a:rPr lang="en-US" sz="2800" b="1" i="0" dirty="0">
                <a:latin typeface="Calibri" panose="020F0502020204030204" pitchFamily="34" charset="0"/>
                <a:ea typeface="Calibri" panose="020F0502020204030204" pitchFamily="34" charset="0"/>
                <a:cs typeface="Calibri" panose="020F0502020204030204" pitchFamily="34" charset="0"/>
              </a:rPr>
              <a:t>BMS College of Engineering</a:t>
            </a:r>
          </a:p>
          <a:p>
            <a:pPr marL="0" indent="0" algn="ctr">
              <a:spcBef>
                <a:spcPts val="10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(Autonomous College under VTU)</a:t>
            </a:r>
          </a:p>
          <a:p>
            <a:pPr marL="0" indent="0" algn="ctr">
              <a:spcBef>
                <a:spcPts val="20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Department of Artificial Intelligence and Data Science</a:t>
            </a:r>
          </a:p>
          <a:p>
            <a:pPr marL="0" indent="0" algn="ctr">
              <a:spcBef>
                <a:spcPts val="30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Project Work Phase-II (23AI7PWPP1) — Review-1 Presentation on</a:t>
            </a:r>
          </a:p>
          <a:p>
            <a:pPr marL="0" indent="0" algn="ctr">
              <a:spcBef>
                <a:spcPts val="300"/>
              </a:spcBef>
              <a:buNone/>
            </a:pPr>
            <a:r>
              <a:rPr lang="en-US" sz="2400" b="1" i="0" dirty="0">
                <a:latin typeface="Calibri" panose="020F0502020204030204" pitchFamily="34" charset="0"/>
                <a:ea typeface="Calibri" panose="020F0502020204030204" pitchFamily="34" charset="0"/>
                <a:cs typeface="Calibri" panose="020F0502020204030204" pitchFamily="34" charset="0"/>
              </a:rPr>
              <a:t>Custos: A Runtime Trust Layer for AI Agents</a:t>
            </a:r>
          </a:p>
          <a:p>
            <a:pPr marL="0" indent="0" algn="ctr">
              <a:spcBef>
                <a:spcPts val="0"/>
              </a:spcBef>
              <a:buNone/>
            </a:pPr>
            <a:r>
              <a:rPr lang="en-US" sz="2400" b="1" i="0" dirty="0">
                <a:latin typeface="Calibri" panose="020F0502020204030204" pitchFamily="34" charset="0"/>
                <a:ea typeface="Calibri" panose="020F0502020204030204" pitchFamily="34" charset="0"/>
                <a:cs typeface="Calibri" panose="020F0502020204030204" pitchFamily="34" charset="0"/>
              </a:rPr>
              <a:t>and Machine Learning Models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3657597"/>
            <a:ext cx="8957733" cy="2531536"/>
          </a:xfrm>
        </p:spPr>
        <p:txBody>
          <a:bodyPr>
            <a:normAutofit/>
          </a:bodyPr>
          <a:lstStyle/>
          <a:p>
            <a:pPr marL="0" indent="0" algn="ctr">
              <a:spcBef>
                <a:spcPts val="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Presented by</a:t>
            </a:r>
          </a:p>
          <a:p>
            <a:pPr marL="0" indent="0" algn="ctr">
              <a:spcBef>
                <a:spcPts val="20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«Student Name 1»		«USN»</a:t>
            </a:r>
          </a:p>
          <a:p>
            <a:pPr marL="0" indent="0" algn="ctr">
              <a:spcBef>
                <a:spcPts val="10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«Student Name 2»		«USN»</a:t>
            </a:r>
          </a:p>
          <a:p>
            <a:pPr marL="0" indent="0" algn="ctr">
              <a:spcBef>
                <a:spcPts val="10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«Student Name 3»		«USN»</a:t>
            </a:r>
          </a:p>
          <a:p>
            <a:pPr marL="0" indent="0" algn="ctr">
              <a:spcBef>
                <a:spcPts val="40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Under the guidance of</a:t>
            </a:r>
          </a:p>
          <a:p>
            <a:pPr marL="0" indent="0" algn="ctr">
              <a:spcBef>
                <a:spcPts val="15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«Guide Name»</a:t>
            </a:r>
          </a:p>
          <a:p>
            <a:pPr marL="0" indent="0" algn="ctr">
              <a:spcBef>
                <a:spcPts val="5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«Designation», Dept. of AI &amp; DS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0D1240E3-26F4-4429-8843-A286E3DCB8D9}"/>
              </a:ext>
            </a:extLst>
          </p:cNvPr>
          <p:cNvSpPr>
            <a:spLocks noGrp="1"/>
          </p:cNvSpPr>
          <p:nvPr>
            <p:ph type="dt" sz="half" idx="10"/>
          </p:nvPr>
        </p:nvSpPr>
        <p:spPr/>
        <p:txBody>
          <a:bodyPr/>
          <a:lstStyle/>
          <a:p>
            <a:fld id="{3824AD60-7A91-4584-9CFF-40792E6A86E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485B91F5-5ED3-4E5D-840C-40EC0896DC36}"/>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
        <p:nvSpPr>
          <p:cNvPr id="7" name="Footer Placeholder 6">
            <a:extLst>
              <a:ext uri="{FF2B5EF4-FFF2-40B4-BE49-F238E27FC236}">
                <a16:creationId xmlns:a16="http://schemas.microsoft.com/office/drawing/2014/main" id="{66A3399C-E55B-4351-BDB5-EC39B3EC36B2}"/>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27170805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Table of Contents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Abstract</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Introduction — overview, motivation, objectives, scope, SDGs, work plan</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Literature Survey, research gap and mapping to objectives</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Requirement Analysis and Specification</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System Design — architecture, request flow, all modules, drift pipeline, decision cascade, data model, key decisions</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Implementation — module status, API surface, engine internals</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Results — live demonstration and drift attribution</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Testing, team contributions, conclusion and Review-2 plan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6" name="Date Placeholder 5">
            <a:extLst>
              <a:ext uri="{FF2B5EF4-FFF2-40B4-BE49-F238E27FC236}">
                <a16:creationId xmlns:a16="http://schemas.microsoft.com/office/drawing/2014/main" id="{D9101FD2-598A-4BE2-AC54-854A97F64A5A}"/>
              </a:ext>
            </a:extLst>
          </p:cNvPr>
          <p:cNvSpPr>
            <a:spLocks noGrp="1"/>
          </p:cNvSpPr>
          <p:nvPr>
            <p:ph type="dt" sz="half" idx="10"/>
          </p:nvPr>
        </p:nvSpPr>
        <p:spPr/>
        <p:txBody>
          <a:bodyPr/>
          <a:lstStyle/>
          <a:p>
            <a:fld id="{1719FD98-5FDC-4CCE-BD5A-59D793565931}" type="datetime3">
              <a:rPr lang="en-US" smtClean="0"/>
              <a:t>4 September 2026</a:t>
            </a:fld>
            <a:endParaRPr lang="en-US" dirty="0"/>
          </a:p>
        </p:txBody>
      </p:sp>
      <p:sp>
        <p:nvSpPr>
          <p:cNvPr id="7" name="Slide Number Placeholder 6">
            <a:extLst>
              <a:ext uri="{FF2B5EF4-FFF2-40B4-BE49-F238E27FC236}">
                <a16:creationId xmlns:a16="http://schemas.microsoft.com/office/drawing/2014/main" id="{DB034A87-4A6E-4927-B895-60B8978B0D0B}"/>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
        <p:nvSpPr>
          <p:cNvPr id="8" name="Footer Placeholder 7">
            <a:extLst>
              <a:ext uri="{FF2B5EF4-FFF2-40B4-BE49-F238E27FC236}">
                <a16:creationId xmlns:a16="http://schemas.microsoft.com/office/drawing/2014/main" id="{690EDBAA-3DAF-4A0B-ADCD-B56430B133C1}"/>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23669957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Abstract</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600" b="0" i="0" dirty="0">
                <a:latin typeface="Calibri" panose="020F0502020204030204" pitchFamily="34" charset="0"/>
                <a:ea typeface="Calibri" panose="020F0502020204030204" pitchFamily="34" charset="0"/>
                <a:cs typeface="Calibri" panose="020F0502020204030204" pitchFamily="34" charset="0"/>
              </a:rPr>
              <a:t>Machine learning models are deployed once and then trusted indefinitely. Serving infrastructure reports that a model is running; nothing in a typical production stack reports whether it is still reliable at the moment a decision is made.</a:t>
            </a:r>
          </a:p>
          <a:p>
            <a:pPr marL="0" indent="0" algn="l">
              <a:spcBef>
                <a:spcPts val="400"/>
              </a:spcBef>
              <a:buNone/>
            </a:pPr>
            <a:r>
              <a:rPr lang="en-US" sz="1600" b="0" i="0" dirty="0">
                <a:latin typeface="Calibri" panose="020F0502020204030204" pitchFamily="34" charset="0"/>
                <a:ea typeface="Calibri" panose="020F0502020204030204" pitchFamily="34" charset="0"/>
                <a:cs typeface="Calibri" panose="020F0502020204030204" pitchFamily="34" charset="0"/>
              </a:rPr>
              <a:t>Custos is a runtime trust layer that sits between an AI agent and its consequential action. On every request it fuses three independent signals — policy compliance, feature-distribution drift, and contextual risk — into a single weighted trust score, and converts that score into one of three verdicts: ALLOW, REVIEW or BLOCK.</a:t>
            </a:r>
          </a:p>
          <a:p>
            <a:pPr marL="0" indent="0" algn="l">
              <a:spcBef>
                <a:spcPts val="400"/>
              </a:spcBef>
              <a:buNone/>
            </a:pPr>
            <a:r>
              <a:rPr lang="en-US" sz="1600" b="0" i="0" dirty="0">
                <a:latin typeface="Calibri" panose="020F0502020204030204" pitchFamily="34" charset="0"/>
                <a:ea typeface="Calibri" panose="020F0502020204030204" pitchFamily="34" charset="0"/>
                <a:cs typeface="Calibri" panose="020F0502020204030204" pitchFamily="34" charset="0"/>
              </a:rPr>
              <a:t>Drift is quantified offline using PSI and the Kolmogorov–Smirnov statistic against a baseline fixed at model registration, keeping the request path within a 50 ms p99 budget. Every verdict is written to a per-tenant SHA-256 hash chain, making any later modification of the decision record detectable and localisable.</a:t>
            </a:r>
          </a:p>
          <a:p>
            <a:pPr marL="0" indent="0" algn="l">
              <a:spcBef>
                <a:spcPts val="400"/>
              </a:spcBef>
              <a:buNone/>
            </a:pPr>
            <a:r>
              <a:rPr lang="en-US" sz="1600" b="0" i="0" dirty="0">
                <a:latin typeface="Calibri" panose="020F0502020204030204" pitchFamily="34" charset="0"/>
                <a:ea typeface="Calibri" panose="020F0502020204030204" pitchFamily="34" charset="0"/>
                <a:cs typeface="Calibri" panose="020F0502020204030204" pitchFamily="34" charset="0"/>
              </a:rPr>
              <a:t>A working system has been implemented and demonstrated end-to-end on a fintech credit-underwriting scenario, in which an unchanged model and unchanged code move from ALLOW to REVIEW to BLOCK purely because the incoming population shifted.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Introduction — Overview and Motivation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59467" y="1600200"/>
            <a:ext cx="9694333" cy="4614333"/>
          </a:xfrm>
        </p:spPr>
        <p:txBody>
          <a:bodyPr>
            <a:normAutofit/>
          </a:bodyPr>
          <a:lstStyle/>
          <a:p>
            <a:pPr marL="0" indent="0" algn="l">
              <a:spcBef>
                <a:spcPts val="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Overview</a:t>
            </a:r>
          </a:p>
          <a:p>
            <a:pPr marL="285750" indent="-285750" algn="l">
              <a:spcBef>
                <a:spcPts val="400"/>
              </a:spcBef>
              <a:buFont typeface="Arial" panose="020B0604020202020204" pitchFamily="34" charset="0"/>
              <a:buChar char="•"/>
            </a:pPr>
            <a:r>
              <a:rPr lang="en-US" sz="1500" b="0" i="0" dirty="0">
                <a:latin typeface="Calibri" panose="020F0502020204030204" pitchFamily="34" charset="0"/>
                <a:ea typeface="Calibri" panose="020F0502020204030204" pitchFamily="34" charset="0"/>
                <a:cs typeface="Calibri" panose="020F0502020204030204" pitchFamily="34" charset="0"/>
              </a:rPr>
              <a:t>Custos is an enforcement layer, not a dashboard. It returns a blocking verdict on the request path, before an irreversible action is taken.</a:t>
            </a:r>
          </a:p>
          <a:p>
            <a:pPr marL="285750" indent="-285750" algn="l">
              <a:spcBef>
                <a:spcPts val="400"/>
              </a:spcBef>
              <a:buFont typeface="Arial" panose="020B0604020202020204" pitchFamily="34" charset="0"/>
              <a:buChar char="•"/>
            </a:pPr>
            <a:r>
              <a:rPr lang="en-US" sz="1500" b="0" i="0" dirty="0">
                <a:latin typeface="Calibri" panose="020F0502020204030204" pitchFamily="34" charset="0"/>
                <a:ea typeface="Calibri" panose="020F0502020204030204" pitchFamily="34" charset="0"/>
                <a:cs typeface="Calibri" panose="020F0502020204030204" pitchFamily="34" charset="0"/>
              </a:rPr>
              <a:t>One question, answered per request: given what is currently known about this model and this input, should this action proceed?</a:t>
            </a:r>
          </a:p>
          <a:p>
            <a:pPr marL="0" indent="0" algn="l">
              <a:spcBef>
                <a:spcPts val="50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Motivation</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Timing gap — </a:t>
            </a:r>
            <a:r>
              <a:rPr lang="en-US" sz="1500" b="0" i="0" dirty="0">
                <a:latin typeface="Calibri" panose="020F0502020204030204" pitchFamily="34" charset="0"/>
                <a:ea typeface="Calibri" panose="020F0502020204030204" pitchFamily="34" charset="0"/>
                <a:cs typeface="Calibri" panose="020F0502020204030204" pitchFamily="34" charset="0"/>
              </a:rPr>
              <a:t>monitoring is periodic, damage is immediate. Practitioner interviews conducted for this project confirmed that PSI/CSI reports are produced quarterly, while an incorrect automated approval loses money the same day.</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Attribution gap — </a:t>
            </a:r>
            <a:r>
              <a:rPr lang="en-US" sz="1500" b="0" i="0" dirty="0">
                <a:latin typeface="Calibri" panose="020F0502020204030204" pitchFamily="34" charset="0"/>
                <a:ea typeface="Calibri" panose="020F0502020204030204" pitchFamily="34" charset="0"/>
                <a:cs typeface="Calibri" panose="020F0502020204030204" pitchFamily="34" charset="0"/>
              </a:rPr>
              <a:t>most production incidents are not model decay but broken feature pipelines, where a feature silently pins to a constant. The two require opposite responses.</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Autonomy gap — </a:t>
            </a:r>
            <a:r>
              <a:rPr lang="en-US" sz="1500" b="0" i="0" dirty="0">
                <a:latin typeface="Calibri" panose="020F0502020204030204" pitchFamily="34" charset="0"/>
                <a:ea typeface="Calibri" panose="020F0502020204030204" pitchFamily="34" charset="0"/>
                <a:cs typeface="Calibri" panose="020F0502020204030204" pitchFamily="34" charset="0"/>
              </a:rPr>
              <a:t>in lending, a wrong decision is a direct financial loss, so full autonomy is unacceptable and full manual review is unaffordable. A third verdict is required.</a:t>
            </a:r>
          </a:p>
          <a:p>
            <a:pPr marL="0" indent="0" algn="l">
              <a:spcBef>
                <a:spcPts val="40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Grounded in primary interviews with production credit-risk practitioners (docs/conversations/).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2905062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Introduction — Objectives and Scope</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Objectives</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O1  </a:t>
            </a:r>
            <a:r>
              <a:rPr lang="en-US" sz="1500" b="0" i="0" dirty="0">
                <a:latin typeface="Calibri" panose="020F0502020204030204" pitchFamily="34" charset="0"/>
                <a:ea typeface="Calibri" panose="020F0502020204030204" pitchFamily="34" charset="0"/>
                <a:cs typeface="Calibri" panose="020F0502020204030204" pitchFamily="34" charset="0"/>
              </a:rPr>
              <a:t>Fuse multiple independent trust signals into one blocking runtime decision.</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O2  </a:t>
            </a:r>
            <a:r>
              <a:rPr lang="en-US" sz="1500" b="0" i="0" dirty="0">
                <a:latin typeface="Calibri" panose="020F0502020204030204" pitchFamily="34" charset="0"/>
                <a:ea typeface="Calibri" panose="020F0502020204030204" pitchFamily="34" charset="0"/>
                <a:cs typeface="Calibri" panose="020F0502020204030204" pitchFamily="34" charset="0"/>
              </a:rPr>
              <a:t>Quantify feature drift per model and attribute it to individual features.</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O3  </a:t>
            </a:r>
            <a:r>
              <a:rPr lang="en-US" sz="1500" b="0" i="0" dirty="0">
                <a:latin typeface="Calibri" panose="020F0502020204030204" pitchFamily="34" charset="0"/>
                <a:ea typeface="Calibri" panose="020F0502020204030204" pitchFamily="34" charset="0"/>
                <a:cs typeface="Calibri" panose="020F0502020204030204" pitchFamily="34" charset="0"/>
              </a:rPr>
              <a:t>Keep the enforcement path within a 50 ms p99 latency budget.</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O4  </a:t>
            </a:r>
            <a:r>
              <a:rPr lang="en-US" sz="1500" b="0" i="0" dirty="0">
                <a:latin typeface="Calibri" panose="020F0502020204030204" pitchFamily="34" charset="0"/>
                <a:ea typeface="Calibri" panose="020F0502020204030204" pitchFamily="34" charset="0"/>
                <a:cs typeface="Calibri" panose="020F0502020204030204" pitchFamily="34" charset="0"/>
              </a:rPr>
              <a:t>Produce a tamper-evident audit record for every decision.</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O5  </a:t>
            </a:r>
            <a:r>
              <a:rPr lang="en-US" sz="1500" b="0" i="0" dirty="0">
                <a:latin typeface="Calibri" panose="020F0502020204030204" pitchFamily="34" charset="0"/>
                <a:ea typeface="Calibri" panose="020F0502020204030204" pitchFamily="34" charset="0"/>
                <a:cs typeface="Calibri" panose="020F0502020204030204" pitchFamily="34" charset="0"/>
              </a:rPr>
              <a:t>Make the system extensible — a new signal must be an additive change.</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O6  </a:t>
            </a:r>
            <a:r>
              <a:rPr lang="en-US" sz="1500" b="0" i="0" dirty="0">
                <a:latin typeface="Calibri" panose="020F0502020204030204" pitchFamily="34" charset="0"/>
                <a:ea typeface="Calibri" panose="020F0502020204030204" pitchFamily="34" charset="0"/>
                <a:cs typeface="Calibri" panose="020F0502020204030204" pitchFamily="34" charset="0"/>
              </a:rPr>
              <a:t>Keep integration effort to five lines or fewer of caller code.</a:t>
            </a:r>
          </a:p>
          <a:p>
            <a:pPr marL="0" indent="0" algn="l">
              <a:spcBef>
                <a:spcPts val="45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Scope</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In scope: </a:t>
            </a:r>
            <a:r>
              <a:rPr lang="en-US" sz="1500" b="0" i="0" dirty="0">
                <a:latin typeface="Calibri" panose="020F0502020204030204" pitchFamily="34" charset="0"/>
                <a:ea typeface="Calibri" panose="020F0502020204030204" pitchFamily="34" charset="0"/>
                <a:cs typeface="Calibri" panose="020F0502020204030204" pitchFamily="34" charset="0"/>
              </a:rPr>
              <a:t>policy rule evaluation, drift detection and scoring, signal fusion, decision enforcement, audit chain, multi-tenant configuration, operator dashboard.</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Out of scope: </a:t>
            </a:r>
            <a:r>
              <a:rPr lang="en-US" sz="1500" b="0" i="0" dirty="0">
                <a:latin typeface="Calibri" panose="020F0502020204030204" pitchFamily="34" charset="0"/>
                <a:ea typeface="Calibri" panose="020F0502020204030204" pitchFamily="34" charset="0"/>
                <a:cs typeface="Calibri" panose="020F0502020204030204" pitchFamily="34" charset="0"/>
              </a:rPr>
              <a:t>Custos does not train, serve or host models; it does not explain individual predictions; it does not retrain or roll back. It decides and records — humans act.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Introduction — Existing vs. Proposed System</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Existing systems and what they leave unanswered</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Model monitoring: </a:t>
            </a:r>
            <a:r>
              <a:rPr lang="en-US" sz="1450" b="0" i="0" dirty="0">
                <a:latin typeface="Calibri" panose="020F0502020204030204" pitchFamily="34" charset="0"/>
                <a:ea typeface="Calibri" panose="020F0502020204030204" pitchFamily="34" charset="0"/>
                <a:cs typeface="Calibri" panose="020F0502020204030204" pitchFamily="34" charset="0"/>
              </a:rPr>
              <a:t>Evidently AI, WhyLabs, Arize — detect drift offline and report it on a dashboard. They cannot block a request.</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Policy engines: </a:t>
            </a:r>
            <a:r>
              <a:rPr lang="en-US" sz="1450" b="0" i="0" dirty="0">
                <a:latin typeface="Calibri" panose="020F0502020204030204" pitchFamily="34" charset="0"/>
                <a:ea typeface="Calibri" panose="020F0502020204030204" pitchFamily="34" charset="0"/>
                <a:cs typeface="Calibri" panose="020F0502020204030204" pitchFamily="34" charset="0"/>
              </a:rPr>
              <a:t>Open Policy Agent, API gateways — enforce authorisation, but know nothing about whether a model is still statistically reliable.</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MLOps platforms: </a:t>
            </a:r>
            <a:r>
              <a:rPr lang="en-US" sz="1450" b="0" i="0" dirty="0">
                <a:latin typeface="Calibri" panose="020F0502020204030204" pitchFamily="34" charset="0"/>
                <a:ea typeface="Calibri" panose="020F0502020204030204" pitchFamily="34" charset="0"/>
                <a:cs typeface="Calibri" panose="020F0502020204030204" pitchFamily="34" charset="0"/>
              </a:rPr>
              <a:t>MLflow, SageMaker, Vertex AI — confirm a model is deployed and healthy, not that it is still trustworthy for the population it now sees.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Feature stores: </a:t>
            </a:r>
            <a:r>
              <a:rPr lang="en-US" sz="1450" b="0" i="0" dirty="0">
                <a:latin typeface="Calibri" panose="020F0502020204030204" pitchFamily="34" charset="0"/>
                <a:ea typeface="Calibri" panose="020F0502020204030204" pitchFamily="34" charset="0"/>
                <a:cs typeface="Calibri" panose="020F0502020204030204" pitchFamily="34" charset="0"/>
              </a:rPr>
              <a:t>record the inputs used, but not whether those inputs still resemble training data.</a:t>
            </a:r>
          </a:p>
          <a:p>
            <a:pPr marL="0" indent="0" algn="l">
              <a:spcBef>
                <a:spcPts val="45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Proposed system</a:t>
            </a:r>
          </a:p>
          <a:p>
            <a:pPr marL="285750" indent="-285750" algn="l">
              <a:spcBef>
                <a:spcPts val="400"/>
              </a:spcBef>
              <a:buFont typeface="Arial" panose="020B0604020202020204" pitchFamily="34" charset="0"/>
              <a:buChar char="•"/>
            </a:pPr>
            <a:r>
              <a:rPr lang="en-US" sz="1450" b="0" i="0" dirty="0">
                <a:latin typeface="Calibri" panose="020F0502020204030204" pitchFamily="34" charset="0"/>
                <a:ea typeface="Calibri" panose="020F0502020204030204" pitchFamily="34" charset="0"/>
                <a:cs typeface="Calibri" panose="020F0502020204030204" pitchFamily="34" charset="0"/>
              </a:rPr>
              <a:t>Custos fuses drift, policy and risk into a single enforceable verdict on the request path, with per-feature attribution and a cryptographically verifiable audit trail.</a:t>
            </a:r>
          </a:p>
          <a:p>
            <a:pPr marL="0" indent="0" algn="l">
              <a:spcBef>
                <a:spcPts val="400"/>
              </a:spcBef>
              <a:buNone/>
            </a:pPr>
            <a:r>
              <a:rPr lang="en-US" sz="1400" b="0" i="1" dirty="0">
                <a:latin typeface="Calibri" panose="020F0502020204030204" pitchFamily="34" charset="0"/>
                <a:ea typeface="Calibri" panose="020F0502020204030204" pitchFamily="34" charset="0"/>
                <a:cs typeface="Calibri" panose="020F0502020204030204" pitchFamily="34" charset="0"/>
              </a:rPr>
              <a:t>The components exist separately. What does not exist is a layer that fuses them into one blocking decision and can prove afterwards what it decided and why.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Introduction — SDG Alignment and Work Plan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Sustainable Development Goals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SDG 9: </a:t>
            </a:r>
            <a:r>
              <a:rPr lang="en-US" sz="1450" b="0" i="0" dirty="0">
                <a:latin typeface="Calibri" panose="020F0502020204030204" pitchFamily="34" charset="0"/>
                <a:ea typeface="Calibri" panose="020F0502020204030204" pitchFamily="34" charset="0"/>
                <a:cs typeface="Calibri" panose="020F0502020204030204" pitchFamily="34" charset="0"/>
              </a:rPr>
              <a:t>Industry, Innovation and Infrastructure — builds resilient, auditable infrastructure for automated decision systems.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SDG 10: </a:t>
            </a:r>
            <a:r>
              <a:rPr lang="en-US" sz="1450" b="0" i="0" dirty="0">
                <a:latin typeface="Calibri" panose="020F0502020204030204" pitchFamily="34" charset="0"/>
                <a:ea typeface="Calibri" panose="020F0502020204030204" pitchFamily="34" charset="0"/>
                <a:cs typeface="Calibri" panose="020F0502020204030204" pitchFamily="34" charset="0"/>
              </a:rPr>
              <a:t>Reduced Inequalities — blocking a model that has drifted away from the population it was trained on directly limits systematically unfair automated credit decisions.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SDG 16: </a:t>
            </a:r>
            <a:r>
              <a:rPr lang="en-US" sz="1450" b="0" i="0" dirty="0">
                <a:latin typeface="Calibri" panose="020F0502020204030204" pitchFamily="34" charset="0"/>
                <a:ea typeface="Calibri" panose="020F0502020204030204" pitchFamily="34" charset="0"/>
                <a:cs typeface="Calibri" panose="020F0502020204030204" pitchFamily="34" charset="0"/>
              </a:rPr>
              <a:t>Peace, Justice and Strong Institutions — tamper-evident decision records support accountability and regulatory audit of automated decisions.</a:t>
            </a:r>
          </a:p>
          <a:p>
            <a:pPr marL="0" indent="0" algn="l">
              <a:spcBef>
                <a:spcPts val="45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Work plan</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Phase 1: </a:t>
            </a:r>
            <a:r>
              <a:rPr lang="en-US" sz="1450" b="0" i="0" dirty="0">
                <a:latin typeface="Calibri" panose="020F0502020204030204" pitchFamily="34" charset="0"/>
                <a:ea typeface="Calibri" panose="020F0502020204030204" pitchFamily="34" charset="0"/>
                <a:cs typeface="Calibri" panose="020F0502020204030204" pitchFamily="34" charset="0"/>
              </a:rPr>
              <a:t>Problem study, practitioner interviews, literature survey, architecture and ADRs. — completed</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Phase 2a: </a:t>
            </a:r>
            <a:r>
              <a:rPr lang="en-US" sz="1450" b="0" i="0" dirty="0">
                <a:latin typeface="Calibri" panose="020F0502020204030204" pitchFamily="34" charset="0"/>
                <a:ea typeface="Calibri" panose="020F0502020204030204" pitchFamily="34" charset="0"/>
                <a:cs typeface="Calibri" panose="020F0502020204030204" pitchFamily="34" charset="0"/>
              </a:rPr>
              <a:t>Contract layer, drift engine, policy engine, trust engine, audit chain. — completed</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Phase 2b: </a:t>
            </a:r>
            <a:r>
              <a:rPr lang="en-US" sz="1450" b="0" i="0" dirty="0">
                <a:latin typeface="Calibri" panose="020F0502020204030204" pitchFamily="34" charset="0"/>
                <a:ea typeface="Calibri" panose="020F0502020204030204" pitchFamily="34" charset="0"/>
                <a:cs typeface="Calibri" panose="020F0502020204030204" pitchFamily="34" charset="0"/>
              </a:rPr>
              <a:t>Gateway and control plane APIs, Python SDK, dashboard, fintech demo. — completed</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Phase 2c: </a:t>
            </a:r>
            <a:r>
              <a:rPr lang="en-US" sz="1450" b="0" i="0" dirty="0">
                <a:latin typeface="Calibri" panose="020F0502020204030204" pitchFamily="34" charset="0"/>
                <a:ea typeface="Calibri" panose="020F0502020204030204" pitchFamily="34" charset="0"/>
                <a:cs typeface="Calibri" panose="020F0502020204030204" pitchFamily="34" charset="0"/>
              </a:rPr>
              <a:t>Risk engine, latency benchmarking at scale, deployment hardening. — in progress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Literature Survey</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Surveyed across three areas: distribution-shift detection, policy enforcement for ML systems, and tamper-evident audit logging.</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9" name="Table 9">
            <a:extLst>
              <a:ext uri="{FF2B5EF4-FFF2-40B4-BE49-F238E27FC236}">
                <a16:creationId xmlns:a16="http://schemas.microsoft.com/office/drawing/2014/main" id="{1F0831F2-8306-4C86-91C8-F8915A9B23B3}"/>
              </a:ext>
            </a:extLst>
          </p:cNvPr>
          <p:cNvGraphicFramePr>
            <a:graphicFrameLocks noGrp="1"/>
          </p:cNvGraphicFramePr>
          <p:nvPr/>
        </p:nvGraphicFramePr>
        <p:xfrm>
          <a:off x="960120" y="2331720"/>
          <a:ext cx="10241278" cy="2397760"/>
        </p:xfrm>
        <a:graphic>
          <a:graphicData uri="http://schemas.openxmlformats.org/drawingml/2006/table">
            <a:tbl>
              <a:tblPr firstRow="1" bandRow="1">
                <a:tableStyleId>{5C22544A-7EE6-4342-B048-85BDC9FD1C3A}</a:tableStyleId>
              </a:tblPr>
              <a:tblGrid>
                <a:gridCol w="1945843">
                  <a:extLst>
                    <a:ext uri="{9D8B030D-6E8A-4147-A177-3AD203B41FA5}">
                      <a16:colId xmlns:a16="http://schemas.microsoft.com/office/drawing/2014/main" val="2288673594"/>
                    </a:ext>
                  </a:extLst>
                </a:gridCol>
                <a:gridCol w="1331366">
                  <a:extLst>
                    <a:ext uri="{9D8B030D-6E8A-4147-A177-3AD203B41FA5}">
                      <a16:colId xmlns:a16="http://schemas.microsoft.com/office/drawing/2014/main" val="333199711"/>
                    </a:ext>
                  </a:extLst>
                </a:gridCol>
                <a:gridCol w="716889">
                  <a:extLst>
                    <a:ext uri="{9D8B030D-6E8A-4147-A177-3AD203B41FA5}">
                      <a16:colId xmlns:a16="http://schemas.microsoft.com/office/drawing/2014/main" val="3714884348"/>
                    </a:ext>
                  </a:extLst>
                </a:gridCol>
                <a:gridCol w="2253081">
                  <a:extLst>
                    <a:ext uri="{9D8B030D-6E8A-4147-A177-3AD203B41FA5}">
                      <a16:colId xmlns:a16="http://schemas.microsoft.com/office/drawing/2014/main" val="72185476"/>
                    </a:ext>
                  </a:extLst>
                </a:gridCol>
                <a:gridCol w="2048256">
                  <a:extLst>
                    <a:ext uri="{9D8B030D-6E8A-4147-A177-3AD203B41FA5}">
                      <a16:colId xmlns:a16="http://schemas.microsoft.com/office/drawing/2014/main" val="872815148"/>
                    </a:ext>
                  </a:extLst>
                </a:gridCol>
                <a:gridCol w="1945843">
                  <a:extLst>
                    <a:ext uri="{9D8B030D-6E8A-4147-A177-3AD203B41FA5}">
                      <a16:colId xmlns:a16="http://schemas.microsoft.com/office/drawing/2014/main" val="2673185824"/>
                    </a:ext>
                  </a:extLst>
                </a:gridCol>
              </a:tblGrid>
              <a:tr h="370840">
                <a:tc>
                  <a:txBody>
                    <a:bodyPr/>
                    <a:lstStyle/>
                    <a:p>
                      <a:r>
                        <a:rPr lang="en-US" dirty="0" sz="1050" b="1"/>
                        <a:t>Paper Title </a:t>
                      </a:r>
                      <a:endParaRPr lang="en-IN" dirty="0"/>
                    </a:p>
                  </a:txBody>
                  <a:tcPr/>
                </a:tc>
                <a:tc>
                  <a:txBody>
                    <a:bodyPr/>
                    <a:lstStyle/>
                    <a:p>
                      <a:r>
                        <a:rPr lang="en-US" dirty="0" sz="1050" b="1"/>
                        <a:t>Name of Journal / Conference </a:t>
                      </a:r>
                      <a:endParaRPr lang="en-IN" dirty="0"/>
                    </a:p>
                  </a:txBody>
                  <a:tcPr/>
                </a:tc>
                <a:tc>
                  <a:txBody>
                    <a:bodyPr/>
                    <a:lstStyle/>
                    <a:p>
                      <a:r>
                        <a:rPr lang="en-US" dirty="0" sz="1050" b="1"/>
                        <a:t>Published Year </a:t>
                      </a:r>
                      <a:endParaRPr lang="en-IN" dirty="0"/>
                    </a:p>
                  </a:txBody>
                  <a:tcPr/>
                </a:tc>
                <a:tc>
                  <a:txBody>
                    <a:bodyPr/>
                    <a:lstStyle/>
                    <a:p>
                      <a:r>
                        <a:rPr lang="en-US" dirty="0" sz="1050" b="1"/>
                        <a:t>Novelty / Techniques</a:t>
                      </a:r>
                      <a:endParaRPr lang="en-IN" dirty="0"/>
                    </a:p>
                  </a:txBody>
                  <a:tcPr/>
                </a:tc>
                <a:tc>
                  <a:txBody>
                    <a:bodyPr/>
                    <a:lstStyle/>
                    <a:p>
                      <a:r>
                        <a:rPr lang="en-US" dirty="0" sz="1050" b="1"/>
                        <a:t>Limitations </a:t>
                      </a:r>
                      <a:endParaRPr lang="en-IN" dirty="0"/>
                    </a:p>
                  </a:txBody>
                  <a:tcPr/>
                </a:tc>
                <a:tc>
                  <a:txBody>
                    <a:bodyPr/>
                    <a:lstStyle/>
                    <a:p>
                      <a:r>
                        <a:rPr lang="en-US" dirty="0" sz="1050" b="1"/>
                        <a:t>Gap Identified </a:t>
                      </a:r>
                      <a:endParaRPr lang="en-IN" dirty="0"/>
                    </a:p>
                  </a:txBody>
                  <a:tcPr/>
                </a:tc>
                <a:extLst>
                  <a:ext uri="{0D108BD9-81ED-4DB2-BD59-A6C34878D82A}">
                    <a16:rowId xmlns:a16="http://schemas.microsoft.com/office/drawing/2014/main" val="2567915848"/>
                  </a:ext>
                </a:extLst>
              </a:tr>
              <a:tr h="370840">
                <a:tc>
                  <a:txBody>
                    <a:bodyPr/>
                    <a:lstStyle/>
                    <a:p>
                      <a:r>
                        <a:rPr sz="950">
                          <a:latin typeface="Calibri"/>
                        </a:rPr>
                        <a:t>A Unified Framework for Dataset Shift Detection</a:t>
                      </a:r>
                      <a:endParaRPr lang="en-IN"/>
                    </a:p>
                  </a:txBody>
                  <a:tcPr/>
                </a:tc>
                <a:tc>
                  <a:txBody>
                    <a:bodyPr/>
                    <a:lstStyle/>
                    <a:p>
                      <a:r>
                        <a:rPr sz="950">
                          <a:latin typeface="Calibri"/>
                        </a:rPr>
                        <a:t>NeurIPS Workshop</a:t>
                      </a:r>
                      <a:endParaRPr lang="en-IN" dirty="0"/>
                    </a:p>
                  </a:txBody>
                  <a:tcPr/>
                </a:tc>
                <a:tc>
                  <a:txBody>
                    <a:bodyPr/>
                    <a:lstStyle/>
                    <a:p>
                      <a:r>
                        <a:rPr sz="950">
                          <a:latin typeface="Calibri"/>
                        </a:rPr>
                        <a:t>2019</a:t>
                      </a:r>
                      <a:endParaRPr lang="en-IN" dirty="0"/>
                    </a:p>
                  </a:txBody>
                  <a:tcPr/>
                </a:tc>
                <a:tc>
                  <a:txBody>
                    <a:bodyPr/>
                    <a:lstStyle/>
                    <a:p>
                      <a:r>
                        <a:rPr sz="950">
                          <a:latin typeface="Calibri"/>
                        </a:rPr>
                        <a:t>Formalises covariate, prior and concept shift; two-sample tests (MMD, KS)</a:t>
                      </a:r>
                      <a:endParaRPr lang="en-IN" dirty="0"/>
                    </a:p>
                  </a:txBody>
                  <a:tcPr/>
                </a:tc>
                <a:tc>
                  <a:txBody>
                    <a:bodyPr/>
                    <a:lstStyle/>
                    <a:p>
                      <a:r>
                        <a:rPr sz="950">
                          <a:latin typeface="Calibri"/>
                        </a:rPr>
                        <a:t>Offline batch analysis only</a:t>
                      </a:r>
                      <a:endParaRPr lang="en-IN" dirty="0"/>
                    </a:p>
                  </a:txBody>
                  <a:tcPr/>
                </a:tc>
                <a:tc>
                  <a:txBody>
                    <a:bodyPr/>
                    <a:lstStyle/>
                    <a:p>
                      <a:r>
                        <a:rPr sz="950">
                          <a:latin typeface="Calibri"/>
                        </a:rPr>
                        <a:t>Shift detection never reaches the decision path</a:t>
                      </a:r>
                      <a:endParaRPr lang="en-IN" dirty="0"/>
                    </a:p>
                  </a:txBody>
                  <a:tcPr/>
                </a:tc>
                <a:extLst>
                  <a:ext uri="{0D108BD9-81ED-4DB2-BD59-A6C34878D82A}">
                    <a16:rowId xmlns:a16="http://schemas.microsoft.com/office/drawing/2014/main" val="551672611"/>
                  </a:ext>
                </a:extLst>
              </a:tr>
              <a:tr h="370840">
                <a:tc>
                  <a:txBody>
                    <a:bodyPr/>
                    <a:lstStyle/>
                    <a:p>
                      <a:r>
                        <a:rPr sz="950">
                          <a:latin typeface="Calibri"/>
                        </a:rPr>
                        <a:t>PSI for Credit Scorecard Monitoring</a:t>
                      </a:r>
                      <a:endParaRPr lang="en-IN" dirty="0"/>
                    </a:p>
                  </a:txBody>
                  <a:tcPr/>
                </a:tc>
                <a:tc>
                  <a:txBody>
                    <a:bodyPr/>
                    <a:lstStyle/>
                    <a:p>
                      <a:r>
                        <a:rPr sz="950">
                          <a:latin typeface="Calibri"/>
                        </a:rPr>
                        <a:t>J. Risk Model Validation</a:t>
                      </a:r>
                      <a:endParaRPr lang="en-IN" dirty="0"/>
                    </a:p>
                  </a:txBody>
                  <a:tcPr/>
                </a:tc>
                <a:tc>
                  <a:txBody>
                    <a:bodyPr/>
                    <a:lstStyle/>
                    <a:p>
                      <a:r>
                        <a:rPr sz="950">
                          <a:latin typeface="Calibri"/>
                        </a:rPr>
                        <a:t>2018</a:t>
                      </a:r>
                      <a:endParaRPr lang="en-IN" dirty="0"/>
                    </a:p>
                  </a:txBody>
                  <a:tcPr/>
                </a:tc>
                <a:tc>
                  <a:txBody>
                    <a:bodyPr/>
                    <a:lstStyle/>
                    <a:p>
                      <a:r>
                        <a:rPr sz="950">
                          <a:latin typeface="Calibri"/>
                        </a:rPr>
                        <a:t>PSI bands (0.10 / 0.25) as the scorecard-stability standard</a:t>
                      </a:r>
                      <a:endParaRPr lang="en-IN" dirty="0"/>
                    </a:p>
                  </a:txBody>
                  <a:tcPr/>
                </a:tc>
                <a:tc>
                  <a:txBody>
                    <a:bodyPr/>
                    <a:lstStyle/>
                    <a:p>
                      <a:r>
                        <a:rPr sz="950">
                          <a:latin typeface="Calibri"/>
                        </a:rPr>
                        <a:t>Model-level scalar; quarterly; no feature attribution</a:t>
                      </a:r>
                      <a:endParaRPr lang="en-IN" dirty="0"/>
                    </a:p>
                  </a:txBody>
                  <a:tcPr/>
                </a:tc>
                <a:tc>
                  <a:txBody>
                    <a:bodyPr/>
                    <a:lstStyle/>
                    <a:p>
                      <a:r>
                        <a:rPr sz="950">
                          <a:latin typeface="Calibri"/>
                        </a:rPr>
                        <a:t>No attribution; too slow to prevent loss</a:t>
                      </a:r>
                      <a:endParaRPr lang="en-IN" dirty="0"/>
                    </a:p>
                  </a:txBody>
                  <a:tcPr/>
                </a:tc>
                <a:extLst>
                  <a:ext uri="{0D108BD9-81ED-4DB2-BD59-A6C34878D82A}">
                    <a16:rowId xmlns:a16="http://schemas.microsoft.com/office/drawing/2014/main" val="157528343"/>
                  </a:ext>
                </a:extLst>
              </a:tr>
              <a:tr h="370840">
                <a:tc>
                  <a:txBody>
                    <a:bodyPr/>
                    <a:lstStyle/>
                    <a:p>
                      <a:r>
                        <a:rPr sz="950">
                          <a:latin typeface="Calibri"/>
                        </a:rPr>
                        <a:t>Evidently AI / WhyLabs: open-source ML monitoring</a:t>
                      </a:r>
                      <a:endParaRPr lang="en-IN" dirty="0"/>
                    </a:p>
                  </a:txBody>
                  <a:tcPr/>
                </a:tc>
                <a:tc>
                  <a:txBody>
                    <a:bodyPr/>
                    <a:lstStyle/>
                    <a:p>
                      <a:r>
                        <a:rPr sz="950">
                          <a:latin typeface="Calibri"/>
                        </a:rPr>
                        <a:t>MLOps Systems Track</a:t>
                      </a:r>
                      <a:endParaRPr lang="en-IN" dirty="0"/>
                    </a:p>
                  </a:txBody>
                  <a:tcPr/>
                </a:tc>
                <a:tc>
                  <a:txBody>
                    <a:bodyPr/>
                    <a:lstStyle/>
                    <a:p>
                      <a:r>
                        <a:rPr sz="950">
                          <a:latin typeface="Calibri"/>
                        </a:rPr>
                        <a:t>2022</a:t>
                      </a:r>
                      <a:endParaRPr lang="en-IN" dirty="0"/>
                    </a:p>
                  </a:txBody>
                  <a:tcPr/>
                </a:tc>
                <a:tc>
                  <a:txBody>
                    <a:bodyPr/>
                    <a:lstStyle/>
                    <a:p>
                      <a:r>
                        <a:rPr sz="950">
                          <a:latin typeface="Calibri"/>
                        </a:rPr>
                        <a:t>Automated drift dashboards, alerting, data-quality profiling</a:t>
                      </a:r>
                      <a:endParaRPr lang="en-IN" dirty="0"/>
                    </a:p>
                  </a:txBody>
                  <a:tcPr/>
                </a:tc>
                <a:tc>
                  <a:txBody>
                    <a:bodyPr/>
                    <a:lstStyle/>
                    <a:p>
                      <a:r>
                        <a:rPr sz="950">
                          <a:latin typeface="Calibri"/>
                        </a:rPr>
                        <a:t>Observational; cannot block an action</a:t>
                      </a:r>
                      <a:endParaRPr lang="en-IN" dirty="0"/>
                    </a:p>
                  </a:txBody>
                  <a:tcPr/>
                </a:tc>
                <a:tc>
                  <a:txBody>
                    <a:bodyPr/>
                    <a:lstStyle/>
                    <a:p>
                      <a:r>
                        <a:rPr sz="950">
                          <a:latin typeface="Calibri"/>
                        </a:rPr>
                        <a:t>Detection without enforcement</a:t>
                      </a:r>
                      <a:endParaRPr lang="en-IN" dirty="0"/>
                    </a:p>
                  </a:txBody>
                  <a:tcPr/>
                </a:tc>
                <a:extLst>
                  <a:ext uri="{0D108BD9-81ED-4DB2-BD59-A6C34878D82A}">
                    <a16:rowId xmlns:a16="http://schemas.microsoft.com/office/drawing/2014/main" val="3961905800"/>
                  </a:ext>
                </a:extLst>
              </a:tr>
              <a:tr h="370840">
                <a:tc>
                  <a:txBody>
                    <a:bodyPr/>
                    <a:lstStyle/>
                    <a:p>
                      <a:r>
                        <a:rPr sz="950">
                          <a:latin typeface="Calibri"/>
                        </a:rPr>
                        <a:t>Open Policy Agent: policy-based control</a:t>
                      </a:r>
                      <a:endParaRPr lang="en-IN" dirty="0"/>
                    </a:p>
                  </a:txBody>
                  <a:tcPr/>
                </a:tc>
                <a:tc>
                  <a:txBody>
                    <a:bodyPr/>
                    <a:lstStyle/>
                    <a:p>
                      <a:r>
                        <a:rPr sz="950">
                          <a:latin typeface="Calibri"/>
                        </a:rPr>
                        <a:t>CNCF / USENIX</a:t>
                      </a:r>
                      <a:endParaRPr lang="en-IN" dirty="0"/>
                    </a:p>
                  </a:txBody>
                  <a:tcPr/>
                </a:tc>
                <a:tc>
                  <a:txBody>
                    <a:bodyPr/>
                    <a:lstStyle/>
                    <a:p>
                      <a:r>
                        <a:rPr sz="950">
                          <a:latin typeface="Calibri"/>
                        </a:rPr>
                        <a:t>2021</a:t>
                      </a:r>
                      <a:endParaRPr lang="en-IN" dirty="0"/>
                    </a:p>
                  </a:txBody>
                  <a:tcPr/>
                </a:tc>
                <a:tc>
                  <a:txBody>
                    <a:bodyPr/>
                    <a:lstStyle/>
                    <a:p>
                      <a:r>
                        <a:rPr sz="950">
                          <a:latin typeface="Calibri"/>
                        </a:rPr>
                        <a:t>Declarative policy, decoupled decision point, sub-ms evaluation</a:t>
                      </a:r>
                      <a:endParaRPr lang="en-IN" dirty="0"/>
                    </a:p>
                  </a:txBody>
                  <a:tcPr/>
                </a:tc>
                <a:tc>
                  <a:txBody>
                    <a:bodyPr/>
                    <a:lstStyle/>
                    <a:p>
                      <a:r>
                        <a:rPr sz="950">
                          <a:latin typeface="Calibri"/>
                        </a:rPr>
                        <a:t>Policy only; no model-reliability signal</a:t>
                      </a:r>
                      <a:endParaRPr lang="en-IN" dirty="0"/>
                    </a:p>
                  </a:txBody>
                  <a:tcPr/>
                </a:tc>
                <a:tc>
                  <a:txBody>
                    <a:bodyPr/>
                    <a:lstStyle/>
                    <a:p>
                      <a:r>
                        <a:rPr sz="950">
                          <a:latin typeface="Calibri"/>
                        </a:rPr>
                        <a:t>Policy and model trust never fuse</a:t>
                      </a:r>
                      <a:endParaRPr lang="en-IN" dirty="0"/>
                    </a:p>
                  </a:txBody>
                  <a:tcPr/>
                </a:tc>
                <a:extLst>
                  <a:ext uri="{0D108BD9-81ED-4DB2-BD59-A6C34878D82A}">
                    <a16:rowId xmlns:a16="http://schemas.microsoft.com/office/drawing/2014/main" val="357925700"/>
                  </a:ext>
                </a:extLst>
              </a:tr>
            </a:tbl>
          </a:graphicData>
        </a:graphic>
      </p:graphicFrame>
    </p:spTree>
    <p:extLst>
      <p:ext uri="{BB962C8B-B14F-4D97-AF65-F5344CB8AC3E}">
        <p14:creationId xmlns:p14="http://schemas.microsoft.com/office/powerpoint/2010/main" val="22036005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Research Gap and Mapping to Objectives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Research gaps identified</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G1  </a:t>
            </a:r>
            <a:r>
              <a:rPr lang="en-US" sz="1450" b="0" i="0" dirty="0">
                <a:latin typeface="Calibri" panose="020F0502020204030204" pitchFamily="34" charset="0"/>
                <a:ea typeface="Calibri" panose="020F0502020204030204" pitchFamily="34" charset="0"/>
                <a:cs typeface="Calibri" panose="020F0502020204030204" pitchFamily="34" charset="0"/>
              </a:rPr>
              <a:t>Drift detection is universally treated as an offline, observational activity. No surveyed work places a drift statistic on the enforcement path of a live request.</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G2  </a:t>
            </a:r>
            <a:r>
              <a:rPr lang="en-US" sz="1450" b="0" i="0" dirty="0">
                <a:latin typeface="Calibri" panose="020F0502020204030204" pitchFamily="34" charset="0"/>
                <a:ea typeface="Calibri" panose="020F0502020204030204" pitchFamily="34" charset="0"/>
                <a:cs typeface="Calibri" panose="020F0502020204030204" pitchFamily="34" charset="0"/>
              </a:rPr>
              <a:t>Drift is reported as a single model-level number; the surveyed tools do not distinguish a genuine population shift from an upstream pipeline failure.</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G3  </a:t>
            </a:r>
            <a:r>
              <a:rPr lang="en-US" sz="1450" b="0" i="0" dirty="0">
                <a:latin typeface="Calibri" panose="020F0502020204030204" pitchFamily="34" charset="0"/>
                <a:ea typeface="Calibri" panose="020F0502020204030204" pitchFamily="34" charset="0"/>
                <a:cs typeface="Calibri" panose="020F0502020204030204" pitchFamily="34" charset="0"/>
              </a:rPr>
              <a:t>Policy enforcement and model-reliability monitoring are separate systems that never contribute to a single decision.</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G4  </a:t>
            </a:r>
            <a:r>
              <a:rPr lang="en-US" sz="1450" b="0" i="0" dirty="0">
                <a:latin typeface="Calibri" panose="020F0502020204030204" pitchFamily="34" charset="0"/>
                <a:ea typeface="Calibri" panose="020F0502020204030204" pitchFamily="34" charset="0"/>
                <a:cs typeface="Calibri" panose="020F0502020204030204" pitchFamily="34" charset="0"/>
              </a:rPr>
              <a:t>Decision logs are ordinary application logs — mutable, and therefore weak evidence under audit.</a:t>
            </a:r>
          </a:p>
          <a:p>
            <a:pPr marL="0" indent="0" algn="l">
              <a:spcBef>
                <a:spcPts val="40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Mapping of gaps to objectives</a:t>
            </a:r>
          </a:p>
          <a:p>
            <a:pPr marL="285750" indent="-285750" algn="l">
              <a:spcBef>
                <a:spcPts val="400"/>
              </a:spcBef>
              <a:buFont typeface="Arial" panose="020B0604020202020204" pitchFamily="34" charset="0"/>
              <a:buChar char="•"/>
            </a:pPr>
            <a:r>
              <a:rPr lang="en-US" sz="1450" b="0" i="0" dirty="0">
                <a:latin typeface="Calibri" panose="020F0502020204030204" pitchFamily="34" charset="0"/>
                <a:ea typeface="Calibri" panose="020F0502020204030204" pitchFamily="34" charset="0"/>
                <a:cs typeface="Calibri" panose="020F0502020204030204" pitchFamily="34" charset="0"/>
              </a:rPr>
              <a:t>G1 → O1, O3   drift moved onto the request path within a bounded latency budget</a:t>
            </a:r>
          </a:p>
          <a:p>
            <a:pPr marL="285750" indent="-285750" algn="l">
              <a:spcBef>
                <a:spcPts val="400"/>
              </a:spcBef>
              <a:buFont typeface="Arial" panose="020B0604020202020204" pitchFamily="34" charset="0"/>
              <a:buChar char="•"/>
            </a:pPr>
            <a:r>
              <a:rPr lang="en-US" sz="1450" b="0" i="0" dirty="0">
                <a:latin typeface="Calibri" panose="020F0502020204030204" pitchFamily="34" charset="0"/>
                <a:ea typeface="Calibri" panose="020F0502020204030204" pitchFamily="34" charset="0"/>
                <a:cs typeface="Calibri" panose="020F0502020204030204" pitchFamily="34" charset="0"/>
              </a:rPr>
              <a:t>G2 → O2       per-feature PSI/KS attribution surfaced with every verdict</a:t>
            </a:r>
          </a:p>
          <a:p>
            <a:pPr marL="285750" indent="-285750" algn="l">
              <a:spcBef>
                <a:spcPts val="400"/>
              </a:spcBef>
              <a:buFont typeface="Arial" panose="020B0604020202020204" pitchFamily="34" charset="0"/>
              <a:buChar char="•"/>
            </a:pPr>
            <a:r>
              <a:rPr lang="en-US" sz="1450" b="0" i="0" dirty="0">
                <a:latin typeface="Calibri" panose="020F0502020204030204" pitchFamily="34" charset="0"/>
                <a:ea typeface="Calibri" panose="020F0502020204030204" pitchFamily="34" charset="0"/>
                <a:cs typeface="Calibri" panose="020F0502020204030204" pitchFamily="34" charset="0"/>
              </a:rPr>
              <a:t>G3 → O1, O5   one engine interface, weighted fusion, registry-based extension</a:t>
            </a:r>
          </a:p>
          <a:p>
            <a:pPr marL="285750" indent="-285750" algn="l">
              <a:spcBef>
                <a:spcPts val="400"/>
              </a:spcBef>
              <a:buFont typeface="Arial" panose="020B0604020202020204" pitchFamily="34" charset="0"/>
              <a:buChar char="•"/>
            </a:pPr>
            <a:r>
              <a:rPr lang="en-US" sz="1450" b="0" i="0" dirty="0">
                <a:latin typeface="Calibri" panose="020F0502020204030204" pitchFamily="34" charset="0"/>
                <a:ea typeface="Calibri" panose="020F0502020204030204" pitchFamily="34" charset="0"/>
                <a:cs typeface="Calibri" panose="020F0502020204030204" pitchFamily="34" charset="0"/>
              </a:rPr>
              <a:t>G4 → O4       SHA-256 hash chain with a verification endpoint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9991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Requirement Analysis — Functional</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FR1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register models per tenant and record a reference feature distribution.</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FR2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compute PSI and KS per feature against that baseline, offline.</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FR3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roll per-feature statistics into a single model severity in [0, 1].</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FR4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evaluate tenant-authored policy rules against request context.</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FR5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fuse enabled engine signals into a weighted trust score.</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FR6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return ALLOW, REVIEW or BLOCK with human-readable reasons.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FR7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honour an engine veto irrespective of all other signals.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FR8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append every decision to a per-tenant tamper-evident hash chain.</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FR9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verify a chain on demand and report the first modified entry.</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FR10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expose drift history and per-feature breakdown to an operator.</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FR11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allow per-tenant configuration of engines, weights and thresholds.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FR12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route requests for unregistered models to REVIEW.</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4029405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Requirement Analysis — Non-Functional and Environment</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Non-functional requirements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NFR1 Latency: </a:t>
            </a:r>
            <a:r>
              <a:rPr lang="en-US" sz="1450" b="0" i="0" dirty="0">
                <a:latin typeface="Calibri" panose="020F0502020204030204" pitchFamily="34" charset="0"/>
                <a:ea typeface="Calibri" panose="020F0502020204030204" pitchFamily="34" charset="0"/>
                <a:cs typeface="Calibri" panose="020F0502020204030204" pitchFamily="34" charset="0"/>
              </a:rPr>
              <a:t>gateway p99 ≤ 50 ms; per-engine budget 20 ms, enforced by cancellation.</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NFR2 Availability: </a:t>
            </a:r>
            <a:r>
              <a:rPr lang="en-US" sz="1450" b="0" i="0" dirty="0">
                <a:latin typeface="Calibri" panose="020F0502020204030204" pitchFamily="34" charset="0"/>
                <a:ea typeface="Calibri" panose="020F0502020204030204" pitchFamily="34" charset="0"/>
                <a:cs typeface="Calibri" panose="020F0502020204030204" pitchFamily="34" charset="0"/>
              </a:rPr>
              <a:t>a Custos failure must not fail the caller — fail-open by default, overridable per tenant.</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NFR3 Isolation: </a:t>
            </a:r>
            <a:r>
              <a:rPr lang="en-US" sz="1450" b="0" i="0" dirty="0">
                <a:latin typeface="Calibri" panose="020F0502020204030204" pitchFamily="34" charset="0"/>
                <a:ea typeface="Calibri" panose="020F0502020204030204" pitchFamily="34" charset="0"/>
                <a:cs typeface="Calibri" panose="020F0502020204030204" pitchFamily="34" charset="0"/>
              </a:rPr>
              <a:t>tenant_id on every table and every query; per-tenant audit chains.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NFR4 Security: </a:t>
            </a:r>
            <a:r>
              <a:rPr lang="en-US" sz="1450" b="0" i="0" dirty="0">
                <a:latin typeface="Calibri" panose="020F0502020204030204" pitchFamily="34" charset="0"/>
                <a:ea typeface="Calibri" panose="020F0502020204030204" pitchFamily="34" charset="0"/>
                <a:cs typeface="Calibri" panose="020F0502020204030204" pitchFamily="34" charset="0"/>
              </a:rPr>
              <a:t>API keys stored only as SHA-256 digests; rule text parsed, never evaluated.</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NFR5 Extensibility: </a:t>
            </a:r>
            <a:r>
              <a:rPr lang="en-US" sz="1450" b="0" i="0" dirty="0">
                <a:latin typeface="Calibri" panose="020F0502020204030204" pitchFamily="34" charset="0"/>
                <a:ea typeface="Calibri" panose="020F0502020204030204" pitchFamily="34" charset="0"/>
                <a:cs typeface="Calibri" panose="020F0502020204030204" pitchFamily="34" charset="0"/>
              </a:rPr>
              <a:t>adding a signal must not modify existing engines or services.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NFR6 Scalability: </a:t>
            </a:r>
            <a:r>
              <a:rPr lang="en-US" sz="1450" b="0" i="0" dirty="0">
                <a:latin typeface="Calibri" panose="020F0502020204030204" pitchFamily="34" charset="0"/>
                <a:ea typeface="Calibri" panose="020F0502020204030204" pitchFamily="34" charset="0"/>
                <a:cs typeface="Calibri" panose="020F0502020204030204" pitchFamily="34" charset="0"/>
              </a:rPr>
              <a:t>gateway and worker horizontally scalable; drift tasks idempotent.</a:t>
            </a:r>
          </a:p>
          <a:p>
            <a:pPr marL="0" indent="0" algn="l">
              <a:spcBef>
                <a:spcPts val="40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Software and hardware environment</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Backend: </a:t>
            </a:r>
            <a:r>
              <a:rPr lang="en-US" sz="1450" b="0" i="0" dirty="0">
                <a:latin typeface="Calibri" panose="020F0502020204030204" pitchFamily="34" charset="0"/>
                <a:ea typeface="Calibri" panose="020F0502020204030204" pitchFamily="34" charset="0"/>
                <a:cs typeface="Calibri" panose="020F0502020204030204" pitchFamily="34" charset="0"/>
              </a:rPr>
              <a:t>Python 3.11+, FastAPI, SQLAlchemy 2, Pydantic v2, Alembic, Celery.</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Frontend: </a:t>
            </a:r>
            <a:r>
              <a:rPr lang="en-US" sz="1450" b="0" i="0" dirty="0">
                <a:latin typeface="Calibri" panose="020F0502020204030204" pitchFamily="34" charset="0"/>
                <a:ea typeface="Calibri" panose="020F0502020204030204" pitchFamily="34" charset="0"/>
                <a:cs typeface="Calibri" panose="020F0502020204030204" pitchFamily="34" charset="0"/>
              </a:rPr>
              <a:t>React 18, TypeScript 5, Vite 5.</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Data: </a:t>
            </a:r>
            <a:r>
              <a:rPr lang="en-US" sz="1450" b="0" i="0" dirty="0">
                <a:latin typeface="Calibri" panose="020F0502020204030204" pitchFamily="34" charset="0"/>
                <a:ea typeface="Calibri" panose="020F0502020204030204" pitchFamily="34" charset="0"/>
                <a:cs typeface="Calibri" panose="020F0502020204030204" pitchFamily="34" charset="0"/>
              </a:rPr>
              <a:t>PostgreSQL 16 and Redis 7 in production; SQLite and an in-process cache on a single node.</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Deployment: </a:t>
            </a:r>
            <a:r>
              <a:rPr lang="en-US" sz="1450" b="0" i="0" dirty="0">
                <a:latin typeface="Calibri" panose="020F0502020204030204" pitchFamily="34" charset="0"/>
                <a:ea typeface="Calibri" panose="020F0502020204030204" pitchFamily="34" charset="0"/>
                <a:cs typeface="Calibri" panose="020F0502020204030204" pitchFamily="34" charset="0"/>
              </a:rPr>
              <a:t>Docker Compose; runs unmodified on a standard laptop with no external services.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Architecture</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Two planes. The split is the load-bearing decision: the data plane does the minimum possible work per request, and everything expensive — statistics, validation, chain verification — lives on the control plane or in the worker.</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architecture.png"/>
          <p:cNvPicPr>
            <a:picLocks noChangeAspect="1"/>
          </p:cNvPicPr>
          <p:nvPr/>
        </p:nvPicPr>
        <p:blipFill>
          <a:blip r:embed="rId4"/>
          <a:stretch>
            <a:fillRect/>
          </a:stretch>
        </p:blipFill>
        <p:spPr>
          <a:xfrm>
            <a:off x="1066647" y="2743200"/>
            <a:ext cx="10058400" cy="3108960"/>
          </a:xfrm>
          <a:prstGeom prst="rect">
            <a:avLst/>
          </a:prstGeom>
        </p:spPr>
      </p:pic>
    </p:spTree>
    <p:extLst>
      <p:ext uri="{BB962C8B-B14F-4D97-AF65-F5344CB8AC3E}">
        <p14:creationId xmlns:p14="http://schemas.microsoft.com/office/powerpoint/2010/main" val="12380044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Request Flow</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One /v1/evaluate call, in the order it actually happens. Steps 2, 3 and 5 are cached reads; step 7 is pure computation; only steps 8 and 10 touch the database, and step 10 runs after the caller already has its answer.</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request_flow.png"/>
          <p:cNvPicPr>
            <a:picLocks noChangeAspect="1"/>
          </p:cNvPicPr>
          <p:nvPr/>
        </p:nvPicPr>
        <p:blipFill>
          <a:blip r:embed="rId4"/>
          <a:stretch>
            <a:fillRect/>
          </a:stretch>
        </p:blipFill>
        <p:spPr>
          <a:xfrm>
            <a:off x="1249527" y="2286000"/>
            <a:ext cx="9692640" cy="3656769"/>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Request Lifecycle</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Nine steps inside a 50 ms p99 budget. Every read on this path is cached, and the only two steps that touch the database on a warm cache are the audit append and the background feature capture.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606040"/>
          <a:ext cx="10241279" cy="254000"/>
        </p:xfrm>
        <a:graphic>
          <a:graphicData uri="http://schemas.openxmlformats.org/drawingml/2006/table">
            <a:tbl>
              <a:tblPr firstRow="1">
                <a:tableStyleId>{5C22544A-7EE6-4342-B048-85BDC9FD1C3A}</a:tableStyleId>
              </a:tblPr>
              <a:tblGrid>
                <a:gridCol w="512064"/>
                <a:gridCol w="2048256"/>
                <a:gridCol w="4813401"/>
                <a:gridCol w="2867558"/>
              </a:tblGrid>
              <a:tr h="25400">
                <a:tc>
                  <a:txBody>
                    <a:bodyPr wrap="square"/>
                    <a:lstStyle/>
                    <a:p>
                      <a:r>
                        <a:rPr sz="1000" b="1">
                          <a:solidFill>
                            <a:srgbClr val="FFFFFF"/>
                          </a:solidFill>
                          <a:latin typeface="Calibri"/>
                        </a:rPr>
                        <a:t>#</a:t>
                      </a:r>
                    </a:p>
                  </a:txBody>
                  <a:tcPr marL="50800" marR="50800" marT="25400" marB="25400">
                    <a:solidFill>
                      <a:srgbClr val="1F5CA8"/>
                    </a:solidFill>
                  </a:tcPr>
                </a:tc>
                <a:tc>
                  <a:txBody>
                    <a:bodyPr wrap="square"/>
                    <a:lstStyle/>
                    <a:p>
                      <a:r>
                        <a:rPr sz="1000" b="1">
                          <a:solidFill>
                            <a:srgbClr val="FFFFFF"/>
                          </a:solidFill>
                          <a:latin typeface="Calibri"/>
                        </a:rPr>
                        <a:t>Step</a:t>
                      </a:r>
                    </a:p>
                  </a:txBody>
                  <a:tcPr marL="50800" marR="50800" marT="25400" marB="25400">
                    <a:solidFill>
                      <a:srgbClr val="1F5CA8"/>
                    </a:solidFill>
                  </a:tcPr>
                </a:tc>
                <a:tc>
                  <a:txBody>
                    <a:bodyPr wrap="square"/>
                    <a:lstStyle/>
                    <a:p>
                      <a:r>
                        <a:rPr sz="1000" b="1">
                          <a:solidFill>
                            <a:srgbClr val="FFFFFF"/>
                          </a:solidFill>
                          <a:latin typeface="Calibri"/>
                        </a:rPr>
                        <a:t>What happens</a:t>
                      </a:r>
                    </a:p>
                  </a:txBody>
                  <a:tcPr marL="50800" marR="50800" marT="25400" marB="25400">
                    <a:solidFill>
                      <a:srgbClr val="1F5CA8"/>
                    </a:solidFill>
                  </a:tcPr>
                </a:tc>
                <a:tc>
                  <a:txBody>
                    <a:bodyPr wrap="square"/>
                    <a:lstStyle/>
                    <a:p>
                      <a:r>
                        <a:rPr sz="1000" b="1">
                          <a:solidFill>
                            <a:srgbClr val="FFFFFF"/>
                          </a:solidFill>
                          <a:latin typeface="Calibri"/>
                        </a:rPr>
                        <a:t>Cost on the hot path</a:t>
                      </a:r>
                    </a:p>
                  </a:txBody>
                  <a:tcPr marL="50800" marR="50800" marT="25400" marB="25400">
                    <a:solidFill>
                      <a:srgbClr val="1F5CA8"/>
                    </a:solidFill>
                  </a:tcPr>
                </a:tc>
              </a:tr>
              <a:tr h="25400">
                <a:tc>
                  <a:txBody>
                    <a:bodyPr wrap="square"/>
                    <a:lstStyle/>
                    <a:p>
                      <a:r>
                        <a:rPr sz="1000" b="0">
                          <a:latin typeface="Calibri"/>
                        </a:rPr>
                        <a:t>1</a:t>
                      </a:r>
                    </a:p>
                  </a:txBody>
                  <a:tcPr marL="50800" marR="50800" marT="25400" marB="25400">
                    <a:noFill/>
                  </a:tcPr>
                </a:tc>
                <a:tc>
                  <a:txBody>
                    <a:bodyPr wrap="square"/>
                    <a:lstStyle/>
                    <a:p>
                      <a:r>
                        <a:rPr sz="1000" b="0">
                          <a:latin typeface="Calibri"/>
                        </a:rPr>
                        <a:t>Authenticate</a:t>
                      </a:r>
                    </a:p>
                  </a:txBody>
                  <a:tcPr marL="50800" marR="50800" marT="25400" marB="25400">
                    <a:noFill/>
                  </a:tcPr>
                </a:tc>
                <a:tc>
                  <a:txBody>
                    <a:bodyPr wrap="square"/>
                    <a:lstStyle/>
                    <a:p>
                      <a:r>
                        <a:rPr sz="1000" b="0">
                          <a:latin typeface="Calibri"/>
                        </a:rPr>
                        <a:t>X-API-Key → SHA-256 digest → tenant_id</a:t>
                      </a:r>
                    </a:p>
                  </a:txBody>
                  <a:tcPr marL="50800" marR="50800" marT="25400" marB="25400">
                    <a:noFill/>
                  </a:tcPr>
                </a:tc>
                <a:tc>
                  <a:txBody>
                    <a:bodyPr wrap="square"/>
                    <a:lstStyle/>
                    <a:p>
                      <a:r>
                        <a:rPr sz="1000" b="0">
                          <a:latin typeface="Calibri"/>
                        </a:rPr>
                        <a:t>cached, 60 s TTL</a:t>
                      </a:r>
                    </a:p>
                  </a:txBody>
                  <a:tcPr marL="50800" marR="50800" marT="25400" marB="25400">
                    <a:noFill/>
                  </a:tcPr>
                </a:tc>
              </a:tr>
              <a:tr h="25400">
                <a:tc>
                  <a:txBody>
                    <a:bodyPr wrap="square"/>
                    <a:lstStyle/>
                    <a:p>
                      <a:r>
                        <a:rPr sz="1000" b="0">
                          <a:latin typeface="Calibri"/>
                        </a:rPr>
                        <a:t>2</a:t>
                      </a:r>
                    </a:p>
                  </a:txBody>
                  <a:tcPr marL="50800" marR="50800" marT="25400" marB="25400">
                    <a:solidFill>
                      <a:srgbClr val="F4F6F9"/>
                    </a:solidFill>
                  </a:tcPr>
                </a:tc>
                <a:tc>
                  <a:txBody>
                    <a:bodyPr wrap="square"/>
                    <a:lstStyle/>
                    <a:p>
                      <a:r>
                        <a:rPr sz="1000" b="0">
                          <a:latin typeface="Calibri"/>
                        </a:rPr>
                        <a:t>Load tenant config</a:t>
                      </a:r>
                    </a:p>
                  </a:txBody>
                  <a:tcPr marL="50800" marR="50800" marT="25400" marB="25400">
                    <a:solidFill>
                      <a:srgbClr val="F4F6F9"/>
                    </a:solidFill>
                  </a:tcPr>
                </a:tc>
                <a:tc>
                  <a:txBody>
                    <a:bodyPr wrap="square"/>
                    <a:lstStyle/>
                    <a:p>
                      <a:r>
                        <a:rPr sz="1000" b="0">
                          <a:latin typeface="Calibri"/>
                        </a:rPr>
                        <a:t>engines, weights, thresholds, fail-open</a:t>
                      </a:r>
                    </a:p>
                  </a:txBody>
                  <a:tcPr marL="50800" marR="50800" marT="25400" marB="25400">
                    <a:solidFill>
                      <a:srgbClr val="F4F6F9"/>
                    </a:solidFill>
                  </a:tcPr>
                </a:tc>
                <a:tc>
                  <a:txBody>
                    <a:bodyPr wrap="square"/>
                    <a:lstStyle/>
                    <a:p>
                      <a:r>
                        <a:rPr sz="1000" b="0">
                          <a:latin typeface="Calibri"/>
                        </a:rPr>
                        <a:t>cached, 30 s TTL</a:t>
                      </a:r>
                    </a:p>
                  </a:txBody>
                  <a:tcPr marL="50800" marR="50800" marT="25400" marB="25400">
                    <a:solidFill>
                      <a:srgbClr val="F4F6F9"/>
                    </a:solidFill>
                  </a:tcPr>
                </a:tc>
              </a:tr>
              <a:tr h="25400">
                <a:tc>
                  <a:txBody>
                    <a:bodyPr wrap="square"/>
                    <a:lstStyle/>
                    <a:p>
                      <a:r>
                        <a:rPr sz="1000" b="0">
                          <a:latin typeface="Calibri"/>
                        </a:rPr>
                        <a:t>3</a:t>
                      </a:r>
                    </a:p>
                  </a:txBody>
                  <a:tcPr marL="50800" marR="50800" marT="25400" marB="25400">
                    <a:noFill/>
                  </a:tcPr>
                </a:tc>
                <a:tc>
                  <a:txBody>
                    <a:bodyPr wrap="square"/>
                    <a:lstStyle/>
                    <a:p>
                      <a:r>
                        <a:rPr sz="1000" b="0">
                          <a:latin typeface="Calibri"/>
                        </a:rPr>
                        <a:t>Check registration</a:t>
                      </a:r>
                    </a:p>
                  </a:txBody>
                  <a:tcPr marL="50800" marR="50800" marT="25400" marB="25400">
                    <a:noFill/>
                  </a:tcPr>
                </a:tc>
                <a:tc>
                  <a:txBody>
                    <a:bodyPr wrap="square"/>
                    <a:lstStyle/>
                    <a:p>
                      <a:r>
                        <a:rPr sz="1000" b="0">
                          <a:latin typeface="Calibri"/>
                        </a:rPr>
                        <a:t>unknown model_id → REVIEW (ADR 0005)</a:t>
                      </a:r>
                    </a:p>
                  </a:txBody>
                  <a:tcPr marL="50800" marR="50800" marT="25400" marB="25400">
                    <a:noFill/>
                  </a:tcPr>
                </a:tc>
                <a:tc>
                  <a:txBody>
                    <a:bodyPr wrap="square"/>
                    <a:lstStyle/>
                    <a:p>
                      <a:r>
                        <a:rPr sz="1000" b="0">
                          <a:latin typeface="Calibri"/>
                        </a:rPr>
                        <a:t>cached, 10 s TTL</a:t>
                      </a:r>
                    </a:p>
                  </a:txBody>
                  <a:tcPr marL="50800" marR="50800" marT="25400" marB="25400">
                    <a:noFill/>
                  </a:tcPr>
                </a:tc>
              </a:tr>
              <a:tr h="25400">
                <a:tc>
                  <a:txBody>
                    <a:bodyPr wrap="square"/>
                    <a:lstStyle/>
                    <a:p>
                      <a:r>
                        <a:rPr sz="1000" b="0">
                          <a:latin typeface="Calibri"/>
                        </a:rPr>
                        <a:t>4</a:t>
                      </a:r>
                    </a:p>
                  </a:txBody>
                  <a:tcPr marL="50800" marR="50800" marT="25400" marB="25400">
                    <a:solidFill>
                      <a:srgbClr val="F4F6F9"/>
                    </a:solidFill>
                  </a:tcPr>
                </a:tc>
                <a:tc>
                  <a:txBody>
                    <a:bodyPr wrap="square"/>
                    <a:lstStyle/>
                    <a:p>
                      <a:r>
                        <a:rPr sz="1000" b="0">
                          <a:latin typeface="Calibri"/>
                        </a:rPr>
                        <a:t>Fan out to engines</a:t>
                      </a:r>
                    </a:p>
                  </a:txBody>
                  <a:tcPr marL="50800" marR="50800" marT="25400" marB="25400">
                    <a:solidFill>
                      <a:srgbClr val="F4F6F9"/>
                    </a:solidFill>
                  </a:tcPr>
                </a:tc>
                <a:tc>
                  <a:txBody>
                    <a:bodyPr wrap="square"/>
                    <a:lstStyle/>
                    <a:p>
                      <a:r>
                        <a:rPr sz="1000" b="0">
                          <a:latin typeface="Calibri"/>
                        </a:rPr>
                        <a:t>policy, drift, risk run concurrently</a:t>
                      </a:r>
                    </a:p>
                  </a:txBody>
                  <a:tcPr marL="50800" marR="50800" marT="25400" marB="25400">
                    <a:solidFill>
                      <a:srgbClr val="F4F6F9"/>
                    </a:solidFill>
                  </a:tcPr>
                </a:tc>
                <a:tc>
                  <a:txBody>
                    <a:bodyPr wrap="square"/>
                    <a:lstStyle/>
                    <a:p>
                      <a:r>
                        <a:rPr sz="1000" b="0">
                          <a:latin typeface="Calibri"/>
                        </a:rPr>
                        <a:t>20 ms per-engine cap</a:t>
                      </a:r>
                    </a:p>
                  </a:txBody>
                  <a:tcPr marL="50800" marR="50800" marT="25400" marB="25400">
                    <a:solidFill>
                      <a:srgbClr val="F4F6F9"/>
                    </a:solidFill>
                  </a:tcPr>
                </a:tc>
              </a:tr>
              <a:tr h="25400">
                <a:tc>
                  <a:txBody>
                    <a:bodyPr wrap="square"/>
                    <a:lstStyle/>
                    <a:p>
                      <a:r>
                        <a:rPr sz="1000" b="0">
                          <a:latin typeface="Calibri"/>
                        </a:rPr>
                        <a:t>5</a:t>
                      </a:r>
                    </a:p>
                  </a:txBody>
                  <a:tcPr marL="50800" marR="50800" marT="25400" marB="25400">
                    <a:noFill/>
                  </a:tcPr>
                </a:tc>
                <a:tc>
                  <a:txBody>
                    <a:bodyPr wrap="square"/>
                    <a:lstStyle/>
                    <a:p>
                      <a:r>
                        <a:rPr sz="1000" b="0">
                          <a:latin typeface="Calibri"/>
                        </a:rPr>
                        <a:t>Fuse signals</a:t>
                      </a:r>
                    </a:p>
                  </a:txBody>
                  <a:tcPr marL="50800" marR="50800" marT="25400" marB="25400">
                    <a:noFill/>
                  </a:tcPr>
                </a:tc>
                <a:tc>
                  <a:txBody>
                    <a:bodyPr wrap="square"/>
                    <a:lstStyle/>
                    <a:p>
                      <a:r>
                        <a:rPr sz="1000" b="0">
                          <a:latin typeface="Calibri"/>
                        </a:rPr>
                        <a:t>weighted mean over non-degraded engines</a:t>
                      </a:r>
                    </a:p>
                  </a:txBody>
                  <a:tcPr marL="50800" marR="50800" marT="25400" marB="25400">
                    <a:noFill/>
                  </a:tcPr>
                </a:tc>
                <a:tc>
                  <a:txBody>
                    <a:bodyPr wrap="square"/>
                    <a:lstStyle/>
                    <a:p>
                      <a:r>
                        <a:rPr sz="1000" b="0">
                          <a:latin typeface="Calibri"/>
                        </a:rPr>
                        <a:t>pure function, no I/O</a:t>
                      </a:r>
                    </a:p>
                  </a:txBody>
                  <a:tcPr marL="50800" marR="50800" marT="25400" marB="25400">
                    <a:noFill/>
                  </a:tcPr>
                </a:tc>
              </a:tr>
              <a:tr h="25400">
                <a:tc>
                  <a:txBody>
                    <a:bodyPr wrap="square"/>
                    <a:lstStyle/>
                    <a:p>
                      <a:r>
                        <a:rPr sz="1000" b="0">
                          <a:latin typeface="Calibri"/>
                        </a:rPr>
                        <a:t>6</a:t>
                      </a:r>
                    </a:p>
                  </a:txBody>
                  <a:tcPr marL="50800" marR="50800" marT="25400" marB="25400">
                    <a:solidFill>
                      <a:srgbClr val="F4F6F9"/>
                    </a:solidFill>
                  </a:tcPr>
                </a:tc>
                <a:tc>
                  <a:txBody>
                    <a:bodyPr wrap="square"/>
                    <a:lstStyle/>
                    <a:p>
                      <a:r>
                        <a:rPr sz="1000" b="0">
                          <a:latin typeface="Calibri"/>
                        </a:rPr>
                        <a:t>Apply decision matrix</a:t>
                      </a:r>
                    </a:p>
                  </a:txBody>
                  <a:tcPr marL="50800" marR="50800" marT="25400" marB="25400">
                    <a:solidFill>
                      <a:srgbClr val="F4F6F9"/>
                    </a:solidFill>
                  </a:tcPr>
                </a:tc>
                <a:tc>
                  <a:txBody>
                    <a:bodyPr wrap="square"/>
                    <a:lstStyle/>
                    <a:p>
                      <a:r>
                        <a:rPr sz="1000" b="0">
                          <a:latin typeface="Calibri"/>
                        </a:rPr>
                        <a:t>ordered cascade → ALLOW / REVIEW / BLOCK</a:t>
                      </a:r>
                    </a:p>
                  </a:txBody>
                  <a:tcPr marL="50800" marR="50800" marT="25400" marB="25400">
                    <a:solidFill>
                      <a:srgbClr val="F4F6F9"/>
                    </a:solidFill>
                  </a:tcPr>
                </a:tc>
                <a:tc>
                  <a:txBody>
                    <a:bodyPr wrap="square"/>
                    <a:lstStyle/>
                    <a:p>
                      <a:r>
                        <a:rPr sz="1000" b="0">
                          <a:latin typeface="Calibri"/>
                        </a:rPr>
                        <a:t>pure function, no I/O</a:t>
                      </a:r>
                    </a:p>
                  </a:txBody>
                  <a:tcPr marL="50800" marR="50800" marT="25400" marB="25400">
                    <a:solidFill>
                      <a:srgbClr val="F4F6F9"/>
                    </a:solidFill>
                  </a:tcPr>
                </a:tc>
              </a:tr>
              <a:tr h="25400">
                <a:tc>
                  <a:txBody>
                    <a:bodyPr wrap="square"/>
                    <a:lstStyle/>
                    <a:p>
                      <a:r>
                        <a:rPr sz="1000" b="0">
                          <a:latin typeface="Calibri"/>
                        </a:rPr>
                        <a:t>7</a:t>
                      </a:r>
                    </a:p>
                  </a:txBody>
                  <a:tcPr marL="50800" marR="50800" marT="25400" marB="25400">
                    <a:noFill/>
                  </a:tcPr>
                </a:tc>
                <a:tc>
                  <a:txBody>
                    <a:bodyPr wrap="square"/>
                    <a:lstStyle/>
                    <a:p>
                      <a:r>
                        <a:rPr sz="1000" b="0">
                          <a:latin typeface="Calibri"/>
                        </a:rPr>
                        <a:t>Append to audit chain</a:t>
                      </a:r>
                    </a:p>
                  </a:txBody>
                  <a:tcPr marL="50800" marR="50800" marT="25400" marB="25400">
                    <a:noFill/>
                  </a:tcPr>
                </a:tc>
                <a:tc>
                  <a:txBody>
                    <a:bodyPr wrap="square"/>
                    <a:lstStyle/>
                    <a:p>
                      <a:r>
                        <a:rPr sz="1000" b="0">
                          <a:latin typeface="Calibri"/>
                        </a:rPr>
                        <a:t>SHA-256 link to the previous entry</a:t>
                      </a:r>
                    </a:p>
                  </a:txBody>
                  <a:tcPr marL="50800" marR="50800" marT="25400" marB="25400">
                    <a:noFill/>
                  </a:tcPr>
                </a:tc>
                <a:tc>
                  <a:txBody>
                    <a:bodyPr wrap="square"/>
                    <a:lstStyle/>
                    <a:p>
                      <a:r>
                        <a:rPr sz="1000" b="0">
                          <a:latin typeface="Calibri"/>
                        </a:rPr>
                        <a:t>one INSERT</a:t>
                      </a:r>
                    </a:p>
                  </a:txBody>
                  <a:tcPr marL="50800" marR="50800" marT="25400" marB="25400">
                    <a:noFill/>
                  </a:tcPr>
                </a:tc>
              </a:tr>
              <a:tr h="25400">
                <a:tc>
                  <a:txBody>
                    <a:bodyPr wrap="square"/>
                    <a:lstStyle/>
                    <a:p>
                      <a:r>
                        <a:rPr sz="1000" b="0">
                          <a:latin typeface="Calibri"/>
                        </a:rPr>
                        <a:t>8</a:t>
                      </a:r>
                    </a:p>
                  </a:txBody>
                  <a:tcPr marL="50800" marR="50800" marT="25400" marB="25400">
                    <a:solidFill>
                      <a:srgbClr val="F4F6F9"/>
                    </a:solidFill>
                  </a:tcPr>
                </a:tc>
                <a:tc>
                  <a:txBody>
                    <a:bodyPr wrap="square"/>
                    <a:lstStyle/>
                    <a:p>
                      <a:r>
                        <a:rPr sz="1000" b="0">
                          <a:latin typeface="Calibri"/>
                        </a:rPr>
                        <a:t>Return verdict</a:t>
                      </a:r>
                    </a:p>
                  </a:txBody>
                  <a:tcPr marL="50800" marR="50800" marT="25400" marB="25400">
                    <a:solidFill>
                      <a:srgbClr val="F4F6F9"/>
                    </a:solidFill>
                  </a:tcPr>
                </a:tc>
                <a:tc>
                  <a:txBody>
                    <a:bodyPr wrap="square"/>
                    <a:lstStyle/>
                    <a:p>
                      <a:r>
                        <a:rPr sz="1000" b="0">
                          <a:latin typeface="Calibri"/>
                        </a:rPr>
                        <a:t>decision, score, reasons, signals, trace_id</a:t>
                      </a:r>
                    </a:p>
                  </a:txBody>
                  <a:tcPr marL="50800" marR="50800" marT="25400" marB="25400">
                    <a:solidFill>
                      <a:srgbClr val="F4F6F9"/>
                    </a:solidFill>
                  </a:tcPr>
                </a:tc>
                <a:tc>
                  <a:txBody>
                    <a:bodyPr wrap="square"/>
                    <a:lstStyle/>
                    <a:p>
                      <a:r>
                        <a:rPr sz="1000" b="0">
                          <a:latin typeface="Calibri"/>
                        </a:rPr>
                        <a:t>—</a:t>
                      </a:r>
                    </a:p>
                  </a:txBody>
                  <a:tcPr marL="50800" marR="50800" marT="25400" marB="25400">
                    <a:solidFill>
                      <a:srgbClr val="F4F6F9"/>
                    </a:solidFill>
                  </a:tcPr>
                </a:tc>
              </a:tr>
              <a:tr h="25400">
                <a:tc>
                  <a:txBody>
                    <a:bodyPr wrap="square"/>
                    <a:lstStyle/>
                    <a:p>
                      <a:r>
                        <a:rPr sz="1000" b="0">
                          <a:latin typeface="Calibri"/>
                        </a:rPr>
                        <a:t>9</a:t>
                      </a:r>
                    </a:p>
                  </a:txBody>
                  <a:tcPr marL="50800" marR="50800" marT="25400" marB="25400">
                    <a:noFill/>
                  </a:tcPr>
                </a:tc>
                <a:tc>
                  <a:txBody>
                    <a:bodyPr wrap="square"/>
                    <a:lstStyle/>
                    <a:p>
                      <a:r>
                        <a:rPr sz="1000" b="0">
                          <a:latin typeface="Calibri"/>
                        </a:rPr>
                        <a:t>Capture features</a:t>
                      </a:r>
                    </a:p>
                  </a:txBody>
                  <a:tcPr marL="50800" marR="50800" marT="25400" marB="25400">
                    <a:noFill/>
                  </a:tcPr>
                </a:tc>
                <a:tc>
                  <a:txBody>
                    <a:bodyPr wrap="square"/>
                    <a:lstStyle/>
                    <a:p>
                      <a:r>
                        <a:rPr sz="1000" b="0">
                          <a:latin typeface="Calibri"/>
                        </a:rPr>
                        <a:t>stored for the next drift recompute</a:t>
                      </a:r>
                    </a:p>
                  </a:txBody>
                  <a:tcPr marL="50800" marR="50800" marT="25400" marB="25400">
                    <a:noFill/>
                  </a:tcPr>
                </a:tc>
                <a:tc>
                  <a:txBody>
                    <a:bodyPr wrap="square"/>
                    <a:lstStyle/>
                    <a:p>
                      <a:r>
                        <a:rPr sz="1000" b="0">
                          <a:latin typeface="Calibri"/>
                        </a:rPr>
                        <a:t>background task</a:t>
                      </a:r>
                    </a:p>
                  </a:txBody>
                  <a:tcPr marL="50800" marR="50800" marT="25400" marB="254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Modules: Contract Layer and Engine Seam</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shared/ is imported by every service and no service defines its own copy of a shared type. engines/ is the extensibility seam — engines never import one another.</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514600"/>
          <a:ext cx="10241280" cy="228600"/>
        </p:xfrm>
        <a:graphic>
          <a:graphicData uri="http://schemas.openxmlformats.org/drawingml/2006/table">
            <a:tbl>
              <a:tblPr firstRow="1">
                <a:tableStyleId>{5C22544A-7EE6-4342-B048-85BDC9FD1C3A}</a:tableStyleId>
              </a:tblPr>
              <a:tblGrid>
                <a:gridCol w="2048256"/>
                <a:gridCol w="4096512"/>
                <a:gridCol w="4096512"/>
              </a:tblGrid>
              <a:tr h="25400">
                <a:tc>
                  <a:txBody>
                    <a:bodyPr wrap="square"/>
                    <a:lstStyle/>
                    <a:p>
                      <a:r>
                        <a:rPr sz="1000" b="1">
                          <a:solidFill>
                            <a:srgbClr val="FFFFFF"/>
                          </a:solidFill>
                          <a:latin typeface="Calibri"/>
                        </a:rPr>
                        <a:t>Module</a:t>
                      </a:r>
                    </a:p>
                  </a:txBody>
                  <a:tcPr marL="50800" marR="50800" marT="25400" marB="25400">
                    <a:solidFill>
                      <a:srgbClr val="1F5CA8"/>
                    </a:solidFill>
                  </a:tcPr>
                </a:tc>
                <a:tc>
                  <a:txBody>
                    <a:bodyPr wrap="square"/>
                    <a:lstStyle/>
                    <a:p>
                      <a:r>
                        <a:rPr sz="1000" b="1">
                          <a:solidFill>
                            <a:srgbClr val="FFFFFF"/>
                          </a:solidFill>
                          <a:latin typeface="Calibri"/>
                        </a:rPr>
                        <a:t>Responsibility</a:t>
                      </a:r>
                    </a:p>
                  </a:txBody>
                  <a:tcPr marL="50800" marR="50800" marT="25400" marB="25400">
                    <a:solidFill>
                      <a:srgbClr val="1F5CA8"/>
                    </a:solidFill>
                  </a:tcPr>
                </a:tc>
                <a:tc>
                  <a:txBody>
                    <a:bodyPr wrap="square"/>
                    <a:lstStyle/>
                    <a:p>
                      <a:r>
                        <a:rPr sz="1000" b="1">
                          <a:solidFill>
                            <a:srgbClr val="FFFFFF"/>
                          </a:solidFill>
                          <a:latin typeface="Calibri"/>
                        </a:rPr>
                        <a:t>Key design point</a:t>
                      </a:r>
                    </a:p>
                  </a:txBody>
                  <a:tcPr marL="50800" marR="50800" marT="25400" marB="25400">
                    <a:solidFill>
                      <a:srgbClr val="1F5CA8"/>
                    </a:solidFill>
                  </a:tcPr>
                </a:tc>
              </a:tr>
              <a:tr h="25400">
                <a:tc>
                  <a:txBody>
                    <a:bodyPr wrap="square"/>
                    <a:lstStyle/>
                    <a:p>
                      <a:r>
                        <a:rPr sz="1000" b="0">
                          <a:latin typeface="Calibri"/>
                        </a:rPr>
                        <a:t>shared/schemas/</a:t>
                      </a:r>
                    </a:p>
                  </a:txBody>
                  <a:tcPr marL="50800" marR="50800" marT="25400" marB="25400">
                    <a:noFill/>
                  </a:tcPr>
                </a:tc>
                <a:tc>
                  <a:txBody>
                    <a:bodyPr wrap="square"/>
                    <a:lstStyle/>
                    <a:p>
                      <a:r>
                        <a:rPr sz="1000" b="0">
                          <a:latin typeface="Calibri"/>
                        </a:rPr>
                        <a:t>Pydantic wire + internal contracts: EvaluationRequest, EvaluationContext, SignalResult, Decision</a:t>
                      </a:r>
                    </a:p>
                  </a:txBody>
                  <a:tcPr marL="50800" marR="50800" marT="25400" marB="25400">
                    <a:noFill/>
                  </a:tcPr>
                </a:tc>
                <a:tc>
                  <a:txBody>
                    <a:bodyPr wrap="square"/>
                    <a:lstStyle/>
                    <a:p>
                      <a:r>
                        <a:rPr sz="1000" b="0">
                          <a:latin typeface="Calibri"/>
                        </a:rPr>
                        <a:t>Every engine speaks trust ∈ [0,1], never risk — one dialect, so fusion needs no interpretation</a:t>
                      </a:r>
                    </a:p>
                  </a:txBody>
                  <a:tcPr marL="50800" marR="50800" marT="25400" marB="25400">
                    <a:noFill/>
                  </a:tcPr>
                </a:tc>
              </a:tr>
              <a:tr h="25400">
                <a:tc>
                  <a:txBody>
                    <a:bodyPr wrap="square"/>
                    <a:lstStyle/>
                    <a:p>
                      <a:r>
                        <a:rPr sz="1000" b="0">
                          <a:latin typeface="Calibri"/>
                        </a:rPr>
                        <a:t>shared/db/models.py</a:t>
                      </a:r>
                    </a:p>
                  </a:txBody>
                  <a:tcPr marL="50800" marR="50800" marT="25400" marB="25400">
                    <a:solidFill>
                      <a:srgbClr val="F4F6F9"/>
                    </a:solidFill>
                  </a:tcPr>
                </a:tc>
                <a:tc>
                  <a:txBody>
                    <a:bodyPr wrap="square"/>
                    <a:lstStyle/>
                    <a:p>
                      <a:r>
                        <a:rPr sz="1000" b="0">
                          <a:latin typeface="Calibri"/>
                        </a:rPr>
                        <a:t>SQLAlchemy ORM: 7 tenant-scoped tables; single source of schema truth</a:t>
                      </a:r>
                    </a:p>
                  </a:txBody>
                  <a:tcPr marL="50800" marR="50800" marT="25400" marB="25400">
                    <a:solidFill>
                      <a:srgbClr val="F4F6F9"/>
                    </a:solidFill>
                  </a:tcPr>
                </a:tc>
                <a:tc>
                  <a:txBody>
                    <a:bodyPr wrap="square"/>
                    <a:lstStyle/>
                    <a:p>
                      <a:r>
                        <a:rPr sz="1000" b="0">
                          <a:latin typeface="Calibri"/>
                        </a:rPr>
                        <a:t>Alembic migrations are generated from it, never hand-written</a:t>
                      </a:r>
                    </a:p>
                  </a:txBody>
                  <a:tcPr marL="50800" marR="50800" marT="25400" marB="25400">
                    <a:solidFill>
                      <a:srgbClr val="F4F6F9"/>
                    </a:solidFill>
                  </a:tcPr>
                </a:tc>
              </a:tr>
              <a:tr h="25400">
                <a:tc>
                  <a:txBody>
                    <a:bodyPr wrap="square"/>
                    <a:lstStyle/>
                    <a:p>
                      <a:r>
                        <a:rPr sz="1000" b="0">
                          <a:latin typeface="Calibri"/>
                        </a:rPr>
                        <a:t>shared/db/registry.py</a:t>
                      </a:r>
                    </a:p>
                  </a:txBody>
                  <a:tcPr marL="50800" marR="50800" marT="25400" marB="25400">
                    <a:noFill/>
                  </a:tcPr>
                </a:tc>
                <a:tc>
                  <a:txBody>
                    <a:bodyPr wrap="square"/>
                    <a:lstStyle/>
                    <a:p>
                      <a:r>
                        <a:rPr sz="1000" b="0">
                          <a:latin typeface="Calibri"/>
                        </a:rPr>
                        <a:t>Cached 'is this model registered?' lookup</a:t>
                      </a:r>
                    </a:p>
                  </a:txBody>
                  <a:tcPr marL="50800" marR="50800" marT="25400" marB="25400">
                    <a:noFill/>
                  </a:tcPr>
                </a:tc>
                <a:tc>
                  <a:txBody>
                    <a:bodyPr wrap="square"/>
                    <a:lstStyle/>
                    <a:p>
                      <a:r>
                        <a:rPr sz="1000" b="0">
                          <a:latin typeface="Calibri"/>
                        </a:rPr>
                        <a:t>Shared by both planes so the control plane can invalidate what the gateway caches</a:t>
                      </a:r>
                    </a:p>
                  </a:txBody>
                  <a:tcPr marL="50800" marR="50800" marT="25400" marB="25400">
                    <a:noFill/>
                  </a:tcPr>
                </a:tc>
              </a:tr>
              <a:tr h="25400">
                <a:tc>
                  <a:txBody>
                    <a:bodyPr wrap="square"/>
                    <a:lstStyle/>
                    <a:p>
                      <a:r>
                        <a:rPr sz="1000" b="0">
                          <a:latin typeface="Calibri"/>
                        </a:rPr>
                        <a:t>shared/cache.py</a:t>
                      </a:r>
                    </a:p>
                  </a:txBody>
                  <a:tcPr marL="50800" marR="50800" marT="25400" marB="25400">
                    <a:solidFill>
                      <a:srgbClr val="F4F6F9"/>
                    </a:solidFill>
                  </a:tcPr>
                </a:tc>
                <a:tc>
                  <a:txBody>
                    <a:bodyPr wrap="square"/>
                    <a:lstStyle/>
                    <a:p>
                      <a:r>
                        <a:rPr sz="1000" b="0">
                          <a:latin typeface="Calibri"/>
                        </a:rPr>
                        <a:t>TTL cache: Redis when configured, in-process dict otherwise</a:t>
                      </a:r>
                    </a:p>
                  </a:txBody>
                  <a:tcPr marL="50800" marR="50800" marT="25400" marB="25400">
                    <a:solidFill>
                      <a:srgbClr val="F4F6F9"/>
                    </a:solidFill>
                  </a:tcPr>
                </a:tc>
                <a:tc>
                  <a:txBody>
                    <a:bodyPr wrap="square"/>
                    <a:lstStyle/>
                    <a:p>
                      <a:r>
                        <a:rPr sz="1000" b="0">
                          <a:latin typeface="Calibri"/>
                        </a:rPr>
                        <a:t>A cache outage degrades to a miss, never an error on the hot path</a:t>
                      </a:r>
                    </a:p>
                  </a:txBody>
                  <a:tcPr marL="50800" marR="50800" marT="25400" marB="25400">
                    <a:solidFill>
                      <a:srgbClr val="F4F6F9"/>
                    </a:solidFill>
                  </a:tcPr>
                </a:tc>
              </a:tr>
              <a:tr h="25400">
                <a:tc>
                  <a:txBody>
                    <a:bodyPr wrap="square"/>
                    <a:lstStyle/>
                    <a:p>
                      <a:r>
                        <a:rPr sz="1000" b="0">
                          <a:latin typeface="Calibri"/>
                        </a:rPr>
                        <a:t>shared/config/</a:t>
                      </a:r>
                    </a:p>
                  </a:txBody>
                  <a:tcPr marL="50800" marR="50800" marT="25400" marB="25400">
                    <a:noFill/>
                  </a:tcPr>
                </a:tc>
                <a:tc>
                  <a:txBody>
                    <a:bodyPr wrap="square"/>
                    <a:lstStyle/>
                    <a:p>
                      <a:r>
                        <a:rPr sz="1000" b="0">
                          <a:latin typeface="Calibri"/>
                        </a:rPr>
                        <a:t>Per-tenant engines, weights, thresholds, fail-open</a:t>
                      </a:r>
                    </a:p>
                  </a:txBody>
                  <a:tcPr marL="50800" marR="50800" marT="25400" marB="25400">
                    <a:noFill/>
                  </a:tcPr>
                </a:tc>
                <a:tc>
                  <a:txBody>
                    <a:bodyPr wrap="square"/>
                    <a:lstStyle/>
                    <a:p>
                      <a:r>
                        <a:rPr sz="1000" b="0">
                          <a:latin typeface="Calibri"/>
                        </a:rPr>
                        <a:t>Incoherent thresholds are rejected on write, not tolerated at decision time</a:t>
                      </a:r>
                    </a:p>
                  </a:txBody>
                  <a:tcPr marL="50800" marR="50800" marT="25400" marB="25400">
                    <a:noFill/>
                  </a:tcPr>
                </a:tc>
              </a:tr>
              <a:tr h="25400">
                <a:tc>
                  <a:txBody>
                    <a:bodyPr wrap="square"/>
                    <a:lstStyle/>
                    <a:p>
                      <a:r>
                        <a:rPr sz="1000" b="0">
                          <a:latin typeface="Calibri"/>
                        </a:rPr>
                        <a:t>shared/telemetry/</a:t>
                      </a:r>
                    </a:p>
                  </a:txBody>
                  <a:tcPr marL="50800" marR="50800" marT="25400" marB="25400">
                    <a:solidFill>
                      <a:srgbClr val="F4F6F9"/>
                    </a:solidFill>
                  </a:tcPr>
                </a:tc>
                <a:tc>
                  <a:txBody>
                    <a:bodyPr wrap="square"/>
                    <a:lstStyle/>
                    <a:p>
                      <a:r>
                        <a:rPr sz="1000" b="0">
                          <a:latin typeface="Calibri"/>
                        </a:rPr>
                        <a:t>Structured JSON logging with trace_id; counters and latency percentiles</a:t>
                      </a:r>
                    </a:p>
                  </a:txBody>
                  <a:tcPr marL="50800" marR="50800" marT="25400" marB="25400">
                    <a:solidFill>
                      <a:srgbClr val="F4F6F9"/>
                    </a:solidFill>
                  </a:tcPr>
                </a:tc>
                <a:tc>
                  <a:txBody>
                    <a:bodyPr wrap="square"/>
                    <a:lstStyle/>
                    <a:p>
                      <a:r>
                        <a:rPr sz="1000" b="0">
                          <a:latin typeface="Calibri"/>
                        </a:rPr>
                        <a:t>Prometheus exposition without a Prometheus dependency</a:t>
                      </a:r>
                    </a:p>
                  </a:txBody>
                  <a:tcPr marL="50800" marR="50800" marT="25400" marB="25400">
                    <a:solidFill>
                      <a:srgbClr val="F4F6F9"/>
                    </a:solidFill>
                  </a:tcPr>
                </a:tc>
              </a:tr>
              <a:tr h="25400">
                <a:tc>
                  <a:txBody>
                    <a:bodyPr wrap="square"/>
                    <a:lstStyle/>
                    <a:p>
                      <a:r>
                        <a:rPr sz="1000" b="0">
                          <a:latin typeface="Calibri"/>
                        </a:rPr>
                        <a:t>engines/base/</a:t>
                      </a:r>
                    </a:p>
                  </a:txBody>
                  <a:tcPr marL="50800" marR="50800" marT="25400" marB="25400">
                    <a:noFill/>
                  </a:tcPr>
                </a:tc>
                <a:tc>
                  <a:txBody>
                    <a:bodyPr wrap="square"/>
                    <a:lstStyle/>
                    <a:p>
                      <a:r>
                        <a:rPr sz="1000" b="0">
                          <a:latin typeface="Calibri"/>
                        </a:rPr>
                        <a:t>The SignalEngine ABC — one interface every signal obeys</a:t>
                      </a:r>
                    </a:p>
                  </a:txBody>
                  <a:tcPr marL="50800" marR="50800" marT="25400" marB="25400">
                    <a:noFill/>
                  </a:tcPr>
                </a:tc>
                <a:tc>
                  <a:txBody>
                    <a:bodyPr wrap="square"/>
                    <a:lstStyle/>
                    <a:p>
                      <a:r>
                        <a:rPr sz="1000" b="0">
                          <a:latin typeface="Calibri"/>
                        </a:rPr>
                        <a:t>evaluate() must not raise; failures become degraded results, never a lost verdict</a:t>
                      </a:r>
                    </a:p>
                  </a:txBody>
                  <a:tcPr marL="50800" marR="50800" marT="25400" marB="25400">
                    <a:noFill/>
                  </a:tcPr>
                </a:tc>
              </a:tr>
              <a:tr h="25400">
                <a:tc>
                  <a:txBody>
                    <a:bodyPr wrap="square"/>
                    <a:lstStyle/>
                    <a:p>
                      <a:r>
                        <a:rPr sz="1000" b="0">
                          <a:latin typeface="Calibri"/>
                        </a:rPr>
                        <a:t>engines/registry.py</a:t>
                      </a:r>
                    </a:p>
                  </a:txBody>
                  <a:tcPr marL="50800" marR="50800" marT="25400" marB="25400">
                    <a:solidFill>
                      <a:srgbClr val="F4F6F9"/>
                    </a:solidFill>
                  </a:tcPr>
                </a:tc>
                <a:tc>
                  <a:txBody>
                    <a:bodyPr wrap="square"/>
                    <a:lstStyle/>
                    <a:p>
                      <a:r>
                        <a:rPr sz="1000" b="0">
                          <a:latin typeface="Calibri"/>
                        </a:rPr>
                        <a:t>name → class map; tenants enable engines by name</a:t>
                      </a:r>
                    </a:p>
                  </a:txBody>
                  <a:tcPr marL="50800" marR="50800" marT="25400" marB="25400">
                    <a:solidFill>
                      <a:srgbClr val="F4F6F9"/>
                    </a:solidFill>
                  </a:tcPr>
                </a:tc>
                <a:tc>
                  <a:txBody>
                    <a:bodyPr wrap="square"/>
                    <a:lstStyle/>
                    <a:p>
                      <a:r>
                        <a:rPr sz="1000" b="0">
                          <a:latin typeface="Calibri"/>
                        </a:rPr>
                        <a:t>Adding a signal is a folder plus one register() call — no service code changes</a:t>
                      </a:r>
                    </a:p>
                  </a:txBody>
                  <a:tcPr marL="50800" marR="50800" marT="25400" marB="25400">
                    <a:solidFill>
                      <a:srgbClr val="F4F6F9"/>
                    </a:solid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Modules: Policy, Drift and Risk Engines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Three signals behind one interface. All cross-engine flow passes through the Trust Engine, which is what makes adding a fourth signal a purely additive change.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514600"/>
          <a:ext cx="10241279" cy="203200"/>
        </p:xfrm>
        <a:graphic>
          <a:graphicData uri="http://schemas.openxmlformats.org/drawingml/2006/table">
            <a:tbl>
              <a:tblPr firstRow="1">
                <a:tableStyleId>{5C22544A-7EE6-4342-B048-85BDC9FD1C3A}</a:tableStyleId>
              </a:tblPr>
              <a:tblGrid>
                <a:gridCol w="2253081"/>
                <a:gridCol w="3891686"/>
                <a:gridCol w="4096512"/>
              </a:tblGrid>
              <a:tr h="25400">
                <a:tc>
                  <a:txBody>
                    <a:bodyPr wrap="square"/>
                    <a:lstStyle/>
                    <a:p>
                      <a:r>
                        <a:rPr sz="1000" b="1">
                          <a:solidFill>
                            <a:srgbClr val="FFFFFF"/>
                          </a:solidFill>
                          <a:latin typeface="Calibri"/>
                        </a:rPr>
                        <a:t>Module</a:t>
                      </a:r>
                    </a:p>
                  </a:txBody>
                  <a:tcPr marL="50800" marR="50800" marT="25400" marB="25400">
                    <a:solidFill>
                      <a:srgbClr val="1F5CA8"/>
                    </a:solidFill>
                  </a:tcPr>
                </a:tc>
                <a:tc>
                  <a:txBody>
                    <a:bodyPr wrap="square"/>
                    <a:lstStyle/>
                    <a:p>
                      <a:r>
                        <a:rPr sz="1000" b="1">
                          <a:solidFill>
                            <a:srgbClr val="FFFFFF"/>
                          </a:solidFill>
                          <a:latin typeface="Calibri"/>
                        </a:rPr>
                        <a:t>Responsibility</a:t>
                      </a:r>
                    </a:p>
                  </a:txBody>
                  <a:tcPr marL="50800" marR="50800" marT="25400" marB="25400">
                    <a:solidFill>
                      <a:srgbClr val="1F5CA8"/>
                    </a:solidFill>
                  </a:tcPr>
                </a:tc>
                <a:tc>
                  <a:txBody>
                    <a:bodyPr wrap="square"/>
                    <a:lstStyle/>
                    <a:p>
                      <a:r>
                        <a:rPr sz="1000" b="1">
                          <a:solidFill>
                            <a:srgbClr val="FFFFFF"/>
                          </a:solidFill>
                          <a:latin typeface="Calibri"/>
                        </a:rPr>
                        <a:t>Key design point</a:t>
                      </a:r>
                    </a:p>
                  </a:txBody>
                  <a:tcPr marL="50800" marR="50800" marT="25400" marB="25400">
                    <a:solidFill>
                      <a:srgbClr val="1F5CA8"/>
                    </a:solidFill>
                  </a:tcPr>
                </a:tc>
              </a:tr>
              <a:tr h="25400">
                <a:tc>
                  <a:txBody>
                    <a:bodyPr wrap="square"/>
                    <a:lstStyle/>
                    <a:p>
                      <a:r>
                        <a:rPr sz="1000" b="0">
                          <a:latin typeface="Calibri"/>
                        </a:rPr>
                        <a:t>engines/policy/rules.py</a:t>
                      </a:r>
                    </a:p>
                  </a:txBody>
                  <a:tcPr marL="50800" marR="50800" marT="25400" marB="25400">
                    <a:noFill/>
                  </a:tcPr>
                </a:tc>
                <a:tc>
                  <a:txBody>
                    <a:bodyPr wrap="square"/>
                    <a:lstStyle/>
                    <a:p>
                      <a:r>
                        <a:rPr sz="1000" b="0">
                          <a:latin typeface="Calibri"/>
                        </a:rPr>
                        <a:t>Tokeniser, recursive-descent parser and AST evaluator for the rule grammar</a:t>
                      </a:r>
                    </a:p>
                  </a:txBody>
                  <a:tcPr marL="50800" marR="50800" marT="25400" marB="25400">
                    <a:noFill/>
                  </a:tcPr>
                </a:tc>
                <a:tc>
                  <a:txBody>
                    <a:bodyPr wrap="square"/>
                    <a:lstStyle/>
                    <a:p>
                      <a:r>
                        <a:rPr sz="1000" b="0">
                          <a:latin typeface="Calibri"/>
                        </a:rPr>
                        <a:t>No eval anywhere: rule text is tenant-supplied and reaches the hot path</a:t>
                      </a:r>
                    </a:p>
                  </a:txBody>
                  <a:tcPr marL="50800" marR="50800" marT="25400" marB="25400">
                    <a:noFill/>
                  </a:tcPr>
                </a:tc>
              </a:tr>
              <a:tr h="25400">
                <a:tc>
                  <a:txBody>
                    <a:bodyPr wrap="square"/>
                    <a:lstStyle/>
                    <a:p>
                      <a:r>
                        <a:rPr sz="1000" b="0">
                          <a:latin typeface="Calibri"/>
                        </a:rPr>
                        <a:t>engines/policy/engine.py</a:t>
                      </a:r>
                    </a:p>
                  </a:txBody>
                  <a:tcPr marL="50800" marR="50800" marT="25400" marB="25400">
                    <a:solidFill>
                      <a:srgbClr val="F4F6F9"/>
                    </a:solidFill>
                  </a:tcPr>
                </a:tc>
                <a:tc>
                  <a:txBody>
                    <a:bodyPr wrap="square"/>
                    <a:lstStyle/>
                    <a:p>
                      <a:r>
                        <a:rPr sz="1000" b="0">
                          <a:latin typeface="Calibri"/>
                        </a:rPr>
                        <a:t>Matches rules against request facts; raises vetoes</a:t>
                      </a:r>
                    </a:p>
                  </a:txBody>
                  <a:tcPr marL="50800" marR="50800" marT="25400" marB="25400">
                    <a:solidFill>
                      <a:srgbClr val="F4F6F9"/>
                    </a:solidFill>
                  </a:tcPr>
                </a:tc>
                <a:tc>
                  <a:txBody>
                    <a:bodyPr wrap="square"/>
                    <a:lstStyle/>
                    <a:p>
                      <a:r>
                        <a:rPr sz="1000" b="0">
                          <a:latin typeface="Calibri"/>
                        </a:rPr>
                        <a:t>The only engine allowed to veto, because it answers a definite question</a:t>
                      </a:r>
                    </a:p>
                  </a:txBody>
                  <a:tcPr marL="50800" marR="50800" marT="25400" marB="25400">
                    <a:solidFill>
                      <a:srgbClr val="F4F6F9"/>
                    </a:solidFill>
                  </a:tcPr>
                </a:tc>
              </a:tr>
              <a:tr h="25400">
                <a:tc>
                  <a:txBody>
                    <a:bodyPr wrap="square"/>
                    <a:lstStyle/>
                    <a:p>
                      <a:r>
                        <a:rPr sz="1000" b="0">
                          <a:latin typeface="Calibri"/>
                        </a:rPr>
                        <a:t>engines/drift/detectors.py</a:t>
                      </a:r>
                    </a:p>
                  </a:txBody>
                  <a:tcPr marL="50800" marR="50800" marT="25400" marB="25400">
                    <a:noFill/>
                  </a:tcPr>
                </a:tc>
                <a:tc>
                  <a:txBody>
                    <a:bodyPr wrap="square"/>
                    <a:lstStyle/>
                    <a:p>
                      <a:r>
                        <a:rPr sz="1000" b="0">
                          <a:latin typeface="Calibri"/>
                        </a:rPr>
                        <a:t>psi() and ks_test() — pure stdlib, no NumPy or SciPy</a:t>
                      </a:r>
                    </a:p>
                  </a:txBody>
                  <a:tcPr marL="50800" marR="50800" marT="25400" marB="25400">
                    <a:noFill/>
                  </a:tcPr>
                </a:tc>
                <a:tc>
                  <a:txBody>
                    <a:bodyPr wrap="square"/>
                    <a:lstStyle/>
                    <a:p>
                      <a:r>
                        <a:rPr sz="1000" b="0">
                          <a:latin typeface="Calibri"/>
                        </a:rPr>
                        <a:t>Both raise on an empty sample rather than reporting 0.0 drift</a:t>
                      </a:r>
                    </a:p>
                  </a:txBody>
                  <a:tcPr marL="50800" marR="50800" marT="25400" marB="25400">
                    <a:noFill/>
                  </a:tcPr>
                </a:tc>
              </a:tr>
              <a:tr h="25400">
                <a:tc>
                  <a:txBody>
                    <a:bodyPr wrap="square"/>
                    <a:lstStyle/>
                    <a:p>
                      <a:r>
                        <a:rPr sz="1000" b="0">
                          <a:latin typeface="Calibri"/>
                        </a:rPr>
                        <a:t>engines/drift/severity.py</a:t>
                      </a:r>
                    </a:p>
                  </a:txBody>
                  <a:tcPr marL="50800" marR="50800" marT="25400" marB="25400">
                    <a:solidFill>
                      <a:srgbClr val="F4F6F9"/>
                    </a:solidFill>
                  </a:tcPr>
                </a:tc>
                <a:tc>
                  <a:txBody>
                    <a:bodyPr wrap="square"/>
                    <a:lstStyle/>
                    <a:p>
                      <a:r>
                        <a:rPr sz="1000" b="0">
                          <a:latin typeface="Calibri"/>
                        </a:rPr>
                        <a:t>Per-feature band mapping and the cross-feature roll-up</a:t>
                      </a:r>
                    </a:p>
                  </a:txBody>
                  <a:tcPr marL="50800" marR="50800" marT="25400" marB="25400">
                    <a:solidFill>
                      <a:srgbClr val="F4F6F9"/>
                    </a:solidFill>
                  </a:tcPr>
                </a:tc>
                <a:tc>
                  <a:txBody>
                    <a:bodyPr wrap="square"/>
                    <a:lstStyle/>
                    <a:p>
                      <a:r>
                        <a:rPr sz="1000" b="0">
                          <a:latin typeface="Calibri"/>
                        </a:rPr>
                        <a:t>0.6·max + 0.4·mean — monotone by construction, so worse drift can never score better</a:t>
                      </a:r>
                    </a:p>
                  </a:txBody>
                  <a:tcPr marL="50800" marR="50800" marT="25400" marB="25400">
                    <a:solidFill>
                      <a:srgbClr val="F4F6F9"/>
                    </a:solidFill>
                  </a:tcPr>
                </a:tc>
              </a:tr>
              <a:tr h="25400">
                <a:tc>
                  <a:txBody>
                    <a:bodyPr wrap="square"/>
                    <a:lstStyle/>
                    <a:p>
                      <a:r>
                        <a:rPr sz="1000" b="0">
                          <a:latin typeface="Calibri"/>
                        </a:rPr>
                        <a:t>engines/drift/worker.py</a:t>
                      </a:r>
                    </a:p>
                  </a:txBody>
                  <a:tcPr marL="50800" marR="50800" marT="25400" marB="25400">
                    <a:noFill/>
                  </a:tcPr>
                </a:tc>
                <a:tc>
                  <a:txBody>
                    <a:bodyPr wrap="square"/>
                    <a:lstStyle/>
                    <a:p>
                      <a:r>
                        <a:rPr sz="1000" b="0">
                          <a:latin typeface="Calibri"/>
                        </a:rPr>
                        <a:t>Offline baseline capture and drift recompute (Celery-optional)</a:t>
                      </a:r>
                    </a:p>
                  </a:txBody>
                  <a:tcPr marL="50800" marR="50800" marT="25400" marB="25400">
                    <a:noFill/>
                  </a:tcPr>
                </a:tc>
                <a:tc>
                  <a:txBody>
                    <a:bodyPr wrap="square"/>
                    <a:lstStyle/>
                    <a:p>
                      <a:r>
                        <a:rPr sz="1000" b="0">
                          <a:latin typeface="Calibri"/>
                        </a:rPr>
                        <a:t>All statistics live here, never on the request path (ADR 0002)</a:t>
                      </a:r>
                    </a:p>
                  </a:txBody>
                  <a:tcPr marL="50800" marR="50800" marT="25400" marB="25400">
                    <a:noFill/>
                  </a:tcPr>
                </a:tc>
              </a:tr>
              <a:tr h="25400">
                <a:tc>
                  <a:txBody>
                    <a:bodyPr wrap="square"/>
                    <a:lstStyle/>
                    <a:p>
                      <a:r>
                        <a:rPr sz="1000" b="0">
                          <a:latin typeface="Calibri"/>
                        </a:rPr>
                        <a:t>engines/drift/engine.py</a:t>
                      </a:r>
                    </a:p>
                  </a:txBody>
                  <a:tcPr marL="50800" marR="50800" marT="25400" marB="25400">
                    <a:solidFill>
                      <a:srgbClr val="F4F6F9"/>
                    </a:solidFill>
                  </a:tcPr>
                </a:tc>
                <a:tc>
                  <a:txBody>
                    <a:bodyPr wrap="square"/>
                    <a:lstStyle/>
                    <a:p>
                      <a:r>
                        <a:rPr sz="1000" b="0">
                          <a:latin typeface="Calibri"/>
                        </a:rPr>
                        <a:t>Hot-path read of precomputed severity → trust = 1 − severity</a:t>
                      </a:r>
                    </a:p>
                  </a:txBody>
                  <a:tcPr marL="50800" marR="50800" marT="25400" marB="25400">
                    <a:solidFill>
                      <a:srgbClr val="F4F6F9"/>
                    </a:solidFill>
                  </a:tcPr>
                </a:tc>
                <a:tc>
                  <a:txBody>
                    <a:bodyPr wrap="square"/>
                    <a:lstStyle/>
                    <a:p>
                      <a:r>
                        <a:rPr sz="1000" b="0">
                          <a:latin typeface="Calibri"/>
                        </a:rPr>
                        <a:t>One cached read and a subtraction; no statistics at request time</a:t>
                      </a:r>
                    </a:p>
                  </a:txBody>
                  <a:tcPr marL="50800" marR="50800" marT="25400" marB="25400">
                    <a:solidFill>
                      <a:srgbClr val="F4F6F9"/>
                    </a:solidFill>
                  </a:tcPr>
                </a:tc>
              </a:tr>
              <a:tr h="25400">
                <a:tc>
                  <a:txBody>
                    <a:bodyPr wrap="square"/>
                    <a:lstStyle/>
                    <a:p>
                      <a:r>
                        <a:rPr sz="1000" b="0">
                          <a:latin typeface="Calibri"/>
                        </a:rPr>
                        <a:t>engines/risk/</a:t>
                      </a:r>
                    </a:p>
                  </a:txBody>
                  <a:tcPr marL="50800" marR="50800" marT="25400" marB="25400">
                    <a:noFill/>
                  </a:tcPr>
                </a:tc>
                <a:tc>
                  <a:txBody>
                    <a:bodyPr wrap="square"/>
                    <a:lstStyle/>
                    <a:p>
                      <a:r>
                        <a:rPr sz="1000" b="0">
                          <a:latin typeface="Calibri"/>
                        </a:rPr>
                        <a:t>Registered but deliberately unimplemented seam</a:t>
                      </a:r>
                    </a:p>
                  </a:txBody>
                  <a:tcPr marL="50800" marR="50800" marT="25400" marB="25400">
                    <a:noFill/>
                  </a:tcPr>
                </a:tc>
                <a:tc>
                  <a:txBody>
                    <a:bodyPr wrap="square"/>
                    <a:lstStyle/>
                    <a:p>
                      <a:r>
                        <a:rPr sz="1000" b="0">
                          <a:latin typeface="Calibri"/>
                        </a:rPr>
                        <a:t>Returns degraded, so it cannot contribute trust it has not earned</a:t>
                      </a:r>
                    </a:p>
                  </a:txBody>
                  <a:tcPr marL="50800" marR="50800" marT="25400" marB="254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Modules: Services, SDK and Dashboard</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Services contain wiring, not logic. Every business decision lives in engines/ or shared/, so a service file can be read end to end without learning the domain.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468880"/>
          <a:ext cx="10241279" cy="279400"/>
        </p:xfrm>
        <a:graphic>
          <a:graphicData uri="http://schemas.openxmlformats.org/drawingml/2006/table">
            <a:tbl>
              <a:tblPr firstRow="1">
                <a:tableStyleId>{5C22544A-7EE6-4342-B048-85BDC9FD1C3A}</a:tableStyleId>
              </a:tblPr>
              <a:tblGrid>
                <a:gridCol w="2457907"/>
                <a:gridCol w="3686860"/>
                <a:gridCol w="4096512"/>
              </a:tblGrid>
              <a:tr h="25400">
                <a:tc>
                  <a:txBody>
                    <a:bodyPr wrap="square"/>
                    <a:lstStyle/>
                    <a:p>
                      <a:r>
                        <a:rPr sz="900" b="1">
                          <a:solidFill>
                            <a:srgbClr val="FFFFFF"/>
                          </a:solidFill>
                          <a:latin typeface="Calibri"/>
                        </a:rPr>
                        <a:t>Module</a:t>
                      </a:r>
                    </a:p>
                  </a:txBody>
                  <a:tcPr marL="50800" marR="50800" marT="25400" marB="25400">
                    <a:solidFill>
                      <a:srgbClr val="1F5CA8"/>
                    </a:solidFill>
                  </a:tcPr>
                </a:tc>
                <a:tc>
                  <a:txBody>
                    <a:bodyPr wrap="square"/>
                    <a:lstStyle/>
                    <a:p>
                      <a:r>
                        <a:rPr sz="900" b="1">
                          <a:solidFill>
                            <a:srgbClr val="FFFFFF"/>
                          </a:solidFill>
                          <a:latin typeface="Calibri"/>
                        </a:rPr>
                        <a:t>Responsibility</a:t>
                      </a:r>
                    </a:p>
                  </a:txBody>
                  <a:tcPr marL="50800" marR="50800" marT="25400" marB="25400">
                    <a:solidFill>
                      <a:srgbClr val="1F5CA8"/>
                    </a:solidFill>
                  </a:tcPr>
                </a:tc>
                <a:tc>
                  <a:txBody>
                    <a:bodyPr wrap="square"/>
                    <a:lstStyle/>
                    <a:p>
                      <a:r>
                        <a:rPr sz="900" b="1">
                          <a:solidFill>
                            <a:srgbClr val="FFFFFF"/>
                          </a:solidFill>
                          <a:latin typeface="Calibri"/>
                        </a:rPr>
                        <a:t>Key design point</a:t>
                      </a:r>
                    </a:p>
                  </a:txBody>
                  <a:tcPr marL="50800" marR="50800" marT="25400" marB="25400">
                    <a:solidFill>
                      <a:srgbClr val="1F5CA8"/>
                    </a:solidFill>
                  </a:tcPr>
                </a:tc>
              </a:tr>
              <a:tr h="25400">
                <a:tc>
                  <a:txBody>
                    <a:bodyPr wrap="square"/>
                    <a:lstStyle/>
                    <a:p>
                      <a:r>
                        <a:rPr sz="900" b="0">
                          <a:latin typeface="Calibri"/>
                        </a:rPr>
                        <a:t>services/gateway/main.py</a:t>
                      </a:r>
                    </a:p>
                  </a:txBody>
                  <a:tcPr marL="50800" marR="50800" marT="25400" marB="25400">
                    <a:noFill/>
                  </a:tcPr>
                </a:tc>
                <a:tc>
                  <a:txBody>
                    <a:bodyPr wrap="square"/>
                    <a:lstStyle/>
                    <a:p>
                      <a:r>
                        <a:rPr sz="900" b="0">
                          <a:latin typeface="Calibri"/>
                        </a:rPr>
                        <a:t>FastAPI app, middleware, /v1/evaluate, /health, /metrics</a:t>
                      </a:r>
                    </a:p>
                  </a:txBody>
                  <a:tcPr marL="50800" marR="50800" marT="25400" marB="25400">
                    <a:noFill/>
                  </a:tcPr>
                </a:tc>
                <a:tc>
                  <a:txBody>
                    <a:bodyPr wrap="square"/>
                    <a:lstStyle/>
                    <a:p>
                      <a:r>
                        <a:rPr sz="900" b="0">
                          <a:latin typeface="Calibri"/>
                        </a:rPr>
                        <a:t>Wiring only; the verdict comes entirely from trust_engine</a:t>
                      </a:r>
                    </a:p>
                  </a:txBody>
                  <a:tcPr marL="50800" marR="50800" marT="25400" marB="25400">
                    <a:noFill/>
                  </a:tcPr>
                </a:tc>
              </a:tr>
              <a:tr h="25400">
                <a:tc>
                  <a:txBody>
                    <a:bodyPr wrap="square"/>
                    <a:lstStyle/>
                    <a:p>
                      <a:r>
                        <a:rPr sz="900" b="0">
                          <a:latin typeface="Calibri"/>
                        </a:rPr>
                        <a:t>services/gateway/auth.py</a:t>
                      </a:r>
                    </a:p>
                  </a:txBody>
                  <a:tcPr marL="50800" marR="50800" marT="25400" marB="25400">
                    <a:solidFill>
                      <a:srgbClr val="F4F6F9"/>
                    </a:solidFill>
                  </a:tcPr>
                </a:tc>
                <a:tc>
                  <a:txBody>
                    <a:bodyPr wrap="square"/>
                    <a:lstStyle/>
                    <a:p>
                      <a:r>
                        <a:rPr sz="900" b="0">
                          <a:latin typeface="Calibri"/>
                        </a:rPr>
                        <a:t>API-key → tenant resolution</a:t>
                      </a:r>
                    </a:p>
                  </a:txBody>
                  <a:tcPr marL="50800" marR="50800" marT="25400" marB="25400">
                    <a:solidFill>
                      <a:srgbClr val="F4F6F9"/>
                    </a:solidFill>
                  </a:tcPr>
                </a:tc>
                <a:tc>
                  <a:txBody>
                    <a:bodyPr wrap="square"/>
                    <a:lstStyle/>
                    <a:p>
                      <a:r>
                        <a:rPr sz="900" b="0">
                          <a:latin typeface="Calibri"/>
                        </a:rPr>
                        <a:t>Only SHA-256 digests are stored; negative results are cached too</a:t>
                      </a:r>
                    </a:p>
                  </a:txBody>
                  <a:tcPr marL="50800" marR="50800" marT="25400" marB="25400">
                    <a:solidFill>
                      <a:srgbClr val="F4F6F9"/>
                    </a:solidFill>
                  </a:tcPr>
                </a:tc>
              </a:tr>
              <a:tr h="25400">
                <a:tc>
                  <a:txBody>
                    <a:bodyPr wrap="square"/>
                    <a:lstStyle/>
                    <a:p>
                      <a:r>
                        <a:rPr sz="900" b="0">
                          <a:latin typeface="Calibri"/>
                        </a:rPr>
                        <a:t>services/gateway/trust_engine.py</a:t>
                      </a:r>
                    </a:p>
                  </a:txBody>
                  <a:tcPr marL="50800" marR="50800" marT="25400" marB="25400">
                    <a:noFill/>
                  </a:tcPr>
                </a:tc>
                <a:tc>
                  <a:txBody>
                    <a:bodyPr wrap="square"/>
                    <a:lstStyle/>
                    <a:p>
                      <a:r>
                        <a:rPr sz="900" b="0">
                          <a:latin typeface="Calibri"/>
                        </a:rPr>
                        <a:t>Orchestrator: concurrent fan-out, gather, fuse, decide, audit</a:t>
                      </a:r>
                    </a:p>
                  </a:txBody>
                  <a:tcPr marL="50800" marR="50800" marT="25400" marB="25400">
                    <a:noFill/>
                  </a:tcPr>
                </a:tc>
                <a:tc>
                  <a:txBody>
                    <a:bodyPr wrap="square"/>
                    <a:lstStyle/>
                    <a:p>
                      <a:r>
                        <a:rPr sz="900" b="0">
                          <a:latin typeface="Calibri"/>
                        </a:rPr>
                        <a:t>The only component that knows more than one engine exists</a:t>
                      </a:r>
                    </a:p>
                  </a:txBody>
                  <a:tcPr marL="50800" marR="50800" marT="25400" marB="25400">
                    <a:noFill/>
                  </a:tcPr>
                </a:tc>
              </a:tr>
              <a:tr h="25400">
                <a:tc>
                  <a:txBody>
                    <a:bodyPr wrap="square"/>
                    <a:lstStyle/>
                    <a:p>
                      <a:r>
                        <a:rPr sz="900" b="0">
                          <a:latin typeface="Calibri"/>
                        </a:rPr>
                        <a:t>services/gateway/aggregate.py</a:t>
                      </a:r>
                    </a:p>
                  </a:txBody>
                  <a:tcPr marL="50800" marR="50800" marT="25400" marB="25400">
                    <a:solidFill>
                      <a:srgbClr val="F4F6F9"/>
                    </a:solidFill>
                  </a:tcPr>
                </a:tc>
                <a:tc>
                  <a:txBody>
                    <a:bodyPr wrap="square"/>
                    <a:lstStyle/>
                    <a:p>
                      <a:r>
                        <a:rPr sz="900" b="0">
                          <a:latin typeface="Calibri"/>
                        </a:rPr>
                        <a:t>Weighted fusion, degraded exclusion, veto ceiling</a:t>
                      </a:r>
                    </a:p>
                  </a:txBody>
                  <a:tcPr marL="50800" marR="50800" marT="25400" marB="25400">
                    <a:solidFill>
                      <a:srgbClr val="F4F6F9"/>
                    </a:solidFill>
                  </a:tcPr>
                </a:tc>
                <a:tc>
                  <a:txBody>
                    <a:bodyPr wrap="square"/>
                    <a:lstStyle/>
                    <a:p>
                      <a:r>
                        <a:rPr sz="900" b="0">
                          <a:latin typeface="Calibri"/>
                        </a:rPr>
                        <a:t>Degraded engines are excluded and renormalised, never defaulted to 1.0</a:t>
                      </a:r>
                    </a:p>
                  </a:txBody>
                  <a:tcPr marL="50800" marR="50800" marT="25400" marB="25400">
                    <a:solidFill>
                      <a:srgbClr val="F4F6F9"/>
                    </a:solidFill>
                  </a:tcPr>
                </a:tc>
              </a:tr>
              <a:tr h="25400">
                <a:tc>
                  <a:txBody>
                    <a:bodyPr wrap="square"/>
                    <a:lstStyle/>
                    <a:p>
                      <a:r>
                        <a:rPr sz="900" b="0">
                          <a:latin typeface="Calibri"/>
                        </a:rPr>
                        <a:t>services/gateway/decision.py</a:t>
                      </a:r>
                    </a:p>
                  </a:txBody>
                  <a:tcPr marL="50800" marR="50800" marT="25400" marB="25400">
                    <a:noFill/>
                  </a:tcPr>
                </a:tc>
                <a:tc>
                  <a:txBody>
                    <a:bodyPr wrap="square"/>
                    <a:lstStyle/>
                    <a:p>
                      <a:r>
                        <a:rPr sz="900" b="0">
                          <a:latin typeface="Calibri"/>
                        </a:rPr>
                        <a:t>The decision matrix as one ordered cascade</a:t>
                      </a:r>
                    </a:p>
                  </a:txBody>
                  <a:tcPr marL="50800" marR="50800" marT="25400" marB="25400">
                    <a:noFill/>
                  </a:tcPr>
                </a:tc>
                <a:tc>
                  <a:txBody>
                    <a:bodyPr wrap="square"/>
                    <a:lstStyle/>
                    <a:p>
                      <a:r>
                        <a:rPr sz="900" b="0">
                          <a:latin typeface="Calibri"/>
                        </a:rPr>
                        <a:t>The order is the specification; every row is a test case</a:t>
                      </a:r>
                    </a:p>
                  </a:txBody>
                  <a:tcPr marL="50800" marR="50800" marT="25400" marB="25400">
                    <a:noFill/>
                  </a:tcPr>
                </a:tc>
              </a:tr>
              <a:tr h="25400">
                <a:tc>
                  <a:txBody>
                    <a:bodyPr wrap="square"/>
                    <a:lstStyle/>
                    <a:p>
                      <a:r>
                        <a:rPr sz="900" b="0">
                          <a:latin typeface="Calibri"/>
                        </a:rPr>
                        <a:t>services/gateway/audit.py</a:t>
                      </a:r>
                    </a:p>
                  </a:txBody>
                  <a:tcPr marL="50800" marR="50800" marT="25400" marB="25400">
                    <a:solidFill>
                      <a:srgbClr val="F4F6F9"/>
                    </a:solidFill>
                  </a:tcPr>
                </a:tc>
                <a:tc>
                  <a:txBody>
                    <a:bodyPr wrap="square"/>
                    <a:lstStyle/>
                    <a:p>
                      <a:r>
                        <a:rPr sz="900" b="0">
                          <a:latin typeface="Calibri"/>
                        </a:rPr>
                        <a:t>Canonical JSON, hash chain append, chain verification</a:t>
                      </a:r>
                    </a:p>
                  </a:txBody>
                  <a:tcPr marL="50800" marR="50800" marT="25400" marB="25400">
                    <a:solidFill>
                      <a:srgbClr val="F4F6F9"/>
                    </a:solidFill>
                  </a:tcPr>
                </a:tc>
                <a:tc>
                  <a:txBody>
                    <a:bodyPr wrap="square"/>
                    <a:lstStyle/>
                    <a:p>
                      <a:r>
                        <a:rPr sz="900" b="0">
                          <a:latin typeface="Calibri"/>
                        </a:rPr>
                        <a:t>Tamper-evident, not tamper-proof — and honest about the difference</a:t>
                      </a:r>
                    </a:p>
                  </a:txBody>
                  <a:tcPr marL="50800" marR="50800" marT="25400" marB="25400">
                    <a:solidFill>
                      <a:srgbClr val="F4F6F9"/>
                    </a:solidFill>
                  </a:tcPr>
                </a:tc>
              </a:tr>
              <a:tr h="25400">
                <a:tc>
                  <a:txBody>
                    <a:bodyPr wrap="square"/>
                    <a:lstStyle/>
                    <a:p>
                      <a:r>
                        <a:rPr sz="900" b="0">
                          <a:latin typeface="Calibri"/>
                        </a:rPr>
                        <a:t>services/control/</a:t>
                      </a:r>
                    </a:p>
                  </a:txBody>
                  <a:tcPr marL="50800" marR="50800" marT="25400" marB="25400">
                    <a:noFill/>
                  </a:tcPr>
                </a:tc>
                <a:tc>
                  <a:txBody>
                    <a:bodyPr wrap="square"/>
                    <a:lstStyle/>
                    <a:p>
                      <a:r>
                        <a:rPr sz="900" b="0">
                          <a:latin typeface="Calibri"/>
                        </a:rPr>
                        <a:t>Tenants, models, baselines, config, rules, drift history, audit</a:t>
                      </a:r>
                    </a:p>
                  </a:txBody>
                  <a:tcPr marL="50800" marR="50800" marT="25400" marB="25400">
                    <a:noFill/>
                  </a:tcPr>
                </a:tc>
                <a:tc>
                  <a:txBody>
                    <a:bodyPr wrap="square"/>
                    <a:lstStyle/>
                    <a:p>
                      <a:r>
                        <a:rPr sz="900" b="0">
                          <a:latin typeface="Calibri"/>
                        </a:rPr>
                        <a:t>Cold path: free to do slow, correct things the gateway cannot afford</a:t>
                      </a:r>
                    </a:p>
                  </a:txBody>
                  <a:tcPr marL="50800" marR="50800" marT="25400" marB="25400">
                    <a:noFill/>
                  </a:tcPr>
                </a:tc>
              </a:tr>
              <a:tr h="25400">
                <a:tc>
                  <a:txBody>
                    <a:bodyPr wrap="square"/>
                    <a:lstStyle/>
                    <a:p>
                      <a:r>
                        <a:rPr sz="900" b="0">
                          <a:latin typeface="Calibri"/>
                        </a:rPr>
                        <a:t>services/worker/</a:t>
                      </a:r>
                    </a:p>
                  </a:txBody>
                  <a:tcPr marL="50800" marR="50800" marT="25400" marB="25400">
                    <a:solidFill>
                      <a:srgbClr val="F4F6F9"/>
                    </a:solidFill>
                  </a:tcPr>
                </a:tc>
                <a:tc>
                  <a:txBody>
                    <a:bodyPr wrap="square"/>
                    <a:lstStyle/>
                    <a:p>
                      <a:r>
                        <a:rPr sz="900" b="0">
                          <a:latin typeface="Calibri"/>
                        </a:rPr>
                        <a:t>Celery app; hourly recompute across every baselined model</a:t>
                      </a:r>
                    </a:p>
                  </a:txBody>
                  <a:tcPr marL="50800" marR="50800" marT="25400" marB="25400">
                    <a:solidFill>
                      <a:srgbClr val="F4F6F9"/>
                    </a:solidFill>
                  </a:tcPr>
                </a:tc>
                <a:tc>
                  <a:txBody>
                    <a:bodyPr wrap="square"/>
                    <a:lstStyle/>
                    <a:p>
                      <a:r>
                        <a:rPr sz="900" b="0">
                          <a:latin typeface="Calibri"/>
                        </a:rPr>
                        <a:t>Tasks are idempotent, so late acknowledgement is safe</a:t>
                      </a:r>
                    </a:p>
                  </a:txBody>
                  <a:tcPr marL="50800" marR="50800" marT="25400" marB="25400">
                    <a:solidFill>
                      <a:srgbClr val="F4F6F9"/>
                    </a:solidFill>
                  </a:tcPr>
                </a:tc>
              </a:tr>
              <a:tr h="25400">
                <a:tc>
                  <a:txBody>
                    <a:bodyPr wrap="square"/>
                    <a:lstStyle/>
                    <a:p>
                      <a:r>
                        <a:rPr sz="900" b="0">
                          <a:latin typeface="Calibri"/>
                        </a:rPr>
                        <a:t>sdk/python/custos/</a:t>
                      </a:r>
                    </a:p>
                  </a:txBody>
                  <a:tcPr marL="50800" marR="50800" marT="25400" marB="25400">
                    <a:noFill/>
                  </a:tcPr>
                </a:tc>
                <a:tc>
                  <a:txBody>
                    <a:bodyPr wrap="square"/>
                    <a:lstStyle/>
                    <a:p>
                      <a:r>
                        <a:rPr sz="900" b="0">
                          <a:latin typeface="Calibri"/>
                        </a:rPr>
                        <a:t>@guard, gate(), fail-open client, verdict → control flow</a:t>
                      </a:r>
                    </a:p>
                  </a:txBody>
                  <a:tcPr marL="50800" marR="50800" marT="25400" marB="25400">
                    <a:noFill/>
                  </a:tcPr>
                </a:tc>
                <a:tc>
                  <a:txBody>
                    <a:bodyPr wrap="square"/>
                    <a:lstStyle/>
                    <a:p>
                      <a:r>
                        <a:rPr sz="900" b="0">
                          <a:latin typeface="Calibri"/>
                        </a:rPr>
                        <a:t>Standard library only — no dependency conflicts for the caller</a:t>
                      </a:r>
                    </a:p>
                  </a:txBody>
                  <a:tcPr marL="50800" marR="50800" marT="25400" marB="25400">
                    <a:noFill/>
                  </a:tcPr>
                </a:tc>
              </a:tr>
              <a:tr h="25400">
                <a:tc>
                  <a:txBody>
                    <a:bodyPr wrap="square"/>
                    <a:lstStyle/>
                    <a:p>
                      <a:r>
                        <a:rPr sz="900" b="0">
                          <a:latin typeface="Calibri"/>
                        </a:rPr>
                        <a:t>dashboard/</a:t>
                      </a:r>
                    </a:p>
                  </a:txBody>
                  <a:tcPr marL="50800" marR="50800" marT="25400" marB="25400">
                    <a:solidFill>
                      <a:srgbClr val="F4F6F9"/>
                    </a:solidFill>
                  </a:tcPr>
                </a:tc>
                <a:tc>
                  <a:txBody>
                    <a:bodyPr wrap="square"/>
                    <a:lstStyle/>
                    <a:p>
                      <a:r>
                        <a:rPr sz="900" b="0">
                          <a:latin typeface="Calibri"/>
                        </a:rPr>
                        <a:t>React + TypeScript operator console</a:t>
                      </a:r>
                    </a:p>
                  </a:txBody>
                  <a:tcPr marL="50800" marR="50800" marT="25400" marB="25400">
                    <a:solidFill>
                      <a:srgbClr val="F4F6F9"/>
                    </a:solidFill>
                  </a:tcPr>
                </a:tc>
                <a:tc>
                  <a:txBody>
                    <a:bodyPr wrap="square"/>
                    <a:lstStyle/>
                    <a:p>
                      <a:r>
                        <a:rPr sz="900" b="0">
                          <a:latin typeface="Calibri"/>
                        </a:rPr>
                        <a:t>Polling, not websockets: the control plane is deliberately cold</a:t>
                      </a:r>
                    </a:p>
                  </a:txBody>
                  <a:tcPr marL="50800" marR="50800" marT="25400" marB="25400">
                    <a:solidFill>
                      <a:srgbClr val="F4F6F9"/>
                    </a:solid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Drift Pipeline</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Where the statistics run, and where they do not. Everything expensive happens below the boundary on a schedule; the request path above it only ever reads a number the worker has already computed.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rift_pipeline.png"/>
          <p:cNvPicPr>
            <a:picLocks noChangeAspect="1"/>
          </p:cNvPicPr>
          <p:nvPr/>
        </p:nvPicPr>
        <p:blipFill>
          <a:blip r:embed="rId4"/>
          <a:stretch>
            <a:fillRect/>
          </a:stretch>
        </p:blipFill>
        <p:spPr>
          <a:xfrm>
            <a:off x="1066647" y="2788920"/>
            <a:ext cx="10058400" cy="256032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Decision Logic</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Signals fuse as a weighted mean over non-degraded engines (policy 0.3, drift 0.5, risk 0.2), renormalised. A veto clamps the score to 0.0. The matrix below is then evaluated as an ordered cascade — the order is the specification.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697480"/>
          <a:ext cx="10241279" cy="177800"/>
        </p:xfrm>
        <a:graphic>
          <a:graphicData uri="http://schemas.openxmlformats.org/drawingml/2006/table">
            <a:tbl>
              <a:tblPr firstRow="1">
                <a:tableStyleId>{5C22544A-7EE6-4342-B048-85BDC9FD1C3A}</a:tableStyleId>
              </a:tblPr>
              <a:tblGrid>
                <a:gridCol w="512064"/>
                <a:gridCol w="3072384"/>
                <a:gridCol w="1331366"/>
                <a:gridCol w="5325465"/>
              </a:tblGrid>
              <a:tr h="25400">
                <a:tc>
                  <a:txBody>
                    <a:bodyPr wrap="square"/>
                    <a:lstStyle/>
                    <a:p>
                      <a:r>
                        <a:rPr sz="1000" b="1">
                          <a:solidFill>
                            <a:srgbClr val="FFFFFF"/>
                          </a:solidFill>
                          <a:latin typeface="Calibri"/>
                        </a:rPr>
                        <a:t>#</a:t>
                      </a:r>
                    </a:p>
                  </a:txBody>
                  <a:tcPr marL="50800" marR="50800" marT="25400" marB="25400">
                    <a:solidFill>
                      <a:srgbClr val="1F5CA8"/>
                    </a:solidFill>
                  </a:tcPr>
                </a:tc>
                <a:tc>
                  <a:txBody>
                    <a:bodyPr wrap="square"/>
                    <a:lstStyle/>
                    <a:p>
                      <a:r>
                        <a:rPr sz="1000" b="1">
                          <a:solidFill>
                            <a:srgbClr val="FFFFFF"/>
                          </a:solidFill>
                          <a:latin typeface="Calibri"/>
                        </a:rPr>
                        <a:t>Condition</a:t>
                      </a:r>
                    </a:p>
                  </a:txBody>
                  <a:tcPr marL="50800" marR="50800" marT="25400" marB="25400">
                    <a:solidFill>
                      <a:srgbClr val="1F5CA8"/>
                    </a:solidFill>
                  </a:tcPr>
                </a:tc>
                <a:tc>
                  <a:txBody>
                    <a:bodyPr wrap="square"/>
                    <a:lstStyle/>
                    <a:p>
                      <a:r>
                        <a:rPr sz="1000" b="1">
                          <a:solidFill>
                            <a:srgbClr val="FFFFFF"/>
                          </a:solidFill>
                          <a:latin typeface="Calibri"/>
                        </a:rPr>
                        <a:t>Decision</a:t>
                      </a:r>
                    </a:p>
                  </a:txBody>
                  <a:tcPr marL="50800" marR="50800" marT="25400" marB="25400">
                    <a:solidFill>
                      <a:srgbClr val="1F5CA8"/>
                    </a:solidFill>
                  </a:tcPr>
                </a:tc>
                <a:tc>
                  <a:txBody>
                    <a:bodyPr wrap="square"/>
                    <a:lstStyle/>
                    <a:p>
                      <a:r>
                        <a:rPr sz="1000" b="1">
                          <a:solidFill>
                            <a:srgbClr val="FFFFFF"/>
                          </a:solidFill>
                          <a:latin typeface="Calibri"/>
                        </a:rPr>
                        <a:t>Why this order</a:t>
                      </a:r>
                    </a:p>
                  </a:txBody>
                  <a:tcPr marL="50800" marR="50800" marT="25400" marB="25400">
                    <a:solidFill>
                      <a:srgbClr val="1F5CA8"/>
                    </a:solidFill>
                  </a:tcPr>
                </a:tc>
              </a:tr>
              <a:tr h="25400">
                <a:tc>
                  <a:txBody>
                    <a:bodyPr wrap="square"/>
                    <a:lstStyle/>
                    <a:p>
                      <a:r>
                        <a:rPr sz="1000" b="0">
                          <a:latin typeface="Calibri"/>
                        </a:rPr>
                        <a:t>1</a:t>
                      </a:r>
                    </a:p>
                  </a:txBody>
                  <a:tcPr marL="50800" marR="50800" marT="25400" marB="25400">
                    <a:noFill/>
                  </a:tcPr>
                </a:tc>
                <a:tc>
                  <a:txBody>
                    <a:bodyPr wrap="square"/>
                    <a:lstStyle/>
                    <a:p>
                      <a:r>
                        <a:rPr sz="1000" b="0">
                          <a:latin typeface="Calibri"/>
                        </a:rPr>
                        <a:t>Any engine raised a veto</a:t>
                      </a:r>
                    </a:p>
                  </a:txBody>
                  <a:tcPr marL="50800" marR="50800" marT="25400" marB="25400">
                    <a:noFill/>
                  </a:tcPr>
                </a:tc>
                <a:tc>
                  <a:txBody>
                    <a:bodyPr wrap="square"/>
                    <a:lstStyle/>
                    <a:p>
                      <a:r>
                        <a:rPr sz="1000" b="0">
                          <a:latin typeface="Calibri"/>
                        </a:rPr>
                        <a:t>BLOCK</a:t>
                      </a:r>
                    </a:p>
                  </a:txBody>
                  <a:tcPr marL="50800" marR="50800" marT="25400" marB="25400">
                    <a:noFill/>
                  </a:tcPr>
                </a:tc>
                <a:tc>
                  <a:txBody>
                    <a:bodyPr wrap="square"/>
                    <a:lstStyle/>
                    <a:p>
                      <a:r>
                        <a:rPr sz="1000" b="0">
                          <a:latin typeface="Calibri"/>
                        </a:rPr>
                        <a:t>A hard stop; no weight of agreement can outvote it</a:t>
                      </a:r>
                    </a:p>
                  </a:txBody>
                  <a:tcPr marL="50800" marR="50800" marT="25400" marB="25400">
                    <a:noFill/>
                  </a:tcPr>
                </a:tc>
              </a:tr>
              <a:tr h="25400">
                <a:tc>
                  <a:txBody>
                    <a:bodyPr wrap="square"/>
                    <a:lstStyle/>
                    <a:p>
                      <a:r>
                        <a:rPr sz="1000" b="0">
                          <a:latin typeface="Calibri"/>
                        </a:rPr>
                        <a:t>2</a:t>
                      </a:r>
                    </a:p>
                  </a:txBody>
                  <a:tcPr marL="50800" marR="50800" marT="25400" marB="25400">
                    <a:solidFill>
                      <a:srgbClr val="F4F6F9"/>
                    </a:solidFill>
                  </a:tcPr>
                </a:tc>
                <a:tc>
                  <a:txBody>
                    <a:bodyPr wrap="square"/>
                    <a:lstStyle/>
                    <a:p>
                      <a:r>
                        <a:rPr sz="1000" b="0">
                          <a:latin typeface="Calibri"/>
                        </a:rPr>
                        <a:t>trust &lt; 0.30 (block threshold)</a:t>
                      </a:r>
                    </a:p>
                  </a:txBody>
                  <a:tcPr marL="50800" marR="50800" marT="25400" marB="25400">
                    <a:solidFill>
                      <a:srgbClr val="F4F6F9"/>
                    </a:solidFill>
                  </a:tcPr>
                </a:tc>
                <a:tc>
                  <a:txBody>
                    <a:bodyPr wrap="square"/>
                    <a:lstStyle/>
                    <a:p>
                      <a:r>
                        <a:rPr sz="1000" b="0">
                          <a:latin typeface="Calibri"/>
                        </a:rPr>
                        <a:t>BLOCK</a:t>
                      </a:r>
                    </a:p>
                  </a:txBody>
                  <a:tcPr marL="50800" marR="50800" marT="25400" marB="25400">
                    <a:solidFill>
                      <a:srgbClr val="F4F6F9"/>
                    </a:solidFill>
                  </a:tcPr>
                </a:tc>
                <a:tc>
                  <a:txBody>
                    <a:bodyPr wrap="square"/>
                    <a:lstStyle/>
                    <a:p>
                      <a:r>
                        <a:rPr sz="1000" b="0">
                          <a:latin typeface="Calibri"/>
                        </a:rPr>
                        <a:t>The fused evidence is already damning</a:t>
                      </a:r>
                    </a:p>
                  </a:txBody>
                  <a:tcPr marL="50800" marR="50800" marT="25400" marB="25400">
                    <a:solidFill>
                      <a:srgbClr val="F4F6F9"/>
                    </a:solidFill>
                  </a:tcPr>
                </a:tc>
              </a:tr>
              <a:tr h="25400">
                <a:tc>
                  <a:txBody>
                    <a:bodyPr wrap="square"/>
                    <a:lstStyle/>
                    <a:p>
                      <a:r>
                        <a:rPr sz="1000" b="0">
                          <a:latin typeface="Calibri"/>
                        </a:rPr>
                        <a:t>3</a:t>
                      </a:r>
                    </a:p>
                  </a:txBody>
                  <a:tcPr marL="50800" marR="50800" marT="25400" marB="25400">
                    <a:noFill/>
                  </a:tcPr>
                </a:tc>
                <a:tc>
                  <a:txBody>
                    <a:bodyPr wrap="square"/>
                    <a:lstStyle/>
                    <a:p>
                      <a:r>
                        <a:rPr sz="1000" b="0">
                          <a:latin typeface="Calibri"/>
                        </a:rPr>
                        <a:t>model_id is not registered</a:t>
                      </a:r>
                    </a:p>
                  </a:txBody>
                  <a:tcPr marL="50800" marR="50800" marT="25400" marB="25400">
                    <a:noFill/>
                  </a:tcPr>
                </a:tc>
                <a:tc>
                  <a:txBody>
                    <a:bodyPr wrap="square"/>
                    <a:lstStyle/>
                    <a:p>
                      <a:r>
                        <a:rPr sz="1000" b="0">
                          <a:latin typeface="Calibri"/>
                        </a:rPr>
                        <a:t>REVIEW</a:t>
                      </a:r>
                    </a:p>
                  </a:txBody>
                  <a:tcPr marL="50800" marR="50800" marT="25400" marB="25400">
                    <a:noFill/>
                  </a:tcPr>
                </a:tc>
                <a:tc>
                  <a:txBody>
                    <a:bodyPr wrap="square"/>
                    <a:lstStyle/>
                    <a:p>
                      <a:r>
                        <a:rPr sz="1000" b="0">
                          <a:latin typeface="Calibri"/>
                        </a:rPr>
                        <a:t>Unknown ≠ safe; escalate rather than guess (ADR 0005)</a:t>
                      </a:r>
                    </a:p>
                  </a:txBody>
                  <a:tcPr marL="50800" marR="50800" marT="25400" marB="25400">
                    <a:noFill/>
                  </a:tcPr>
                </a:tc>
              </a:tr>
              <a:tr h="25400">
                <a:tc>
                  <a:txBody>
                    <a:bodyPr wrap="square"/>
                    <a:lstStyle/>
                    <a:p>
                      <a:r>
                        <a:rPr sz="1000" b="0">
                          <a:latin typeface="Calibri"/>
                        </a:rPr>
                        <a:t>4</a:t>
                      </a:r>
                    </a:p>
                  </a:txBody>
                  <a:tcPr marL="50800" marR="50800" marT="25400" marB="25400">
                    <a:solidFill>
                      <a:srgbClr val="F4F6F9"/>
                    </a:solidFill>
                  </a:tcPr>
                </a:tc>
                <a:tc>
                  <a:txBody>
                    <a:bodyPr wrap="square"/>
                    <a:lstStyle/>
                    <a:p>
                      <a:r>
                        <a:rPr sz="1000" b="0">
                          <a:latin typeface="Calibri"/>
                        </a:rPr>
                        <a:t>Every engine reported degraded</a:t>
                      </a:r>
                    </a:p>
                  </a:txBody>
                  <a:tcPr marL="50800" marR="50800" marT="25400" marB="25400">
                    <a:solidFill>
                      <a:srgbClr val="F4F6F9"/>
                    </a:solidFill>
                  </a:tcPr>
                </a:tc>
                <a:tc>
                  <a:txBody>
                    <a:bodyPr wrap="square"/>
                    <a:lstStyle/>
                    <a:p>
                      <a:r>
                        <a:rPr sz="1000" b="0">
                          <a:latin typeface="Calibri"/>
                        </a:rPr>
                        <a:t>REVIEW</a:t>
                      </a:r>
                    </a:p>
                  </a:txBody>
                  <a:tcPr marL="50800" marR="50800" marT="25400" marB="25400">
                    <a:solidFill>
                      <a:srgbClr val="F4F6F9"/>
                    </a:solidFill>
                  </a:tcPr>
                </a:tc>
                <a:tc>
                  <a:txBody>
                    <a:bodyPr wrap="square"/>
                    <a:lstStyle/>
                    <a:p>
                      <a:r>
                        <a:rPr sz="1000" b="0">
                          <a:latin typeface="Calibri"/>
                        </a:rPr>
                        <a:t>Custos has no signal at all — that is not trust</a:t>
                      </a:r>
                    </a:p>
                  </a:txBody>
                  <a:tcPr marL="50800" marR="50800" marT="25400" marB="25400">
                    <a:solidFill>
                      <a:srgbClr val="F4F6F9"/>
                    </a:solidFill>
                  </a:tcPr>
                </a:tc>
              </a:tr>
              <a:tr h="25400">
                <a:tc>
                  <a:txBody>
                    <a:bodyPr wrap="square"/>
                    <a:lstStyle/>
                    <a:p>
                      <a:r>
                        <a:rPr sz="1000" b="0">
                          <a:latin typeface="Calibri"/>
                        </a:rPr>
                        <a:t>5</a:t>
                      </a:r>
                    </a:p>
                  </a:txBody>
                  <a:tcPr marL="50800" marR="50800" marT="25400" marB="25400">
                    <a:noFill/>
                  </a:tcPr>
                </a:tc>
                <a:tc>
                  <a:txBody>
                    <a:bodyPr wrap="square"/>
                    <a:lstStyle/>
                    <a:p>
                      <a:r>
                        <a:rPr sz="1000" b="0">
                          <a:latin typeface="Calibri"/>
                        </a:rPr>
                        <a:t>trust &lt; 0.60 (review threshold)</a:t>
                      </a:r>
                    </a:p>
                  </a:txBody>
                  <a:tcPr marL="50800" marR="50800" marT="25400" marB="25400">
                    <a:noFill/>
                  </a:tcPr>
                </a:tc>
                <a:tc>
                  <a:txBody>
                    <a:bodyPr wrap="square"/>
                    <a:lstStyle/>
                    <a:p>
                      <a:r>
                        <a:rPr sz="1000" b="0">
                          <a:latin typeface="Calibri"/>
                        </a:rPr>
                        <a:t>REVIEW</a:t>
                      </a:r>
                    </a:p>
                  </a:txBody>
                  <a:tcPr marL="50800" marR="50800" marT="25400" marB="25400">
                    <a:noFill/>
                  </a:tcPr>
                </a:tc>
                <a:tc>
                  <a:txBody>
                    <a:bodyPr wrap="square"/>
                    <a:lstStyle/>
                    <a:p>
                      <a:r>
                        <a:rPr sz="1000" b="0">
                          <a:latin typeface="Calibri"/>
                        </a:rPr>
                        <a:t>Ambiguous; route to a human</a:t>
                      </a:r>
                    </a:p>
                  </a:txBody>
                  <a:tcPr marL="50800" marR="50800" marT="25400" marB="25400">
                    <a:noFill/>
                  </a:tcPr>
                </a:tc>
              </a:tr>
              <a:tr h="25400">
                <a:tc>
                  <a:txBody>
                    <a:bodyPr wrap="square"/>
                    <a:lstStyle/>
                    <a:p>
                      <a:r>
                        <a:rPr sz="1000" b="0">
                          <a:latin typeface="Calibri"/>
                        </a:rPr>
                        <a:t>6</a:t>
                      </a:r>
                    </a:p>
                  </a:txBody>
                  <a:tcPr marL="50800" marR="50800" marT="25400" marB="25400">
                    <a:solidFill>
                      <a:srgbClr val="F4F6F9"/>
                    </a:solidFill>
                  </a:tcPr>
                </a:tc>
                <a:tc>
                  <a:txBody>
                    <a:bodyPr wrap="square"/>
                    <a:lstStyle/>
                    <a:p>
                      <a:r>
                        <a:rPr sz="1000" b="0">
                          <a:latin typeface="Calibri"/>
                        </a:rPr>
                        <a:t>Otherwise</a:t>
                      </a:r>
                    </a:p>
                  </a:txBody>
                  <a:tcPr marL="50800" marR="50800" marT="25400" marB="25400">
                    <a:solidFill>
                      <a:srgbClr val="F4F6F9"/>
                    </a:solidFill>
                  </a:tcPr>
                </a:tc>
                <a:tc>
                  <a:txBody>
                    <a:bodyPr wrap="square"/>
                    <a:lstStyle/>
                    <a:p>
                      <a:r>
                        <a:rPr sz="1000" b="0">
                          <a:latin typeface="Calibri"/>
                        </a:rPr>
                        <a:t>ALLOW</a:t>
                      </a:r>
                    </a:p>
                  </a:txBody>
                  <a:tcPr marL="50800" marR="50800" marT="25400" marB="25400">
                    <a:solidFill>
                      <a:srgbClr val="F4F6F9"/>
                    </a:solidFill>
                  </a:tcPr>
                </a:tc>
                <a:tc>
                  <a:txBody>
                    <a:bodyPr wrap="square"/>
                    <a:lstStyle/>
                    <a:p>
                      <a:r>
                        <a:rPr sz="1000" b="0">
                          <a:latin typeface="Calibri"/>
                        </a:rPr>
                        <a:t>Trust established</a:t>
                      </a:r>
                    </a:p>
                  </a:txBody>
                  <a:tcPr marL="50800" marR="50800" marT="25400" marB="25400">
                    <a:solidFill>
                      <a:srgbClr val="F4F6F9"/>
                    </a:solid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Decision Cascade</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The same matrix as a flow. Each condition is tested in turn; the first one that holds decides, and falling off the end is the only route to ALLOW.</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ecision_flow.png"/>
          <p:cNvPicPr>
            <a:picLocks noChangeAspect="1"/>
          </p:cNvPicPr>
          <p:nvPr/>
        </p:nvPicPr>
        <p:blipFill>
          <a:blip r:embed="rId4"/>
          <a:stretch>
            <a:fillRect/>
          </a:stretch>
        </p:blipFill>
        <p:spPr>
          <a:xfrm>
            <a:off x="1066647" y="2834640"/>
            <a:ext cx="10058400" cy="251460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Data Model</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Seven tables, every one tenant-scoped. Two of them record every decision on purpose: the audit chain is the record of truth but expensive to read honestly, so a denormalised copy exists for the dashboard.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697480"/>
          <a:ext cx="10241279" cy="203200"/>
        </p:xfrm>
        <a:graphic>
          <a:graphicData uri="http://schemas.openxmlformats.org/drawingml/2006/table">
            <a:tbl>
              <a:tblPr firstRow="1">
                <a:tableStyleId>{5C22544A-7EE6-4342-B048-85BDC9FD1C3A}</a:tableStyleId>
              </a:tblPr>
              <a:tblGrid>
                <a:gridCol w="1843430"/>
                <a:gridCol w="4813401"/>
                <a:gridCol w="3584448"/>
              </a:tblGrid>
              <a:tr h="25400">
                <a:tc>
                  <a:txBody>
                    <a:bodyPr wrap="square"/>
                    <a:lstStyle/>
                    <a:p>
                      <a:r>
                        <a:rPr sz="1000" b="1">
                          <a:solidFill>
                            <a:srgbClr val="FFFFFF"/>
                          </a:solidFill>
                          <a:latin typeface="Calibri"/>
                        </a:rPr>
                        <a:t>Table</a:t>
                      </a:r>
                    </a:p>
                  </a:txBody>
                  <a:tcPr marL="50800" marR="50800" marT="25400" marB="25400">
                    <a:solidFill>
                      <a:srgbClr val="1F5CA8"/>
                    </a:solidFill>
                  </a:tcPr>
                </a:tc>
                <a:tc>
                  <a:txBody>
                    <a:bodyPr wrap="square"/>
                    <a:lstStyle/>
                    <a:p>
                      <a:r>
                        <a:rPr sz="1000" b="1">
                          <a:solidFill>
                            <a:srgbClr val="FFFFFF"/>
                          </a:solidFill>
                          <a:latin typeface="Calibri"/>
                        </a:rPr>
                        <a:t>Holds</a:t>
                      </a:r>
                    </a:p>
                  </a:txBody>
                  <a:tcPr marL="50800" marR="50800" marT="25400" marB="25400">
                    <a:solidFill>
                      <a:srgbClr val="1F5CA8"/>
                    </a:solidFill>
                  </a:tcPr>
                </a:tc>
                <a:tc>
                  <a:txBody>
                    <a:bodyPr wrap="square"/>
                    <a:lstStyle/>
                    <a:p>
                      <a:r>
                        <a:rPr sz="1000" b="1">
                          <a:solidFill>
                            <a:srgbClr val="FFFFFF"/>
                          </a:solidFill>
                          <a:latin typeface="Calibri"/>
                        </a:rPr>
                        <a:t>Note</a:t>
                      </a:r>
                    </a:p>
                  </a:txBody>
                  <a:tcPr marL="50800" marR="50800" marT="25400" marB="25400">
                    <a:solidFill>
                      <a:srgbClr val="1F5CA8"/>
                    </a:solidFill>
                  </a:tcPr>
                </a:tc>
              </a:tr>
              <a:tr h="25400">
                <a:tc>
                  <a:txBody>
                    <a:bodyPr wrap="square"/>
                    <a:lstStyle/>
                    <a:p>
                      <a:r>
                        <a:rPr sz="1000" b="0">
                          <a:latin typeface="Calibri"/>
                        </a:rPr>
                        <a:t>tenants</a:t>
                      </a:r>
                    </a:p>
                  </a:txBody>
                  <a:tcPr marL="50800" marR="50800" marT="25400" marB="25400">
                    <a:noFill/>
                  </a:tcPr>
                </a:tc>
                <a:tc>
                  <a:txBody>
                    <a:bodyPr wrap="square"/>
                    <a:lstStyle/>
                    <a:p>
                      <a:r>
                        <a:rPr sz="1000" b="0">
                          <a:latin typeface="Calibri"/>
                        </a:rPr>
                        <a:t>tenant_id, name, SHA-256 of API key, config JSON</a:t>
                      </a:r>
                    </a:p>
                  </a:txBody>
                  <a:tcPr marL="50800" marR="50800" marT="25400" marB="25400">
                    <a:noFill/>
                  </a:tcPr>
                </a:tc>
                <a:tc>
                  <a:txBody>
                    <a:bodyPr wrap="square"/>
                    <a:lstStyle/>
                    <a:p>
                      <a:r>
                        <a:rPr sz="1000" b="0">
                          <a:latin typeface="Calibri"/>
                        </a:rPr>
                        <a:t>The plaintext key is stored nowhere</a:t>
                      </a:r>
                    </a:p>
                  </a:txBody>
                  <a:tcPr marL="50800" marR="50800" marT="25400" marB="25400">
                    <a:noFill/>
                  </a:tcPr>
                </a:tc>
              </a:tr>
              <a:tr h="25400">
                <a:tc>
                  <a:txBody>
                    <a:bodyPr wrap="square"/>
                    <a:lstStyle/>
                    <a:p>
                      <a:r>
                        <a:rPr sz="1000" b="0">
                          <a:latin typeface="Calibri"/>
                        </a:rPr>
                        <a:t>models</a:t>
                      </a:r>
                    </a:p>
                  </a:txBody>
                  <a:tcPr marL="50800" marR="50800" marT="25400" marB="25400">
                    <a:solidFill>
                      <a:srgbClr val="F4F6F9"/>
                    </a:solidFill>
                  </a:tcPr>
                </a:tc>
                <a:tc>
                  <a:txBody>
                    <a:bodyPr wrap="square"/>
                    <a:lstStyle/>
                    <a:p>
                      <a:r>
                        <a:rPr sz="1000" b="0">
                          <a:latin typeface="Calibri"/>
                        </a:rPr>
                        <a:t>registered models and their fixed baseline distribution</a:t>
                      </a:r>
                    </a:p>
                  </a:txBody>
                  <a:tcPr marL="50800" marR="50800" marT="25400" marB="25400">
                    <a:solidFill>
                      <a:srgbClr val="F4F6F9"/>
                    </a:solidFill>
                  </a:tcPr>
                </a:tc>
                <a:tc>
                  <a:txBody>
                    <a:bodyPr wrap="square"/>
                    <a:lstStyle/>
                    <a:p>
                      <a:r>
                        <a:rPr sz="1000" b="0">
                          <a:latin typeface="Calibri"/>
                        </a:rPr>
                        <a:t>Unregistered model_id → REVIEW</a:t>
                      </a:r>
                    </a:p>
                  </a:txBody>
                  <a:tcPr marL="50800" marR="50800" marT="25400" marB="25400">
                    <a:solidFill>
                      <a:srgbClr val="F4F6F9"/>
                    </a:solidFill>
                  </a:tcPr>
                </a:tc>
              </a:tr>
              <a:tr h="25400">
                <a:tc>
                  <a:txBody>
                    <a:bodyPr wrap="square"/>
                    <a:lstStyle/>
                    <a:p>
                      <a:r>
                        <a:rPr sz="1000" b="0">
                          <a:latin typeface="Calibri"/>
                        </a:rPr>
                        <a:t>drift_snapshots</a:t>
                      </a:r>
                    </a:p>
                  </a:txBody>
                  <a:tcPr marL="50800" marR="50800" marT="25400" marB="25400">
                    <a:noFill/>
                  </a:tcPr>
                </a:tc>
                <a:tc>
                  <a:txBody>
                    <a:bodyPr wrap="square"/>
                    <a:lstStyle/>
                    <a:p>
                      <a:r>
                        <a:rPr sz="1000" b="0">
                          <a:latin typeface="Calibri"/>
                        </a:rPr>
                        <a:t>severity + per-feature PSI/KS, computed_at</a:t>
                      </a:r>
                    </a:p>
                  </a:txBody>
                  <a:tcPr marL="50800" marR="50800" marT="25400" marB="25400">
                    <a:noFill/>
                  </a:tcPr>
                </a:tc>
                <a:tc>
                  <a:txBody>
                    <a:bodyPr wrap="square"/>
                    <a:lstStyle/>
                    <a:p>
                      <a:r>
                        <a:rPr sz="1000" b="0">
                          <a:latin typeface="Calibri"/>
                        </a:rPr>
                        <a:t>Written by the worker, read by the gateway</a:t>
                      </a:r>
                    </a:p>
                  </a:txBody>
                  <a:tcPr marL="50800" marR="50800" marT="25400" marB="25400">
                    <a:noFill/>
                  </a:tcPr>
                </a:tc>
              </a:tr>
              <a:tr h="25400">
                <a:tc>
                  <a:txBody>
                    <a:bodyPr wrap="square"/>
                    <a:lstStyle/>
                    <a:p>
                      <a:r>
                        <a:rPr sz="1000" b="0">
                          <a:latin typeface="Calibri"/>
                        </a:rPr>
                        <a:t>feature_samples</a:t>
                      </a:r>
                    </a:p>
                  </a:txBody>
                  <a:tcPr marL="50800" marR="50800" marT="25400" marB="25400">
                    <a:solidFill>
                      <a:srgbClr val="F4F6F9"/>
                    </a:solidFill>
                  </a:tcPr>
                </a:tc>
                <a:tc>
                  <a:txBody>
                    <a:bodyPr wrap="square"/>
                    <a:lstStyle/>
                    <a:p>
                      <a:r>
                        <a:rPr sz="1000" b="0">
                          <a:latin typeface="Calibri"/>
                        </a:rPr>
                        <a:t>raw live feature observations</a:t>
                      </a:r>
                    </a:p>
                  </a:txBody>
                  <a:tcPr marL="50800" marR="50800" marT="25400" marB="25400">
                    <a:solidFill>
                      <a:srgbClr val="F4F6F9"/>
                    </a:solidFill>
                  </a:tcPr>
                </a:tc>
                <a:tc>
                  <a:txBody>
                    <a:bodyPr wrap="square"/>
                    <a:lstStyle/>
                    <a:p>
                      <a:r>
                        <a:rPr sz="1000" b="0">
                          <a:latin typeface="Calibri"/>
                        </a:rPr>
                        <a:t>Append-only; the worker drains it</a:t>
                      </a:r>
                    </a:p>
                  </a:txBody>
                  <a:tcPr marL="50800" marR="50800" marT="25400" marB="25400">
                    <a:solidFill>
                      <a:srgbClr val="F4F6F9"/>
                    </a:solidFill>
                  </a:tcPr>
                </a:tc>
              </a:tr>
              <a:tr h="25400">
                <a:tc>
                  <a:txBody>
                    <a:bodyPr wrap="square"/>
                    <a:lstStyle/>
                    <a:p>
                      <a:r>
                        <a:rPr sz="1000" b="0">
                          <a:latin typeface="Calibri"/>
                        </a:rPr>
                        <a:t>decisions</a:t>
                      </a:r>
                    </a:p>
                  </a:txBody>
                  <a:tcPr marL="50800" marR="50800" marT="25400" marB="25400">
                    <a:noFill/>
                  </a:tcPr>
                </a:tc>
                <a:tc>
                  <a:txBody>
                    <a:bodyPr wrap="square"/>
                    <a:lstStyle/>
                    <a:p>
                      <a:r>
                        <a:rPr sz="1000" b="0">
                          <a:latin typeface="Calibri"/>
                        </a:rPr>
                        <a:t>denormalised verdict stream</a:t>
                      </a:r>
                    </a:p>
                  </a:txBody>
                  <a:tcPr marL="50800" marR="50800" marT="25400" marB="25400">
                    <a:noFill/>
                  </a:tcPr>
                </a:tc>
                <a:tc>
                  <a:txBody>
                    <a:bodyPr wrap="square"/>
                    <a:lstStyle/>
                    <a:p>
                      <a:r>
                        <a:rPr sz="1000" b="0">
                          <a:latin typeface="Calibri"/>
                        </a:rPr>
                        <a:t>So the dashboard is a plain indexed SELECT</a:t>
                      </a:r>
                    </a:p>
                  </a:txBody>
                  <a:tcPr marL="50800" marR="50800" marT="25400" marB="25400">
                    <a:noFill/>
                  </a:tcPr>
                </a:tc>
              </a:tr>
              <a:tr h="25400">
                <a:tc>
                  <a:txBody>
                    <a:bodyPr wrap="square"/>
                    <a:lstStyle/>
                    <a:p>
                      <a:r>
                        <a:rPr sz="1000" b="0">
                          <a:latin typeface="Calibri"/>
                        </a:rPr>
                        <a:t>audit_entries</a:t>
                      </a:r>
                    </a:p>
                  </a:txBody>
                  <a:tcPr marL="50800" marR="50800" marT="25400" marB="25400">
                    <a:solidFill>
                      <a:srgbClr val="F4F6F9"/>
                    </a:solidFill>
                  </a:tcPr>
                </a:tc>
                <a:tc>
                  <a:txBody>
                    <a:bodyPr wrap="square"/>
                    <a:lstStyle/>
                    <a:p>
                      <a:r>
                        <a:rPr sz="1000" b="0">
                          <a:latin typeface="Calibri"/>
                        </a:rPr>
                        <a:t>seq, prev_hash, entry_hash, payload</a:t>
                      </a:r>
                    </a:p>
                  </a:txBody>
                  <a:tcPr marL="50800" marR="50800" marT="25400" marB="25400">
                    <a:solidFill>
                      <a:srgbClr val="F4F6F9"/>
                    </a:solidFill>
                  </a:tcPr>
                </a:tc>
                <a:tc>
                  <a:txBody>
                    <a:bodyPr wrap="square"/>
                    <a:lstStyle/>
                    <a:p>
                      <a:r>
                        <a:rPr sz="1000" b="0">
                          <a:latin typeface="Calibri"/>
                        </a:rPr>
                        <a:t>The record of truth; verified, not just read</a:t>
                      </a:r>
                    </a:p>
                  </a:txBody>
                  <a:tcPr marL="50800" marR="50800" marT="25400" marB="25400">
                    <a:solidFill>
                      <a:srgbClr val="F4F6F9"/>
                    </a:solidFill>
                  </a:tcPr>
                </a:tc>
              </a:tr>
              <a:tr h="25400">
                <a:tc>
                  <a:txBody>
                    <a:bodyPr wrap="square"/>
                    <a:lstStyle/>
                    <a:p>
                      <a:r>
                        <a:rPr sz="1000" b="0">
                          <a:latin typeface="Calibri"/>
                        </a:rPr>
                        <a:t>policy_rules</a:t>
                      </a:r>
                    </a:p>
                  </a:txBody>
                  <a:tcPr marL="50800" marR="50800" marT="25400" marB="25400">
                    <a:noFill/>
                  </a:tcPr>
                </a:tc>
                <a:tc>
                  <a:txBody>
                    <a:bodyPr wrap="square"/>
                    <a:lstStyle/>
                    <a:p>
                      <a:r>
                        <a:rPr sz="1000" b="0">
                          <a:latin typeface="Calibri"/>
                        </a:rPr>
                        <a:t>tenant-authored rules and their action</a:t>
                      </a:r>
                    </a:p>
                  </a:txBody>
                  <a:tcPr marL="50800" marR="50800" marT="25400" marB="25400">
                    <a:noFill/>
                  </a:tcPr>
                </a:tc>
                <a:tc>
                  <a:txBody>
                    <a:bodyPr wrap="square"/>
                    <a:lstStyle/>
                    <a:p>
                      <a:r>
                        <a:rPr sz="1000" b="0">
                          <a:latin typeface="Calibri"/>
                        </a:rPr>
                        <a:t>Validated at write time, never at decision time</a:t>
                      </a:r>
                    </a:p>
                  </a:txBody>
                  <a:tcPr marL="50800" marR="50800" marT="25400" marB="254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Key Design Decisions (ADRs)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Every irreversible decision is recorded as an Architecture Decision Record with its context, the decision, and the consequence accepted.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560320"/>
          <a:ext cx="10241279" cy="152400"/>
        </p:xfrm>
        <a:graphic>
          <a:graphicData uri="http://schemas.openxmlformats.org/drawingml/2006/table">
            <a:tbl>
              <a:tblPr firstRow="1">
                <a:tableStyleId>{5C22544A-7EE6-4342-B048-85BDC9FD1C3A}</a:tableStyleId>
              </a:tblPr>
              <a:tblGrid>
                <a:gridCol w="819302"/>
                <a:gridCol w="4301337"/>
                <a:gridCol w="5120640"/>
              </a:tblGrid>
              <a:tr h="25400">
                <a:tc>
                  <a:txBody>
                    <a:bodyPr wrap="square"/>
                    <a:lstStyle/>
                    <a:p>
                      <a:r>
                        <a:rPr sz="1000" b="1">
                          <a:solidFill>
                            <a:srgbClr val="FFFFFF"/>
                          </a:solidFill>
                          <a:latin typeface="Calibri"/>
                        </a:rPr>
                        <a:t>ADR</a:t>
                      </a:r>
                    </a:p>
                  </a:txBody>
                  <a:tcPr marL="50800" marR="50800" marT="25400" marB="25400">
                    <a:solidFill>
                      <a:srgbClr val="1F5CA8"/>
                    </a:solidFill>
                  </a:tcPr>
                </a:tc>
                <a:tc>
                  <a:txBody>
                    <a:bodyPr wrap="square"/>
                    <a:lstStyle/>
                    <a:p>
                      <a:r>
                        <a:rPr sz="1000" b="1">
                          <a:solidFill>
                            <a:srgbClr val="FFFFFF"/>
                          </a:solidFill>
                          <a:latin typeface="Calibri"/>
                        </a:rPr>
                        <a:t>Decision</a:t>
                      </a:r>
                    </a:p>
                  </a:txBody>
                  <a:tcPr marL="50800" marR="50800" marT="25400" marB="25400">
                    <a:solidFill>
                      <a:srgbClr val="1F5CA8"/>
                    </a:solidFill>
                  </a:tcPr>
                </a:tc>
                <a:tc>
                  <a:txBody>
                    <a:bodyPr wrap="square"/>
                    <a:lstStyle/>
                    <a:p>
                      <a:r>
                        <a:rPr sz="1000" b="1">
                          <a:solidFill>
                            <a:srgbClr val="FFFFFF"/>
                          </a:solidFill>
                          <a:latin typeface="Calibri"/>
                        </a:rPr>
                        <a:t>Consequence accepted</a:t>
                      </a:r>
                    </a:p>
                  </a:txBody>
                  <a:tcPr marL="50800" marR="50800" marT="25400" marB="25400">
                    <a:solidFill>
                      <a:srgbClr val="1F5CA8"/>
                    </a:solidFill>
                  </a:tcPr>
                </a:tc>
              </a:tr>
              <a:tr h="25400">
                <a:tc>
                  <a:txBody>
                    <a:bodyPr wrap="square"/>
                    <a:lstStyle/>
                    <a:p>
                      <a:r>
                        <a:rPr sz="1000" b="0">
                          <a:latin typeface="Calibri"/>
                        </a:rPr>
                        <a:t>0001</a:t>
                      </a:r>
                    </a:p>
                  </a:txBody>
                  <a:tcPr marL="50800" marR="50800" marT="25400" marB="25400">
                    <a:noFill/>
                  </a:tcPr>
                </a:tc>
                <a:tc>
                  <a:txBody>
                    <a:bodyPr wrap="square"/>
                    <a:lstStyle/>
                    <a:p>
                      <a:r>
                        <a:rPr sz="1000" b="0">
                          <a:latin typeface="Calibri"/>
                        </a:rPr>
                        <a:t>Fail open by default when Custos cannot reach a verdict</a:t>
                      </a:r>
                    </a:p>
                  </a:txBody>
                  <a:tcPr marL="50800" marR="50800" marT="25400" marB="25400">
                    <a:noFill/>
                  </a:tcPr>
                </a:tc>
                <a:tc>
                  <a:txBody>
                    <a:bodyPr wrap="square"/>
                    <a:lstStyle/>
                    <a:p>
                      <a:r>
                        <a:rPr sz="1000" b="0">
                          <a:latin typeface="Calibri"/>
                        </a:rPr>
                        <a:t>Availability of the caller is prioritised over strict enforcement; overridable per tenant</a:t>
                      </a:r>
                    </a:p>
                  </a:txBody>
                  <a:tcPr marL="50800" marR="50800" marT="25400" marB="25400">
                    <a:noFill/>
                  </a:tcPr>
                </a:tc>
              </a:tr>
              <a:tr h="25400">
                <a:tc>
                  <a:txBody>
                    <a:bodyPr wrap="square"/>
                    <a:lstStyle/>
                    <a:p>
                      <a:r>
                        <a:rPr sz="1000" b="0">
                          <a:latin typeface="Calibri"/>
                        </a:rPr>
                        <a:t>0002</a:t>
                      </a:r>
                    </a:p>
                  </a:txBody>
                  <a:tcPr marL="50800" marR="50800" marT="25400" marB="25400">
                    <a:solidFill>
                      <a:srgbClr val="F4F6F9"/>
                    </a:solidFill>
                  </a:tcPr>
                </a:tc>
                <a:tc>
                  <a:txBody>
                    <a:bodyPr wrap="square"/>
                    <a:lstStyle/>
                    <a:p>
                      <a:r>
                        <a:rPr sz="1000" b="0">
                          <a:latin typeface="Calibri"/>
                        </a:rPr>
                        <a:t>Drift severity is computed offline and read at request time</a:t>
                      </a:r>
                    </a:p>
                  </a:txBody>
                  <a:tcPr marL="50800" marR="50800" marT="25400" marB="25400">
                    <a:solidFill>
                      <a:srgbClr val="F4F6F9"/>
                    </a:solidFill>
                  </a:tcPr>
                </a:tc>
                <a:tc>
                  <a:txBody>
                    <a:bodyPr wrap="square"/>
                    <a:lstStyle/>
                    <a:p>
                      <a:r>
                        <a:rPr sz="1000" b="0">
                          <a:latin typeface="Calibri"/>
                        </a:rPr>
                        <a:t>The signal can lag by up to one recompute interval — the price of a 50 ms budget</a:t>
                      </a:r>
                    </a:p>
                  </a:txBody>
                  <a:tcPr marL="50800" marR="50800" marT="25400" marB="25400">
                    <a:solidFill>
                      <a:srgbClr val="F4F6F9"/>
                    </a:solidFill>
                  </a:tcPr>
                </a:tc>
              </a:tr>
              <a:tr h="25400">
                <a:tc>
                  <a:txBody>
                    <a:bodyPr wrap="square"/>
                    <a:lstStyle/>
                    <a:p>
                      <a:r>
                        <a:rPr sz="1000" b="0">
                          <a:latin typeface="Calibri"/>
                        </a:rPr>
                        <a:t>0003</a:t>
                      </a:r>
                    </a:p>
                  </a:txBody>
                  <a:tcPr marL="50800" marR="50800" marT="25400" marB="25400">
                    <a:noFill/>
                  </a:tcPr>
                </a:tc>
                <a:tc>
                  <a:txBody>
                    <a:bodyPr wrap="square"/>
                    <a:lstStyle/>
                    <a:p>
                      <a:r>
                        <a:rPr sz="1000" b="0">
                          <a:latin typeface="Calibri"/>
                        </a:rPr>
                        <a:t>Monorepo for services, shared contracts, SDK and dashboard</a:t>
                      </a:r>
                    </a:p>
                  </a:txBody>
                  <a:tcPr marL="50800" marR="50800" marT="25400" marB="25400">
                    <a:noFill/>
                  </a:tcPr>
                </a:tc>
                <a:tc>
                  <a:txBody>
                    <a:bodyPr wrap="square"/>
                    <a:lstStyle/>
                    <a:p>
                      <a:r>
                        <a:rPr sz="1000" b="0">
                          <a:latin typeface="Calibri"/>
                        </a:rPr>
                        <a:t>Shared type changes stay atomic; split when deploy cadences diverge</a:t>
                      </a:r>
                    </a:p>
                  </a:txBody>
                  <a:tcPr marL="50800" marR="50800" marT="25400" marB="25400">
                    <a:noFill/>
                  </a:tcPr>
                </a:tc>
              </a:tr>
              <a:tr h="25400">
                <a:tc>
                  <a:txBody>
                    <a:bodyPr wrap="square"/>
                    <a:lstStyle/>
                    <a:p>
                      <a:r>
                        <a:rPr sz="1000" b="0">
                          <a:latin typeface="Calibri"/>
                        </a:rPr>
                        <a:t>0004</a:t>
                      </a:r>
                    </a:p>
                  </a:txBody>
                  <a:tcPr marL="50800" marR="50800" marT="25400" marB="25400">
                    <a:solidFill>
                      <a:srgbClr val="F4F6F9"/>
                    </a:solidFill>
                  </a:tcPr>
                </a:tc>
                <a:tc>
                  <a:txBody>
                    <a:bodyPr wrap="square"/>
                    <a:lstStyle/>
                    <a:p>
                      <a:r>
                        <a:rPr sz="1000" b="0">
                          <a:latin typeface="Calibri"/>
                        </a:rPr>
                        <a:t>Missing drift severity means degraded trust, not BLOCK</a:t>
                      </a:r>
                    </a:p>
                  </a:txBody>
                  <a:tcPr marL="50800" marR="50800" marT="25400" marB="25400">
                    <a:solidFill>
                      <a:srgbClr val="F4F6F9"/>
                    </a:solidFill>
                  </a:tcPr>
                </a:tc>
                <a:tc>
                  <a:txBody>
                    <a:bodyPr wrap="square"/>
                    <a:lstStyle/>
                    <a:p>
                      <a:r>
                        <a:rPr sz="1000" b="0">
                          <a:latin typeface="Calibri"/>
                        </a:rPr>
                        <a:t>New models are not blocked for lacking a baseline, and the gap stays visible</a:t>
                      </a:r>
                    </a:p>
                  </a:txBody>
                  <a:tcPr marL="50800" marR="50800" marT="25400" marB="25400">
                    <a:solidFill>
                      <a:srgbClr val="F4F6F9"/>
                    </a:solidFill>
                  </a:tcPr>
                </a:tc>
              </a:tr>
              <a:tr h="25400">
                <a:tc>
                  <a:txBody>
                    <a:bodyPr wrap="square"/>
                    <a:lstStyle/>
                    <a:p>
                      <a:r>
                        <a:rPr sz="1000" b="0">
                          <a:latin typeface="Calibri"/>
                        </a:rPr>
                        <a:t>0005</a:t>
                      </a:r>
                    </a:p>
                  </a:txBody>
                  <a:tcPr marL="50800" marR="50800" marT="25400" marB="25400">
                    <a:noFill/>
                  </a:tcPr>
                </a:tc>
                <a:tc>
                  <a:txBody>
                    <a:bodyPr wrap="square"/>
                    <a:lstStyle/>
                    <a:p>
                      <a:r>
                        <a:rPr sz="1000" b="0">
                          <a:latin typeface="Calibri"/>
                        </a:rPr>
                        <a:t>Unknown model_id routes to REVIEW, not ALLOW or BLOCK</a:t>
                      </a:r>
                    </a:p>
                  </a:txBody>
                  <a:tcPr marL="50800" marR="50800" marT="25400" marB="25400">
                    <a:noFill/>
                  </a:tcPr>
                </a:tc>
                <a:tc>
                  <a:txBody>
                    <a:bodyPr wrap="square"/>
                    <a:lstStyle/>
                    <a:p>
                      <a:r>
                        <a:rPr sz="1000" b="0">
                          <a:latin typeface="Calibri"/>
                        </a:rPr>
                        <a:t>Forces operator visibility the first time a model appears unregistered</a:t>
                      </a:r>
                    </a:p>
                  </a:txBody>
                  <a:tcPr marL="50800" marR="50800" marT="25400" marB="254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Module Status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Ten of twelve components are complete and exercised end to end. The remaining two are deliberate: the risk engine is a wired seam, and the sidecar proxy is Review-2 scope.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560320"/>
          <a:ext cx="10241278" cy="330200"/>
        </p:xfrm>
        <a:graphic>
          <a:graphicData uri="http://schemas.openxmlformats.org/drawingml/2006/table">
            <a:tbl>
              <a:tblPr firstRow="1">
                <a:tableStyleId>{5C22544A-7EE6-4342-B048-85BDC9FD1C3A}</a:tableStyleId>
              </a:tblPr>
              <a:tblGrid>
                <a:gridCol w="1741017"/>
                <a:gridCol w="3379622"/>
                <a:gridCol w="1228953"/>
                <a:gridCol w="3891686"/>
              </a:tblGrid>
              <a:tr h="25400">
                <a:tc>
                  <a:txBody>
                    <a:bodyPr wrap="square"/>
                    <a:lstStyle/>
                    <a:p>
                      <a:r>
                        <a:rPr sz="900" b="1">
                          <a:solidFill>
                            <a:srgbClr val="FFFFFF"/>
                          </a:solidFill>
                          <a:latin typeface="Calibri"/>
                        </a:rPr>
                        <a:t>Component</a:t>
                      </a:r>
                    </a:p>
                  </a:txBody>
                  <a:tcPr marL="50800" marR="50800" marT="25400" marB="25400">
                    <a:solidFill>
                      <a:srgbClr val="1F5CA8"/>
                    </a:solidFill>
                  </a:tcPr>
                </a:tc>
                <a:tc>
                  <a:txBody>
                    <a:bodyPr wrap="square"/>
                    <a:lstStyle/>
                    <a:p>
                      <a:r>
                        <a:rPr sz="900" b="1">
                          <a:solidFill>
                            <a:srgbClr val="FFFFFF"/>
                          </a:solidFill>
                          <a:latin typeface="Calibri"/>
                        </a:rPr>
                        <a:t>Modules</a:t>
                      </a:r>
                    </a:p>
                  </a:txBody>
                  <a:tcPr marL="50800" marR="50800" marT="25400" marB="25400">
                    <a:solidFill>
                      <a:srgbClr val="1F5CA8"/>
                    </a:solidFill>
                  </a:tcPr>
                </a:tc>
                <a:tc>
                  <a:txBody>
                    <a:bodyPr wrap="square"/>
                    <a:lstStyle/>
                    <a:p>
                      <a:r>
                        <a:rPr sz="900" b="1">
                          <a:solidFill>
                            <a:srgbClr val="FFFFFF"/>
                          </a:solidFill>
                          <a:latin typeface="Calibri"/>
                        </a:rPr>
                        <a:t>Status</a:t>
                      </a:r>
                    </a:p>
                  </a:txBody>
                  <a:tcPr marL="50800" marR="50800" marT="25400" marB="25400">
                    <a:solidFill>
                      <a:srgbClr val="1F5CA8"/>
                    </a:solidFill>
                  </a:tcPr>
                </a:tc>
                <a:tc>
                  <a:txBody>
                    <a:bodyPr wrap="square"/>
                    <a:lstStyle/>
                    <a:p>
                      <a:r>
                        <a:rPr sz="900" b="1">
                          <a:solidFill>
                            <a:srgbClr val="FFFFFF"/>
                          </a:solidFill>
                          <a:latin typeface="Calibri"/>
                        </a:rPr>
                        <a:t>Evidence</a:t>
                      </a:r>
                    </a:p>
                  </a:txBody>
                  <a:tcPr marL="50800" marR="50800" marT="25400" marB="25400">
                    <a:solidFill>
                      <a:srgbClr val="1F5CA8"/>
                    </a:solidFill>
                  </a:tcPr>
                </a:tc>
              </a:tr>
              <a:tr h="25400">
                <a:tc>
                  <a:txBody>
                    <a:bodyPr wrap="square"/>
                    <a:lstStyle/>
                    <a:p>
                      <a:r>
                        <a:rPr sz="900" b="0">
                          <a:latin typeface="Calibri"/>
                        </a:rPr>
                        <a:t>Contract layer</a:t>
                      </a:r>
                    </a:p>
                  </a:txBody>
                  <a:tcPr marL="50800" marR="50800" marT="25400" marB="25400">
                    <a:noFill/>
                  </a:tcPr>
                </a:tc>
                <a:tc>
                  <a:txBody>
                    <a:bodyPr wrap="square"/>
                    <a:lstStyle/>
                    <a:p>
                      <a:r>
                        <a:rPr sz="900" b="0">
                          <a:latin typeface="Calibri"/>
                        </a:rPr>
                        <a:t>schemas, ORM, migrations, cache, config, telemetry</a:t>
                      </a:r>
                    </a:p>
                  </a:txBody>
                  <a:tcPr marL="50800" marR="50800" marT="25400" marB="25400">
                    <a:noFill/>
                  </a:tcPr>
                </a:tc>
                <a:tc>
                  <a:txBody>
                    <a:bodyPr wrap="square"/>
                    <a:lstStyle/>
                    <a:p>
                      <a:r>
                        <a:rPr sz="900" b="0">
                          <a:latin typeface="Calibri"/>
                        </a:rPr>
                        <a:t>Complete</a:t>
                      </a:r>
                    </a:p>
                  </a:txBody>
                  <a:tcPr marL="50800" marR="50800" marT="25400" marB="25400">
                    <a:noFill/>
                  </a:tcPr>
                </a:tc>
                <a:tc>
                  <a:txBody>
                    <a:bodyPr wrap="square"/>
                    <a:lstStyle/>
                    <a:p>
                      <a:r>
                        <a:rPr sz="900" b="0">
                          <a:latin typeface="Calibri"/>
                        </a:rPr>
                        <a:t>Alembic migration applies; 7 tables created</a:t>
                      </a:r>
                    </a:p>
                  </a:txBody>
                  <a:tcPr marL="50800" marR="50800" marT="25400" marB="25400">
                    <a:noFill/>
                  </a:tcPr>
                </a:tc>
              </a:tr>
              <a:tr h="25400">
                <a:tc>
                  <a:txBody>
                    <a:bodyPr wrap="square"/>
                    <a:lstStyle/>
                    <a:p>
                      <a:r>
                        <a:rPr sz="900" b="0">
                          <a:latin typeface="Calibri"/>
                        </a:rPr>
                        <a:t>Drift engine</a:t>
                      </a:r>
                    </a:p>
                  </a:txBody>
                  <a:tcPr marL="50800" marR="50800" marT="25400" marB="25400">
                    <a:solidFill>
                      <a:srgbClr val="F4F6F9"/>
                    </a:solidFill>
                  </a:tcPr>
                </a:tc>
                <a:tc>
                  <a:txBody>
                    <a:bodyPr wrap="square"/>
                    <a:lstStyle/>
                    <a:p>
                      <a:r>
                        <a:rPr sz="900" b="0">
                          <a:latin typeface="Calibri"/>
                        </a:rPr>
                        <a:t>detectors, severity, worker, hot-path engine</a:t>
                      </a:r>
                    </a:p>
                  </a:txBody>
                  <a:tcPr marL="50800" marR="50800" marT="25400" marB="25400">
                    <a:solidFill>
                      <a:srgbClr val="F4F6F9"/>
                    </a:solidFill>
                  </a:tcPr>
                </a:tc>
                <a:tc>
                  <a:txBody>
                    <a:bodyPr wrap="square"/>
                    <a:lstStyle/>
                    <a:p>
                      <a:r>
                        <a:rPr sz="900" b="0">
                          <a:latin typeface="Calibri"/>
                        </a:rPr>
                        <a:t>Complete</a:t>
                      </a:r>
                    </a:p>
                  </a:txBody>
                  <a:tcPr marL="50800" marR="50800" marT="25400" marB="25400">
                    <a:solidFill>
                      <a:srgbClr val="F4F6F9"/>
                    </a:solidFill>
                  </a:tcPr>
                </a:tc>
                <a:tc>
                  <a:txBody>
                    <a:bodyPr wrap="square"/>
                    <a:lstStyle/>
                    <a:p>
                      <a:r>
                        <a:rPr sz="900" b="0">
                          <a:latin typeface="Calibri"/>
                        </a:rPr>
                        <a:t>43 unit tests incl. hand-computed golden values</a:t>
                      </a:r>
                    </a:p>
                  </a:txBody>
                  <a:tcPr marL="50800" marR="50800" marT="25400" marB="25400">
                    <a:solidFill>
                      <a:srgbClr val="F4F6F9"/>
                    </a:solidFill>
                  </a:tcPr>
                </a:tc>
              </a:tr>
              <a:tr h="25400">
                <a:tc>
                  <a:txBody>
                    <a:bodyPr wrap="square"/>
                    <a:lstStyle/>
                    <a:p>
                      <a:r>
                        <a:rPr sz="900" b="0">
                          <a:latin typeface="Calibri"/>
                        </a:rPr>
                        <a:t>Policy engine</a:t>
                      </a:r>
                    </a:p>
                  </a:txBody>
                  <a:tcPr marL="50800" marR="50800" marT="25400" marB="25400">
                    <a:noFill/>
                  </a:tcPr>
                </a:tc>
                <a:tc>
                  <a:txBody>
                    <a:bodyPr wrap="square"/>
                    <a:lstStyle/>
                    <a:p>
                      <a:r>
                        <a:rPr sz="900" b="0">
                          <a:latin typeface="Calibri"/>
                        </a:rPr>
                        <a:t>grammar, parser, AST evaluator, veto handling</a:t>
                      </a:r>
                    </a:p>
                  </a:txBody>
                  <a:tcPr marL="50800" marR="50800" marT="25400" marB="25400">
                    <a:noFill/>
                  </a:tcPr>
                </a:tc>
                <a:tc>
                  <a:txBody>
                    <a:bodyPr wrap="square"/>
                    <a:lstStyle/>
                    <a:p>
                      <a:r>
                        <a:rPr sz="900" b="0">
                          <a:latin typeface="Calibri"/>
                        </a:rPr>
                        <a:t>Complete</a:t>
                      </a:r>
                    </a:p>
                  </a:txBody>
                  <a:tcPr marL="50800" marR="50800" marT="25400" marB="25400">
                    <a:noFill/>
                  </a:tcPr>
                </a:tc>
                <a:tc>
                  <a:txBody>
                    <a:bodyPr wrap="square"/>
                    <a:lstStyle/>
                    <a:p>
                      <a:r>
                        <a:rPr sz="900" b="0">
                          <a:latin typeface="Calibri"/>
                        </a:rPr>
                        <a:t>Truth table + injection attempts rejected</a:t>
                      </a:r>
                    </a:p>
                  </a:txBody>
                  <a:tcPr marL="50800" marR="50800" marT="25400" marB="25400">
                    <a:noFill/>
                  </a:tcPr>
                </a:tc>
              </a:tr>
              <a:tr h="25400">
                <a:tc>
                  <a:txBody>
                    <a:bodyPr wrap="square"/>
                    <a:lstStyle/>
                    <a:p>
                      <a:r>
                        <a:rPr sz="900" b="0">
                          <a:latin typeface="Calibri"/>
                        </a:rPr>
                        <a:t>Trust engine</a:t>
                      </a:r>
                    </a:p>
                  </a:txBody>
                  <a:tcPr marL="50800" marR="50800" marT="25400" marB="25400">
                    <a:solidFill>
                      <a:srgbClr val="F4F6F9"/>
                    </a:solidFill>
                  </a:tcPr>
                </a:tc>
                <a:tc>
                  <a:txBody>
                    <a:bodyPr wrap="square"/>
                    <a:lstStyle/>
                    <a:p>
                      <a:r>
                        <a:rPr sz="900" b="0">
                          <a:latin typeface="Calibri"/>
                        </a:rPr>
                        <a:t>fan-out, timeouts, fusion, decision matrix</a:t>
                      </a:r>
                    </a:p>
                  </a:txBody>
                  <a:tcPr marL="50800" marR="50800" marT="25400" marB="25400">
                    <a:solidFill>
                      <a:srgbClr val="F4F6F9"/>
                    </a:solidFill>
                  </a:tcPr>
                </a:tc>
                <a:tc>
                  <a:txBody>
                    <a:bodyPr wrap="square"/>
                    <a:lstStyle/>
                    <a:p>
                      <a:r>
                        <a:rPr sz="900" b="0">
                          <a:latin typeface="Calibri"/>
                        </a:rPr>
                        <a:t>Complete</a:t>
                      </a:r>
                    </a:p>
                  </a:txBody>
                  <a:tcPr marL="50800" marR="50800" marT="25400" marB="25400">
                    <a:solidFill>
                      <a:srgbClr val="F4F6F9"/>
                    </a:solidFill>
                  </a:tcPr>
                </a:tc>
                <a:tc>
                  <a:txBody>
                    <a:bodyPr wrap="square"/>
                    <a:lstStyle/>
                    <a:p>
                      <a:r>
                        <a:rPr sz="900" b="0">
                          <a:latin typeface="Calibri"/>
                        </a:rPr>
                        <a:t>Every matrix row and its precedence tested</a:t>
                      </a:r>
                    </a:p>
                  </a:txBody>
                  <a:tcPr marL="50800" marR="50800" marT="25400" marB="25400">
                    <a:solidFill>
                      <a:srgbClr val="F4F6F9"/>
                    </a:solidFill>
                  </a:tcPr>
                </a:tc>
              </a:tr>
              <a:tr h="25400">
                <a:tc>
                  <a:txBody>
                    <a:bodyPr wrap="square"/>
                    <a:lstStyle/>
                    <a:p>
                      <a:r>
                        <a:rPr sz="900" b="0">
                          <a:latin typeface="Calibri"/>
                        </a:rPr>
                        <a:t>Audit chain</a:t>
                      </a:r>
                    </a:p>
                  </a:txBody>
                  <a:tcPr marL="50800" marR="50800" marT="25400" marB="25400">
                    <a:noFill/>
                  </a:tcPr>
                </a:tc>
                <a:tc>
                  <a:txBody>
                    <a:bodyPr wrap="square"/>
                    <a:lstStyle/>
                    <a:p>
                      <a:r>
                        <a:rPr sz="900" b="0">
                          <a:latin typeface="Calibri"/>
                        </a:rPr>
                        <a:t>hash chain, verification, streamed export</a:t>
                      </a:r>
                    </a:p>
                  </a:txBody>
                  <a:tcPr marL="50800" marR="50800" marT="25400" marB="25400">
                    <a:noFill/>
                  </a:tcPr>
                </a:tc>
                <a:tc>
                  <a:txBody>
                    <a:bodyPr wrap="square"/>
                    <a:lstStyle/>
                    <a:p>
                      <a:r>
                        <a:rPr sz="900" b="0">
                          <a:latin typeface="Calibri"/>
                        </a:rPr>
                        <a:t>Complete</a:t>
                      </a:r>
                    </a:p>
                  </a:txBody>
                  <a:tcPr marL="50800" marR="50800" marT="25400" marB="25400">
                    <a:noFill/>
                  </a:tcPr>
                </a:tc>
                <a:tc>
                  <a:txBody>
                    <a:bodyPr wrap="square"/>
                    <a:lstStyle/>
                    <a:p>
                      <a:r>
                        <a:rPr sz="900" b="0">
                          <a:latin typeface="Calibri"/>
                        </a:rPr>
                        <a:t>Tamper localised to the exact entry</a:t>
                      </a:r>
                    </a:p>
                  </a:txBody>
                  <a:tcPr marL="50800" marR="50800" marT="25400" marB="25400">
                    <a:noFill/>
                  </a:tcPr>
                </a:tc>
              </a:tr>
              <a:tr h="25400">
                <a:tc>
                  <a:txBody>
                    <a:bodyPr wrap="square"/>
                    <a:lstStyle/>
                    <a:p>
                      <a:r>
                        <a:rPr sz="900" b="0">
                          <a:latin typeface="Calibri"/>
                        </a:rPr>
                        <a:t>Gateway</a:t>
                      </a:r>
                    </a:p>
                  </a:txBody>
                  <a:tcPr marL="50800" marR="50800" marT="25400" marB="25400">
                    <a:solidFill>
                      <a:srgbClr val="F4F6F9"/>
                    </a:solidFill>
                  </a:tcPr>
                </a:tc>
                <a:tc>
                  <a:txBody>
                    <a:bodyPr wrap="square"/>
                    <a:lstStyle/>
                    <a:p>
                      <a:r>
                        <a:rPr sz="900" b="0">
                          <a:latin typeface="Calibri"/>
                        </a:rPr>
                        <a:t>/v1/evaluate, /health, /metrics, middleware</a:t>
                      </a:r>
                    </a:p>
                  </a:txBody>
                  <a:tcPr marL="50800" marR="50800" marT="25400" marB="25400">
                    <a:solidFill>
                      <a:srgbClr val="F4F6F9"/>
                    </a:solidFill>
                  </a:tcPr>
                </a:tc>
                <a:tc>
                  <a:txBody>
                    <a:bodyPr wrap="square"/>
                    <a:lstStyle/>
                    <a:p>
                      <a:r>
                        <a:rPr sz="900" b="0">
                          <a:latin typeface="Calibri"/>
                        </a:rPr>
                        <a:t>Complete</a:t>
                      </a:r>
                    </a:p>
                  </a:txBody>
                  <a:tcPr marL="50800" marR="50800" marT="25400" marB="25400">
                    <a:solidFill>
                      <a:srgbClr val="F4F6F9"/>
                    </a:solidFill>
                  </a:tcPr>
                </a:tc>
                <a:tc>
                  <a:txBody>
                    <a:bodyPr wrap="square"/>
                    <a:lstStyle/>
                    <a:p>
                      <a:r>
                        <a:rPr sz="900" b="0">
                          <a:latin typeface="Calibri"/>
                        </a:rPr>
                        <a:t>Integration suite green</a:t>
                      </a:r>
                    </a:p>
                  </a:txBody>
                  <a:tcPr marL="50800" marR="50800" marT="25400" marB="25400">
                    <a:solidFill>
                      <a:srgbClr val="F4F6F9"/>
                    </a:solidFill>
                  </a:tcPr>
                </a:tc>
              </a:tr>
              <a:tr h="25400">
                <a:tc>
                  <a:txBody>
                    <a:bodyPr wrap="square"/>
                    <a:lstStyle/>
                    <a:p>
                      <a:r>
                        <a:rPr sz="900" b="0">
                          <a:latin typeface="Calibri"/>
                        </a:rPr>
                        <a:t>Control plane</a:t>
                      </a:r>
                    </a:p>
                  </a:txBody>
                  <a:tcPr marL="50800" marR="50800" marT="25400" marB="25400">
                    <a:noFill/>
                  </a:tcPr>
                </a:tc>
                <a:tc>
                  <a:txBody>
                    <a:bodyPr wrap="square"/>
                    <a:lstStyle/>
                    <a:p>
                      <a:r>
                        <a:rPr sz="900" b="0">
                          <a:latin typeface="Calibri"/>
                        </a:rPr>
                        <a:t>14 endpoints across 5 route modules</a:t>
                      </a:r>
                    </a:p>
                  </a:txBody>
                  <a:tcPr marL="50800" marR="50800" marT="25400" marB="25400">
                    <a:noFill/>
                  </a:tcPr>
                </a:tc>
                <a:tc>
                  <a:txBody>
                    <a:bodyPr wrap="square"/>
                    <a:lstStyle/>
                    <a:p>
                      <a:r>
                        <a:rPr sz="900" b="0">
                          <a:latin typeface="Calibri"/>
                        </a:rPr>
                        <a:t>Complete</a:t>
                      </a:r>
                    </a:p>
                  </a:txBody>
                  <a:tcPr marL="50800" marR="50800" marT="25400" marB="25400">
                    <a:noFill/>
                  </a:tcPr>
                </a:tc>
                <a:tc>
                  <a:txBody>
                    <a:bodyPr wrap="square"/>
                    <a:lstStyle/>
                    <a:p>
                      <a:r>
                        <a:rPr sz="900" b="0">
                          <a:latin typeface="Calibri"/>
                        </a:rPr>
                        <a:t>Full lifecycle exercised end to end</a:t>
                      </a:r>
                    </a:p>
                  </a:txBody>
                  <a:tcPr marL="50800" marR="50800" marT="25400" marB="25400">
                    <a:noFill/>
                  </a:tcPr>
                </a:tc>
              </a:tr>
              <a:tr h="25400">
                <a:tc>
                  <a:txBody>
                    <a:bodyPr wrap="square"/>
                    <a:lstStyle/>
                    <a:p>
                      <a:r>
                        <a:rPr sz="900" b="0">
                          <a:latin typeface="Calibri"/>
                        </a:rPr>
                        <a:t>Python SDK</a:t>
                      </a:r>
                    </a:p>
                  </a:txBody>
                  <a:tcPr marL="50800" marR="50800" marT="25400" marB="25400">
                    <a:solidFill>
                      <a:srgbClr val="F4F6F9"/>
                    </a:solidFill>
                  </a:tcPr>
                </a:tc>
                <a:tc>
                  <a:txBody>
                    <a:bodyPr wrap="square"/>
                    <a:lstStyle/>
                    <a:p>
                      <a:r>
                        <a:rPr sz="900" b="0">
                          <a:latin typeface="Calibri"/>
                        </a:rPr>
                        <a:t>@guard, gate(), fail-open client, enforcement</a:t>
                      </a:r>
                    </a:p>
                  </a:txBody>
                  <a:tcPr marL="50800" marR="50800" marT="25400" marB="25400">
                    <a:solidFill>
                      <a:srgbClr val="F4F6F9"/>
                    </a:solidFill>
                  </a:tcPr>
                </a:tc>
                <a:tc>
                  <a:txBody>
                    <a:bodyPr wrap="square"/>
                    <a:lstStyle/>
                    <a:p>
                      <a:r>
                        <a:rPr sz="900" b="0">
                          <a:latin typeface="Calibri"/>
                        </a:rPr>
                        <a:t>Complete</a:t>
                      </a:r>
                    </a:p>
                  </a:txBody>
                  <a:tcPr marL="50800" marR="50800" marT="25400" marB="25400">
                    <a:solidFill>
                      <a:srgbClr val="F4F6F9"/>
                    </a:solidFill>
                  </a:tcPr>
                </a:tc>
                <a:tc>
                  <a:txBody>
                    <a:bodyPr wrap="square"/>
                    <a:lstStyle/>
                    <a:p>
                      <a:r>
                        <a:rPr sz="900" b="0">
                          <a:latin typeface="Calibri"/>
                        </a:rPr>
                        <a:t>29 tests incl. every transport failure</a:t>
                      </a:r>
                    </a:p>
                  </a:txBody>
                  <a:tcPr marL="50800" marR="50800" marT="25400" marB="25400">
                    <a:solidFill>
                      <a:srgbClr val="F4F6F9"/>
                    </a:solidFill>
                  </a:tcPr>
                </a:tc>
              </a:tr>
              <a:tr h="25400">
                <a:tc>
                  <a:txBody>
                    <a:bodyPr wrap="square"/>
                    <a:lstStyle/>
                    <a:p>
                      <a:r>
                        <a:rPr sz="900" b="0">
                          <a:latin typeface="Calibri"/>
                        </a:rPr>
                        <a:t>Dashboard</a:t>
                      </a:r>
                    </a:p>
                  </a:txBody>
                  <a:tcPr marL="50800" marR="50800" marT="25400" marB="25400">
                    <a:noFill/>
                  </a:tcPr>
                </a:tc>
                <a:tc>
                  <a:txBody>
                    <a:bodyPr wrap="square"/>
                    <a:lstStyle/>
                    <a:p>
                      <a:r>
                        <a:rPr sz="900" b="0">
                          <a:latin typeface="Calibri"/>
                        </a:rPr>
                        <a:t>models, drift, decisions, audit, verification</a:t>
                      </a:r>
                    </a:p>
                  </a:txBody>
                  <a:tcPr marL="50800" marR="50800" marT="25400" marB="25400">
                    <a:noFill/>
                  </a:tcPr>
                </a:tc>
                <a:tc>
                  <a:txBody>
                    <a:bodyPr wrap="square"/>
                    <a:lstStyle/>
                    <a:p>
                      <a:r>
                        <a:rPr sz="900" b="0">
                          <a:latin typeface="Calibri"/>
                        </a:rPr>
                        <a:t>Complete</a:t>
                      </a:r>
                    </a:p>
                  </a:txBody>
                  <a:tcPr marL="50800" marR="50800" marT="25400" marB="25400">
                    <a:noFill/>
                  </a:tcPr>
                </a:tc>
                <a:tc>
                  <a:txBody>
                    <a:bodyPr wrap="square"/>
                    <a:lstStyle/>
                    <a:p>
                      <a:r>
                        <a:rPr sz="900" b="0">
                          <a:latin typeface="Calibri"/>
                        </a:rPr>
                        <a:t>Builds clean; verified against live demo data</a:t>
                      </a:r>
                    </a:p>
                  </a:txBody>
                  <a:tcPr marL="50800" marR="50800" marT="25400" marB="25400">
                    <a:noFill/>
                  </a:tcPr>
                </a:tc>
              </a:tr>
              <a:tr h="25400">
                <a:tc>
                  <a:txBody>
                    <a:bodyPr wrap="square"/>
                    <a:lstStyle/>
                    <a:p>
                      <a:r>
                        <a:rPr sz="900" b="0">
                          <a:latin typeface="Calibri"/>
                        </a:rPr>
                        <a:t>Fintech demo</a:t>
                      </a:r>
                    </a:p>
                  </a:txBody>
                  <a:tcPr marL="50800" marR="50800" marT="25400" marB="25400">
                    <a:solidFill>
                      <a:srgbClr val="F4F6F9"/>
                    </a:solidFill>
                  </a:tcPr>
                </a:tc>
                <a:tc>
                  <a:txBody>
                    <a:bodyPr wrap="square"/>
                    <a:lstStyle/>
                    <a:p>
                      <a:r>
                        <a:rPr sz="900" b="0">
                          <a:latin typeface="Calibri"/>
                        </a:rPr>
                        <a:t>credit model, guarded agent, 3 drift scenarios</a:t>
                      </a:r>
                    </a:p>
                  </a:txBody>
                  <a:tcPr marL="50800" marR="50800" marT="25400" marB="25400">
                    <a:solidFill>
                      <a:srgbClr val="F4F6F9"/>
                    </a:solidFill>
                  </a:tcPr>
                </a:tc>
                <a:tc>
                  <a:txBody>
                    <a:bodyPr wrap="square"/>
                    <a:lstStyle/>
                    <a:p>
                      <a:r>
                        <a:rPr sz="900" b="0">
                          <a:latin typeface="Calibri"/>
                        </a:rPr>
                        <a:t>Complete</a:t>
                      </a:r>
                    </a:p>
                  </a:txBody>
                  <a:tcPr marL="50800" marR="50800" marT="25400" marB="25400">
                    <a:solidFill>
                      <a:srgbClr val="F4F6F9"/>
                    </a:solidFill>
                  </a:tcPr>
                </a:tc>
                <a:tc>
                  <a:txBody>
                    <a:bodyPr wrap="square"/>
                    <a:lstStyle/>
                    <a:p>
                      <a:r>
                        <a:rPr sz="900" b="0">
                          <a:latin typeface="Calibri"/>
                        </a:rPr>
                        <a:t>Runs end to end in one command</a:t>
                      </a:r>
                    </a:p>
                  </a:txBody>
                  <a:tcPr marL="50800" marR="50800" marT="25400" marB="25400">
                    <a:solidFill>
                      <a:srgbClr val="F4F6F9"/>
                    </a:solidFill>
                  </a:tcPr>
                </a:tc>
              </a:tr>
              <a:tr h="25400">
                <a:tc>
                  <a:txBody>
                    <a:bodyPr wrap="square"/>
                    <a:lstStyle/>
                    <a:p>
                      <a:r>
                        <a:rPr sz="900" b="0">
                          <a:latin typeface="Calibri"/>
                        </a:rPr>
                        <a:t>Risk engine</a:t>
                      </a:r>
                    </a:p>
                  </a:txBody>
                  <a:tcPr marL="50800" marR="50800" marT="25400" marB="25400">
                    <a:noFill/>
                  </a:tcPr>
                </a:tc>
                <a:tc>
                  <a:txBody>
                    <a:bodyPr wrap="square"/>
                    <a:lstStyle/>
                    <a:p>
                      <a:r>
                        <a:rPr sz="900" b="0">
                          <a:latin typeface="Calibri"/>
                        </a:rPr>
                        <a:t>seam registered and wired; logic deferred</a:t>
                      </a:r>
                    </a:p>
                  </a:txBody>
                  <a:tcPr marL="50800" marR="50800" marT="25400" marB="25400">
                    <a:noFill/>
                  </a:tcPr>
                </a:tc>
                <a:tc>
                  <a:txBody>
                    <a:bodyPr wrap="square"/>
                    <a:lstStyle/>
                    <a:p>
                      <a:r>
                        <a:rPr sz="900" b="0">
                          <a:latin typeface="Calibri"/>
                        </a:rPr>
                        <a:t>By design</a:t>
                      </a:r>
                    </a:p>
                  </a:txBody>
                  <a:tcPr marL="50800" marR="50800" marT="25400" marB="25400">
                    <a:noFill/>
                  </a:tcPr>
                </a:tc>
                <a:tc>
                  <a:txBody>
                    <a:bodyPr wrap="square"/>
                    <a:lstStyle/>
                    <a:p>
                      <a:r>
                        <a:rPr sz="900" b="0">
                          <a:latin typeface="Calibri"/>
                        </a:rPr>
                        <a:t>Returns degraded; excluded from fusion</a:t>
                      </a:r>
                    </a:p>
                  </a:txBody>
                  <a:tcPr marL="50800" marR="50800" marT="25400" marB="25400">
                    <a:noFill/>
                  </a:tcPr>
                </a:tc>
              </a:tr>
              <a:tr h="25400">
                <a:tc>
                  <a:txBody>
                    <a:bodyPr wrap="square"/>
                    <a:lstStyle/>
                    <a:p>
                      <a:r>
                        <a:rPr sz="900" b="0">
                          <a:latin typeface="Calibri"/>
                        </a:rPr>
                        <a:t>Sidecar proxy</a:t>
                      </a:r>
                    </a:p>
                  </a:txBody>
                  <a:tcPr marL="50800" marR="50800" marT="25400" marB="25400">
                    <a:solidFill>
                      <a:srgbClr val="F4F6F9"/>
                    </a:solidFill>
                  </a:tcPr>
                </a:tc>
                <a:tc>
                  <a:txBody>
                    <a:bodyPr wrap="square"/>
                    <a:lstStyle/>
                    <a:p>
                      <a:r>
                        <a:rPr sz="900" b="0">
                          <a:latin typeface="Calibri"/>
                        </a:rPr>
                        <a:t>language-agnostic interceptor</a:t>
                      </a:r>
                    </a:p>
                  </a:txBody>
                  <a:tcPr marL="50800" marR="50800" marT="25400" marB="25400">
                    <a:solidFill>
                      <a:srgbClr val="F4F6F9"/>
                    </a:solidFill>
                  </a:tcPr>
                </a:tc>
                <a:tc>
                  <a:txBody>
                    <a:bodyPr wrap="square"/>
                    <a:lstStyle/>
                    <a:p>
                      <a:r>
                        <a:rPr sz="900" b="0">
                          <a:latin typeface="Calibri"/>
                        </a:rPr>
                        <a:t>Not started</a:t>
                      </a:r>
                    </a:p>
                  </a:txBody>
                  <a:tcPr marL="50800" marR="50800" marT="25400" marB="25400">
                    <a:solidFill>
                      <a:srgbClr val="F4F6F9"/>
                    </a:solidFill>
                  </a:tcPr>
                </a:tc>
                <a:tc>
                  <a:txBody>
                    <a:bodyPr wrap="square"/>
                    <a:lstStyle/>
                    <a:p>
                      <a:r>
                        <a:rPr sz="900" b="0">
                          <a:latin typeface="Calibri"/>
                        </a:rPr>
                        <a:t>Planned for Review-2</a:t>
                      </a:r>
                    </a:p>
                  </a:txBody>
                  <a:tcPr marL="50800" marR="50800" marT="25400" marB="25400">
                    <a:solidFill>
                      <a:srgbClr val="F4F6F9"/>
                    </a:solidFill>
                  </a:tcPr>
                </a:tc>
              </a:tr>
            </a:tbl>
          </a:graphicData>
        </a:graphic>
      </p:graphicFrame>
    </p:spTree>
    <p:extLst>
      <p:ext uri="{BB962C8B-B14F-4D97-AF65-F5344CB8AC3E}">
        <p14:creationId xmlns:p14="http://schemas.microsoft.com/office/powerpoint/2010/main" val="6068002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API Surface</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Three endpoints on the hot data plane; fourteen on the cold control plane. All control-plane validation happens here so an incoherent configuration can never reach the request path.</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651760"/>
          <a:ext cx="10241278" cy="381000"/>
        </p:xfrm>
        <a:graphic>
          <a:graphicData uri="http://schemas.openxmlformats.org/drawingml/2006/table">
            <a:tbl>
              <a:tblPr firstRow="1">
                <a:tableStyleId>{5C22544A-7EE6-4342-B048-85BDC9FD1C3A}</a:tableStyleId>
              </a:tblPr>
              <a:tblGrid>
                <a:gridCol w="3277209"/>
                <a:gridCol w="1228953"/>
                <a:gridCol w="5735116"/>
              </a:tblGrid>
              <a:tr h="25400">
                <a:tc>
                  <a:txBody>
                    <a:bodyPr wrap="square"/>
                    <a:lstStyle/>
                    <a:p>
                      <a:r>
                        <a:rPr sz="900" b="1">
                          <a:solidFill>
                            <a:srgbClr val="FFFFFF"/>
                          </a:solidFill>
                          <a:latin typeface="Calibri"/>
                        </a:rPr>
                        <a:t>Method &amp; path</a:t>
                      </a:r>
                    </a:p>
                  </a:txBody>
                  <a:tcPr marL="50800" marR="50800" marT="25400" marB="25400">
                    <a:solidFill>
                      <a:srgbClr val="1F5CA8"/>
                    </a:solidFill>
                  </a:tcPr>
                </a:tc>
                <a:tc>
                  <a:txBody>
                    <a:bodyPr wrap="square"/>
                    <a:lstStyle/>
                    <a:p>
                      <a:r>
                        <a:rPr sz="900" b="1">
                          <a:solidFill>
                            <a:srgbClr val="FFFFFF"/>
                          </a:solidFill>
                          <a:latin typeface="Calibri"/>
                        </a:rPr>
                        <a:t>Plane</a:t>
                      </a:r>
                    </a:p>
                  </a:txBody>
                  <a:tcPr marL="50800" marR="50800" marT="25400" marB="25400">
                    <a:solidFill>
                      <a:srgbClr val="1F5CA8"/>
                    </a:solidFill>
                  </a:tcPr>
                </a:tc>
                <a:tc>
                  <a:txBody>
                    <a:bodyPr wrap="square"/>
                    <a:lstStyle/>
                    <a:p>
                      <a:r>
                        <a:rPr sz="900" b="1">
                          <a:solidFill>
                            <a:srgbClr val="FFFFFF"/>
                          </a:solidFill>
                          <a:latin typeface="Calibri"/>
                        </a:rPr>
                        <a:t>Purpose</a:t>
                      </a:r>
                    </a:p>
                  </a:txBody>
                  <a:tcPr marL="50800" marR="50800" marT="25400" marB="25400">
                    <a:solidFill>
                      <a:srgbClr val="1F5CA8"/>
                    </a:solidFill>
                  </a:tcPr>
                </a:tc>
              </a:tr>
              <a:tr h="25400">
                <a:tc>
                  <a:txBody>
                    <a:bodyPr wrap="square"/>
                    <a:lstStyle/>
                    <a:p>
                      <a:r>
                        <a:rPr sz="900" b="0">
                          <a:latin typeface="Calibri"/>
                        </a:rPr>
                        <a:t>POST /v1/evaluate</a:t>
                      </a:r>
                    </a:p>
                  </a:txBody>
                  <a:tcPr marL="50800" marR="50800" marT="25400" marB="25400">
                    <a:noFill/>
                  </a:tcPr>
                </a:tc>
                <a:tc>
                  <a:txBody>
                    <a:bodyPr wrap="square"/>
                    <a:lstStyle/>
                    <a:p>
                      <a:r>
                        <a:rPr sz="900" b="0">
                          <a:latin typeface="Calibri"/>
                        </a:rPr>
                        <a:t>Gateway</a:t>
                      </a:r>
                    </a:p>
                  </a:txBody>
                  <a:tcPr marL="50800" marR="50800" marT="25400" marB="25400">
                    <a:noFill/>
                  </a:tcPr>
                </a:tc>
                <a:tc>
                  <a:txBody>
                    <a:bodyPr wrap="square"/>
                    <a:lstStyle/>
                    <a:p>
                      <a:r>
                        <a:rPr sz="900" b="0">
                          <a:latin typeface="Calibri"/>
                        </a:rPr>
                        <a:t>The hot path — one call, one verdict</a:t>
                      </a:r>
                    </a:p>
                  </a:txBody>
                  <a:tcPr marL="50800" marR="50800" marT="25400" marB="25400">
                    <a:noFill/>
                  </a:tcPr>
                </a:tc>
              </a:tr>
              <a:tr h="25400">
                <a:tc>
                  <a:txBody>
                    <a:bodyPr wrap="square"/>
                    <a:lstStyle/>
                    <a:p>
                      <a:r>
                        <a:rPr sz="900" b="0">
                          <a:latin typeface="Calibri"/>
                        </a:rPr>
                        <a:t>GET /health</a:t>
                      </a:r>
                    </a:p>
                  </a:txBody>
                  <a:tcPr marL="50800" marR="50800" marT="25400" marB="25400">
                    <a:solidFill>
                      <a:srgbClr val="F4F6F9"/>
                    </a:solidFill>
                  </a:tcPr>
                </a:tc>
                <a:tc>
                  <a:txBody>
                    <a:bodyPr wrap="square"/>
                    <a:lstStyle/>
                    <a:p>
                      <a:r>
                        <a:rPr sz="900" b="0">
                          <a:latin typeface="Calibri"/>
                        </a:rPr>
                        <a:t>Gateway</a:t>
                      </a:r>
                    </a:p>
                  </a:txBody>
                  <a:tcPr marL="50800" marR="50800" marT="25400" marB="25400">
                    <a:solidFill>
                      <a:srgbClr val="F4F6F9"/>
                    </a:solidFill>
                  </a:tcPr>
                </a:tc>
                <a:tc>
                  <a:txBody>
                    <a:bodyPr wrap="square"/>
                    <a:lstStyle/>
                    <a:p>
                      <a:r>
                        <a:rPr sz="900" b="0">
                          <a:latin typeface="Calibri"/>
                        </a:rPr>
                        <a:t>Database and engine registry status</a:t>
                      </a:r>
                    </a:p>
                  </a:txBody>
                  <a:tcPr marL="50800" marR="50800" marT="25400" marB="25400">
                    <a:solidFill>
                      <a:srgbClr val="F4F6F9"/>
                    </a:solidFill>
                  </a:tcPr>
                </a:tc>
              </a:tr>
              <a:tr h="25400">
                <a:tc>
                  <a:txBody>
                    <a:bodyPr wrap="square"/>
                    <a:lstStyle/>
                    <a:p>
                      <a:r>
                        <a:rPr sz="900" b="0">
                          <a:latin typeface="Calibri"/>
                        </a:rPr>
                        <a:t>GET /metrics</a:t>
                      </a:r>
                    </a:p>
                  </a:txBody>
                  <a:tcPr marL="50800" marR="50800" marT="25400" marB="25400">
                    <a:noFill/>
                  </a:tcPr>
                </a:tc>
                <a:tc>
                  <a:txBody>
                    <a:bodyPr wrap="square"/>
                    <a:lstStyle/>
                    <a:p>
                      <a:r>
                        <a:rPr sz="900" b="0">
                          <a:latin typeface="Calibri"/>
                        </a:rPr>
                        <a:t>Gateway</a:t>
                      </a:r>
                    </a:p>
                  </a:txBody>
                  <a:tcPr marL="50800" marR="50800" marT="25400" marB="25400">
                    <a:noFill/>
                  </a:tcPr>
                </a:tc>
                <a:tc>
                  <a:txBody>
                    <a:bodyPr wrap="square"/>
                    <a:lstStyle/>
                    <a:p>
                      <a:r>
                        <a:rPr sz="900" b="0">
                          <a:latin typeface="Calibri"/>
                        </a:rPr>
                        <a:t>Prometheus exposition; decisions, latencies, degradations</a:t>
                      </a:r>
                    </a:p>
                  </a:txBody>
                  <a:tcPr marL="50800" marR="50800" marT="25400" marB="25400">
                    <a:noFill/>
                  </a:tcPr>
                </a:tc>
              </a:tr>
              <a:tr h="25400">
                <a:tc>
                  <a:txBody>
                    <a:bodyPr wrap="square"/>
                    <a:lstStyle/>
                    <a:p>
                      <a:r>
                        <a:rPr sz="900" b="0">
                          <a:latin typeface="Calibri"/>
                        </a:rPr>
                        <a:t>POST /tenants</a:t>
                      </a:r>
                    </a:p>
                  </a:txBody>
                  <a:tcPr marL="50800" marR="50800" marT="25400" marB="25400">
                    <a:solidFill>
                      <a:srgbClr val="F4F6F9"/>
                    </a:solidFill>
                  </a:tcPr>
                </a:tc>
                <a:tc>
                  <a:txBody>
                    <a:bodyPr wrap="square"/>
                    <a:lstStyle/>
                    <a:p>
                      <a:r>
                        <a:rPr sz="900" b="0">
                          <a:latin typeface="Calibri"/>
                        </a:rPr>
                        <a:t>Control</a:t>
                      </a:r>
                    </a:p>
                  </a:txBody>
                  <a:tcPr marL="50800" marR="50800" marT="25400" marB="25400">
                    <a:solidFill>
                      <a:srgbClr val="F4F6F9"/>
                    </a:solidFill>
                  </a:tcPr>
                </a:tc>
                <a:tc>
                  <a:txBody>
                    <a:bodyPr wrap="square"/>
                    <a:lstStyle/>
                    <a:p>
                      <a:r>
                        <a:rPr sz="900" b="0">
                          <a:latin typeface="Calibri"/>
                        </a:rPr>
                        <a:t>Bootstrap a tenant; returns the API key once</a:t>
                      </a:r>
                    </a:p>
                  </a:txBody>
                  <a:tcPr marL="50800" marR="50800" marT="25400" marB="25400">
                    <a:solidFill>
                      <a:srgbClr val="F4F6F9"/>
                    </a:solidFill>
                  </a:tcPr>
                </a:tc>
              </a:tr>
              <a:tr h="25400">
                <a:tc>
                  <a:txBody>
                    <a:bodyPr wrap="square"/>
                    <a:lstStyle/>
                    <a:p>
                      <a:r>
                        <a:rPr sz="900" b="0">
                          <a:latin typeface="Calibri"/>
                        </a:rPr>
                        <a:t>POST /models</a:t>
                      </a:r>
                    </a:p>
                  </a:txBody>
                  <a:tcPr marL="50800" marR="50800" marT="25400" marB="25400">
                    <a:noFill/>
                  </a:tcPr>
                </a:tc>
                <a:tc>
                  <a:txBody>
                    <a:bodyPr wrap="square"/>
                    <a:lstStyle/>
                    <a:p>
                      <a:r>
                        <a:rPr sz="900" b="0">
                          <a:latin typeface="Calibri"/>
                        </a:rPr>
                        <a:t>Control</a:t>
                      </a:r>
                    </a:p>
                  </a:txBody>
                  <a:tcPr marL="50800" marR="50800" marT="25400" marB="25400">
                    <a:noFill/>
                  </a:tcPr>
                </a:tc>
                <a:tc>
                  <a:txBody>
                    <a:bodyPr wrap="square"/>
                    <a:lstStyle/>
                    <a:p>
                      <a:r>
                        <a:rPr sz="900" b="0">
                          <a:latin typeface="Calibri"/>
                        </a:rPr>
                        <a:t>Register a model so its traffic stops routing to REVIEW</a:t>
                      </a:r>
                    </a:p>
                  </a:txBody>
                  <a:tcPr marL="50800" marR="50800" marT="25400" marB="25400">
                    <a:noFill/>
                  </a:tcPr>
                </a:tc>
              </a:tr>
              <a:tr h="25400">
                <a:tc>
                  <a:txBody>
                    <a:bodyPr wrap="square"/>
                    <a:lstStyle/>
                    <a:p>
                      <a:r>
                        <a:rPr sz="900" b="0">
                          <a:latin typeface="Calibri"/>
                        </a:rPr>
                        <a:t>GET /models</a:t>
                      </a:r>
                    </a:p>
                  </a:txBody>
                  <a:tcPr marL="50800" marR="50800" marT="25400" marB="25400">
                    <a:solidFill>
                      <a:srgbClr val="F4F6F9"/>
                    </a:solidFill>
                  </a:tcPr>
                </a:tc>
                <a:tc>
                  <a:txBody>
                    <a:bodyPr wrap="square"/>
                    <a:lstStyle/>
                    <a:p>
                      <a:r>
                        <a:rPr sz="900" b="0">
                          <a:latin typeface="Calibri"/>
                        </a:rPr>
                        <a:t>Control</a:t>
                      </a:r>
                    </a:p>
                  </a:txBody>
                  <a:tcPr marL="50800" marR="50800" marT="25400" marB="25400">
                    <a:solidFill>
                      <a:srgbClr val="F4F6F9"/>
                    </a:solidFill>
                  </a:tcPr>
                </a:tc>
                <a:tc>
                  <a:txBody>
                    <a:bodyPr wrap="square"/>
                    <a:lstStyle/>
                    <a:p>
                      <a:r>
                        <a:rPr sz="900" b="0">
                          <a:latin typeface="Calibri"/>
                        </a:rPr>
                        <a:t>List registered models and baseline status</a:t>
                      </a:r>
                    </a:p>
                  </a:txBody>
                  <a:tcPr marL="50800" marR="50800" marT="25400" marB="25400">
                    <a:solidFill>
                      <a:srgbClr val="F4F6F9"/>
                    </a:solidFill>
                  </a:tcPr>
                </a:tc>
              </a:tr>
              <a:tr h="25400">
                <a:tc>
                  <a:txBody>
                    <a:bodyPr wrap="square"/>
                    <a:lstStyle/>
                    <a:p>
                      <a:r>
                        <a:rPr sz="900" b="0">
                          <a:latin typeface="Calibri"/>
                        </a:rPr>
                        <a:t>POST /models/{id}/baseline</a:t>
                      </a:r>
                    </a:p>
                  </a:txBody>
                  <a:tcPr marL="50800" marR="50800" marT="25400" marB="25400">
                    <a:noFill/>
                  </a:tcPr>
                </a:tc>
                <a:tc>
                  <a:txBody>
                    <a:bodyPr wrap="square"/>
                    <a:lstStyle/>
                    <a:p>
                      <a:r>
                        <a:rPr sz="900" b="0">
                          <a:latin typeface="Calibri"/>
                        </a:rPr>
                        <a:t>Control</a:t>
                      </a:r>
                    </a:p>
                  </a:txBody>
                  <a:tcPr marL="50800" marR="50800" marT="25400" marB="25400">
                    <a:noFill/>
                  </a:tcPr>
                </a:tc>
                <a:tc>
                  <a:txBody>
                    <a:bodyPr wrap="square"/>
                    <a:lstStyle/>
                    <a:p>
                      <a:r>
                        <a:rPr sz="900" b="0">
                          <a:latin typeface="Calibri"/>
                        </a:rPr>
                        <a:t>Capture the reference distribution</a:t>
                      </a:r>
                    </a:p>
                  </a:txBody>
                  <a:tcPr marL="50800" marR="50800" marT="25400" marB="25400">
                    <a:noFill/>
                  </a:tcPr>
                </a:tc>
              </a:tr>
              <a:tr h="25400">
                <a:tc>
                  <a:txBody>
                    <a:bodyPr wrap="square"/>
                    <a:lstStyle/>
                    <a:p>
                      <a:r>
                        <a:rPr sz="900" b="0">
                          <a:latin typeface="Calibri"/>
                        </a:rPr>
                        <a:t>POST /models/{id}/recompute</a:t>
                      </a:r>
                    </a:p>
                  </a:txBody>
                  <a:tcPr marL="50800" marR="50800" marT="25400" marB="25400">
                    <a:solidFill>
                      <a:srgbClr val="F4F6F9"/>
                    </a:solidFill>
                  </a:tcPr>
                </a:tc>
                <a:tc>
                  <a:txBody>
                    <a:bodyPr wrap="square"/>
                    <a:lstStyle/>
                    <a:p>
                      <a:r>
                        <a:rPr sz="900" b="0">
                          <a:latin typeface="Calibri"/>
                        </a:rPr>
                        <a:t>Control</a:t>
                      </a:r>
                    </a:p>
                  </a:txBody>
                  <a:tcPr marL="50800" marR="50800" marT="25400" marB="25400">
                    <a:solidFill>
                      <a:srgbClr val="F4F6F9"/>
                    </a:solidFill>
                  </a:tcPr>
                </a:tc>
                <a:tc>
                  <a:txBody>
                    <a:bodyPr wrap="square"/>
                    <a:lstStyle/>
                    <a:p>
                      <a:r>
                        <a:rPr sz="900" b="0">
                          <a:latin typeface="Calibri"/>
                        </a:rPr>
                        <a:t>Force a drift recompute now</a:t>
                      </a:r>
                    </a:p>
                  </a:txBody>
                  <a:tcPr marL="50800" marR="50800" marT="25400" marB="25400">
                    <a:solidFill>
                      <a:srgbClr val="F4F6F9"/>
                    </a:solidFill>
                  </a:tcPr>
                </a:tc>
              </a:tr>
              <a:tr h="25400">
                <a:tc>
                  <a:txBody>
                    <a:bodyPr wrap="square"/>
                    <a:lstStyle/>
                    <a:p>
                      <a:r>
                        <a:rPr sz="900" b="0">
                          <a:latin typeface="Calibri"/>
                        </a:rPr>
                        <a:t>GET /models/{id}/drift</a:t>
                      </a:r>
                    </a:p>
                  </a:txBody>
                  <a:tcPr marL="50800" marR="50800" marT="25400" marB="25400">
                    <a:noFill/>
                  </a:tcPr>
                </a:tc>
                <a:tc>
                  <a:txBody>
                    <a:bodyPr wrap="square"/>
                    <a:lstStyle/>
                    <a:p>
                      <a:r>
                        <a:rPr sz="900" b="0">
                          <a:latin typeface="Calibri"/>
                        </a:rPr>
                        <a:t>Control</a:t>
                      </a:r>
                    </a:p>
                  </a:txBody>
                  <a:tcPr marL="50800" marR="50800" marT="25400" marB="25400">
                    <a:noFill/>
                  </a:tcPr>
                </a:tc>
                <a:tc>
                  <a:txBody>
                    <a:bodyPr wrap="square"/>
                    <a:lstStyle/>
                    <a:p>
                      <a:r>
                        <a:rPr sz="900" b="0">
                          <a:latin typeface="Calibri"/>
                        </a:rPr>
                        <a:t>Severity history and per-feature breakdown</a:t>
                      </a:r>
                    </a:p>
                  </a:txBody>
                  <a:tcPr marL="50800" marR="50800" marT="25400" marB="25400">
                    <a:noFill/>
                  </a:tcPr>
                </a:tc>
              </a:tr>
              <a:tr h="25400">
                <a:tc>
                  <a:txBody>
                    <a:bodyPr wrap="square"/>
                    <a:lstStyle/>
                    <a:p>
                      <a:r>
                        <a:rPr sz="900" b="0">
                          <a:latin typeface="Calibri"/>
                        </a:rPr>
                        <a:t>GET / PUT /config</a:t>
                      </a:r>
                    </a:p>
                  </a:txBody>
                  <a:tcPr marL="50800" marR="50800" marT="25400" marB="25400">
                    <a:solidFill>
                      <a:srgbClr val="F4F6F9"/>
                    </a:solidFill>
                  </a:tcPr>
                </a:tc>
                <a:tc>
                  <a:txBody>
                    <a:bodyPr wrap="square"/>
                    <a:lstStyle/>
                    <a:p>
                      <a:r>
                        <a:rPr sz="900" b="0">
                          <a:latin typeface="Calibri"/>
                        </a:rPr>
                        <a:t>Control</a:t>
                      </a:r>
                    </a:p>
                  </a:txBody>
                  <a:tcPr marL="50800" marR="50800" marT="25400" marB="25400">
                    <a:solidFill>
                      <a:srgbClr val="F4F6F9"/>
                    </a:solidFill>
                  </a:tcPr>
                </a:tc>
                <a:tc>
                  <a:txBody>
                    <a:bodyPr wrap="square"/>
                    <a:lstStyle/>
                    <a:p>
                      <a:r>
                        <a:rPr sz="900" b="0">
                          <a:latin typeface="Calibri"/>
                        </a:rPr>
                        <a:t>Per-tenant engines, weights, thresholds, fail-open</a:t>
                      </a:r>
                    </a:p>
                  </a:txBody>
                  <a:tcPr marL="50800" marR="50800" marT="25400" marB="25400">
                    <a:solidFill>
                      <a:srgbClr val="F4F6F9"/>
                    </a:solidFill>
                  </a:tcPr>
                </a:tc>
              </a:tr>
              <a:tr h="25400">
                <a:tc>
                  <a:txBody>
                    <a:bodyPr wrap="square"/>
                    <a:lstStyle/>
                    <a:p>
                      <a:r>
                        <a:rPr sz="900" b="0">
                          <a:latin typeface="Calibri"/>
                        </a:rPr>
                        <a:t>GET / PUT / DELETE /config/rules</a:t>
                      </a:r>
                    </a:p>
                  </a:txBody>
                  <a:tcPr marL="50800" marR="50800" marT="25400" marB="25400">
                    <a:noFill/>
                  </a:tcPr>
                </a:tc>
                <a:tc>
                  <a:txBody>
                    <a:bodyPr wrap="square"/>
                    <a:lstStyle/>
                    <a:p>
                      <a:r>
                        <a:rPr sz="900" b="0">
                          <a:latin typeface="Calibri"/>
                        </a:rPr>
                        <a:t>Control</a:t>
                      </a:r>
                    </a:p>
                  </a:txBody>
                  <a:tcPr marL="50800" marR="50800" marT="25400" marB="25400">
                    <a:noFill/>
                  </a:tcPr>
                </a:tc>
                <a:tc>
                  <a:txBody>
                    <a:bodyPr wrap="square"/>
                    <a:lstStyle/>
                    <a:p>
                      <a:r>
                        <a:rPr sz="900" b="0">
                          <a:latin typeface="Calibri"/>
                        </a:rPr>
                        <a:t>Policy rules; validated at write time</a:t>
                      </a:r>
                    </a:p>
                  </a:txBody>
                  <a:tcPr marL="50800" marR="50800" marT="25400" marB="25400">
                    <a:noFill/>
                  </a:tcPr>
                </a:tc>
              </a:tr>
              <a:tr h="25400">
                <a:tc>
                  <a:txBody>
                    <a:bodyPr wrap="square"/>
                    <a:lstStyle/>
                    <a:p>
                      <a:r>
                        <a:rPr sz="900" b="0">
                          <a:latin typeface="Calibri"/>
                        </a:rPr>
                        <a:t>GET /audit</a:t>
                      </a:r>
                    </a:p>
                  </a:txBody>
                  <a:tcPr marL="50800" marR="50800" marT="25400" marB="25400">
                    <a:solidFill>
                      <a:srgbClr val="F4F6F9"/>
                    </a:solidFill>
                  </a:tcPr>
                </a:tc>
                <a:tc>
                  <a:txBody>
                    <a:bodyPr wrap="square"/>
                    <a:lstStyle/>
                    <a:p>
                      <a:r>
                        <a:rPr sz="900" b="0">
                          <a:latin typeface="Calibri"/>
                        </a:rPr>
                        <a:t>Control</a:t>
                      </a:r>
                    </a:p>
                  </a:txBody>
                  <a:tcPr marL="50800" marR="50800" marT="25400" marB="25400">
                    <a:solidFill>
                      <a:srgbClr val="F4F6F9"/>
                    </a:solidFill>
                  </a:tcPr>
                </a:tc>
                <a:tc>
                  <a:txBody>
                    <a:bodyPr wrap="square"/>
                    <a:lstStyle/>
                    <a:p>
                      <a:r>
                        <a:rPr sz="900" b="0">
                          <a:latin typeface="Calibri"/>
                        </a:rPr>
                        <a:t>Paged, filterable audit chain</a:t>
                      </a:r>
                    </a:p>
                  </a:txBody>
                  <a:tcPr marL="50800" marR="50800" marT="25400" marB="25400">
                    <a:solidFill>
                      <a:srgbClr val="F4F6F9"/>
                    </a:solidFill>
                  </a:tcPr>
                </a:tc>
              </a:tr>
              <a:tr h="25400">
                <a:tc>
                  <a:txBody>
                    <a:bodyPr wrap="square"/>
                    <a:lstStyle/>
                    <a:p>
                      <a:r>
                        <a:rPr sz="900" b="0">
                          <a:latin typeface="Calibri"/>
                        </a:rPr>
                        <a:t>GET /audit/verify</a:t>
                      </a:r>
                    </a:p>
                  </a:txBody>
                  <a:tcPr marL="50800" marR="50800" marT="25400" marB="25400">
                    <a:noFill/>
                  </a:tcPr>
                </a:tc>
                <a:tc>
                  <a:txBody>
                    <a:bodyPr wrap="square"/>
                    <a:lstStyle/>
                    <a:p>
                      <a:r>
                        <a:rPr sz="900" b="0">
                          <a:latin typeface="Calibri"/>
                        </a:rPr>
                        <a:t>Control</a:t>
                      </a:r>
                    </a:p>
                  </a:txBody>
                  <a:tcPr marL="50800" marR="50800" marT="25400" marB="25400">
                    <a:noFill/>
                  </a:tcPr>
                </a:tc>
                <a:tc>
                  <a:txBody>
                    <a:bodyPr wrap="square"/>
                    <a:lstStyle/>
                    <a:p>
                      <a:r>
                        <a:rPr sz="900" b="0">
                          <a:latin typeface="Calibri"/>
                        </a:rPr>
                        <a:t>Recompute the chain; report the first broken entry</a:t>
                      </a:r>
                    </a:p>
                  </a:txBody>
                  <a:tcPr marL="50800" marR="50800" marT="25400" marB="25400">
                    <a:noFill/>
                  </a:tcPr>
                </a:tc>
              </a:tr>
              <a:tr h="25400">
                <a:tc>
                  <a:txBody>
                    <a:bodyPr wrap="square"/>
                    <a:lstStyle/>
                    <a:p>
                      <a:r>
                        <a:rPr sz="900" b="0">
                          <a:latin typeface="Calibri"/>
                        </a:rPr>
                        <a:t>GET /audit/export</a:t>
                      </a:r>
                    </a:p>
                  </a:txBody>
                  <a:tcPr marL="50800" marR="50800" marT="25400" marB="25400">
                    <a:solidFill>
                      <a:srgbClr val="F4F6F9"/>
                    </a:solidFill>
                  </a:tcPr>
                </a:tc>
                <a:tc>
                  <a:txBody>
                    <a:bodyPr wrap="square"/>
                    <a:lstStyle/>
                    <a:p>
                      <a:r>
                        <a:rPr sz="900" b="0">
                          <a:latin typeface="Calibri"/>
                        </a:rPr>
                        <a:t>Control</a:t>
                      </a:r>
                    </a:p>
                  </a:txBody>
                  <a:tcPr marL="50800" marR="50800" marT="25400" marB="25400">
                    <a:solidFill>
                      <a:srgbClr val="F4F6F9"/>
                    </a:solidFill>
                  </a:tcPr>
                </a:tc>
                <a:tc>
                  <a:txBody>
                    <a:bodyPr wrap="square"/>
                    <a:lstStyle/>
                    <a:p>
                      <a:r>
                        <a:rPr sz="900" b="0">
                          <a:latin typeface="Calibri"/>
                        </a:rPr>
                        <a:t>Streamed JSON Lines evidence export</a:t>
                      </a:r>
                    </a:p>
                  </a:txBody>
                  <a:tcPr marL="50800" marR="50800" marT="25400" marB="25400">
                    <a:solidFill>
                      <a:srgbClr val="F4F6F9"/>
                    </a:solid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Drift Engine Internals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650" b="1" i="0" dirty="0">
                <a:latin typeface="Calibri" panose="020F0502020204030204" pitchFamily="34" charset="0"/>
                <a:ea typeface="Calibri" panose="020F0502020204030204" pitchFamily="34" charset="0"/>
                <a:cs typeface="Calibri" panose="020F0502020204030204" pitchFamily="34" charset="0"/>
              </a:rPr>
              <a:t>Detectors — pure standard-library Python, no NumPy or SciPy</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PSI = Σ (aᵢ − eᵢ) · ln(aᵢ / eᵢ) over equal-frequency buckets drawn from the reference sample. Equal-frequency because credit features are heavily skewed and equal-width bucketing puts nearly all the mass in one bucket.</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KS = max |CDF_expected − CDF_actual|, computed in a single merge pass. Bucket-free, so it catches shifts that fall inside a PSI bucket.</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Neither returns a p-value: on production volumes every distribution differs significantly, so effect size is what is operationally meaningful.</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Both raise on an empty sample rather than returning 0.0 — absence of evidence must never be reported as evidence of stability.</a:t>
            </a:r>
          </a:p>
          <a:p>
            <a:pPr marL="0" indent="0" algn="l">
              <a:spcBef>
                <a:spcPts val="350"/>
              </a:spcBef>
              <a:buNone/>
            </a:pPr>
            <a:r>
              <a:rPr lang="en-US" sz="1650" b="1" i="0" dirty="0">
                <a:latin typeface="Calibri" panose="020F0502020204030204" pitchFamily="34" charset="0"/>
                <a:ea typeface="Calibri" panose="020F0502020204030204" pitchFamily="34" charset="0"/>
                <a:cs typeface="Calibri" panose="020F0502020204030204" pitchFamily="34" charset="0"/>
              </a:rPr>
              <a:t>Severity roll-up</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Per feature: PSI mapped through the industry bands (0.10 → 0.33, 0.25 → 0.66, 0.50 → 1.00). KS may only raise a feature's severity, never lower it.</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Across features: 0.6 · max + 0.4 · mean. Pure max lets one noisy feature dominate; pure mean lets fifty stable features bury one dead pipeline.</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Both max and mean are monotone non-decreasing, so any convex combination is too — the invariant that worse drift can never yield lower severity holds by construction, not by testing.</a:t>
            </a:r>
          </a:p>
          <a:p>
            <a:pPr marL="0" indent="0" algn="l">
              <a:spcBef>
                <a:spcPts val="30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Baselines are fixed at registration, never rolling: comparing each window to the previous one makes slow drift invisible.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Audit and Evidence Chain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entry_hash = SHA-256( prev_hash ‖ canonical_json(payload) )</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Per-tenant chains with contiguous sequence numbers and a genesis prev_hash of sixty-four zeros. Payloads serialise with sorted keys, so a given payload always hashes identically.</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The claim is tamper-evidence, not tamper-proofing. Anyone with database access can rewrite a row; what they cannot do is rewrite one without invalidating every hash after it.</a:t>
            </a:r>
          </a:p>
          <a:p>
            <a:pPr marL="0" indent="0" algn="l">
              <a:spcBef>
                <a:spcPts val="35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Three attacks, three outcomes</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Edit a payload → the hash no longer matches at that entry.</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Edit a payload and recompute its hash → the successor's prev_hash no longer links, so the break surfaces one entry later.</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Delete an entry → a sequence gap.</a:t>
            </a:r>
          </a:p>
          <a:p>
            <a:pPr marL="0" indent="0" algn="l">
              <a:spcBef>
                <a:spcPts val="35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GET /audit/verify recomputes the chain and reports the first broken sequence number, which localises tampering rather than merely detecting it. Raw feature values are deliberately excluded from the payload — that is the caller's customer data, and an append-only log is the last place it should be duplicated.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Results — Live Demonstration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A lending agent auto-approves loan applications using a credit-risk model. Custos gates the disbursement. One command, no external infrastructure.</a:t>
            </a:r>
          </a:p>
          <a:p>
            <a:pPr marL="285750" indent="-285750" algn="l">
              <a:spcBef>
                <a:spcPts val="400"/>
              </a:spcBef>
              <a:buFont typeface="Arial" panose="020B0604020202020204" pitchFamily="34" charset="0"/>
              <a:buChar char="•"/>
            </a:pPr>
            <a:r>
              <a:rPr lang="en-US" sz="1400" b="1" i="0" dirty="0">
                <a:latin typeface="Calibri" panose="020F0502020204030204" pitchFamily="34" charset="0"/>
                <a:ea typeface="Calibri" panose="020F0502020204030204" pitchFamily="34" charset="0"/>
                <a:cs typeface="Calibri" panose="020F0502020204030204" pitchFamily="34" charset="0"/>
              </a:rPr>
              <a:t>Act 1  </a:t>
            </a:r>
            <a:r>
              <a:rPr lang="en-US" sz="1400" b="0" i="0" dirty="0">
                <a:latin typeface="Calibri" panose="020F0502020204030204" pitchFamily="34" charset="0"/>
                <a:ea typeface="Calibri" panose="020F0502020204030204" pitchFamily="34" charset="0"/>
                <a:cs typeface="Calibri" panose="020F0502020204030204" pitchFamily="34" charset="0"/>
              </a:rPr>
              <a:t>Model never registered → REVIEW. Custos escalates rather than guessing.</a:t>
            </a:r>
          </a:p>
          <a:p>
            <a:pPr marL="285750" indent="-285750" algn="l">
              <a:spcBef>
                <a:spcPts val="400"/>
              </a:spcBef>
              <a:buFont typeface="Arial" panose="020B0604020202020204" pitchFamily="34" charset="0"/>
              <a:buChar char="•"/>
            </a:pPr>
            <a:r>
              <a:rPr lang="en-US" sz="1400" b="1" i="0" dirty="0">
                <a:latin typeface="Calibri" panose="020F0502020204030204" pitchFamily="34" charset="0"/>
                <a:ea typeface="Calibri" panose="020F0502020204030204" pitchFamily="34" charset="0"/>
                <a:cs typeface="Calibri" panose="020F0502020204030204" pitchFamily="34" charset="0"/>
              </a:rPr>
              <a:t>Act 2  </a:t>
            </a:r>
            <a:r>
              <a:rPr lang="en-US" sz="1400" b="0" i="0" dirty="0">
                <a:latin typeface="Calibri" panose="020F0502020204030204" pitchFamily="34" charset="0"/>
                <a:ea typeface="Calibri" panose="020F0502020204030204" pitchFamily="34" charset="0"/>
                <a:cs typeface="Calibri" panose="020F0502020204030204" pitchFamily="34" charset="0"/>
              </a:rPr>
              <a:t>Registered and baselined on 600 applications, healthy traffic → ALLOW, trust 0.99, drift severity 0.021.</a:t>
            </a:r>
          </a:p>
          <a:p>
            <a:pPr marL="285750" indent="-285750" algn="l">
              <a:spcBef>
                <a:spcPts val="400"/>
              </a:spcBef>
              <a:buFont typeface="Arial" panose="020B0604020202020204" pitchFamily="34" charset="0"/>
              <a:buChar char="•"/>
            </a:pPr>
            <a:r>
              <a:rPr lang="en-US" sz="1400" b="1" i="0" dirty="0">
                <a:latin typeface="Calibri" panose="020F0502020204030204" pitchFamily="34" charset="0"/>
                <a:ea typeface="Calibri" panose="020F0502020204030204" pitchFamily="34" charset="0"/>
                <a:cs typeface="Calibri" panose="020F0502020204030204" pitchFamily="34" charset="0"/>
              </a:rPr>
              <a:t>Act 3  </a:t>
            </a:r>
            <a:r>
              <a:rPr lang="en-US" sz="1400" b="0" i="0" dirty="0">
                <a:latin typeface="Calibri" panose="020F0502020204030204" pitchFamily="34" charset="0"/>
                <a:ea typeface="Calibri" panose="020F0502020204030204" pitchFamily="34" charset="0"/>
                <a:cs typeface="Calibri" panose="020F0502020204030204" pitchFamily="34" charset="0"/>
              </a:rPr>
              <a:t>Population shifts — incomes fall, utilisation spikes. Drift severity 0.021 → 0.830, attributed per feature (next slide).</a:t>
            </a:r>
          </a:p>
          <a:p>
            <a:pPr marL="285750" indent="-285750" algn="l">
              <a:spcBef>
                <a:spcPts val="400"/>
              </a:spcBef>
              <a:buFont typeface="Arial" panose="020B0604020202020204" pitchFamily="34" charset="0"/>
              <a:buChar char="•"/>
            </a:pPr>
            <a:r>
              <a:rPr lang="en-US" sz="1400" b="1" i="0" dirty="0">
                <a:latin typeface="Calibri" panose="020F0502020204030204" pitchFamily="34" charset="0"/>
                <a:ea typeface="Calibri" panose="020F0502020204030204" pitchFamily="34" charset="0"/>
                <a:cs typeface="Calibri" panose="020F0502020204030204" pitchFamily="34" charset="0"/>
              </a:rPr>
              <a:t>Act 4  </a:t>
            </a:r>
            <a:r>
              <a:rPr lang="en-US" sz="1400" b="0" i="0" dirty="0">
                <a:latin typeface="Calibri" panose="020F0502020204030204" pitchFamily="34" charset="0"/>
                <a:ea typeface="Calibri" panose="020F0502020204030204" pitchFamily="34" charset="0"/>
                <a:cs typeface="Calibri" panose="020F0502020204030204" pitchFamily="34" charset="0"/>
              </a:rPr>
              <a:t>The same application and the same code → REVIEW, trust 0.48. The verdict changed because the world changed — no redeploy, no configuration edit.</a:t>
            </a:r>
          </a:p>
          <a:p>
            <a:pPr marL="285750" indent="-285750" algn="l">
              <a:spcBef>
                <a:spcPts val="400"/>
              </a:spcBef>
              <a:buFont typeface="Arial" panose="020B0604020202020204" pitchFamily="34" charset="0"/>
              <a:buChar char="•"/>
            </a:pPr>
            <a:r>
              <a:rPr lang="en-US" sz="1400" b="1" i="0" dirty="0">
                <a:latin typeface="Calibri" panose="020F0502020204030204" pitchFamily="34" charset="0"/>
                <a:ea typeface="Calibri" panose="020F0502020204030204" pitchFamily="34" charset="0"/>
                <a:cs typeface="Calibri" panose="020F0502020204030204" pitchFamily="34" charset="0"/>
              </a:rPr>
              <a:t>Act 5  </a:t>
            </a:r>
            <a:r>
              <a:rPr lang="en-US" sz="1400" b="0" i="0" dirty="0">
                <a:latin typeface="Calibri" panose="020F0502020204030204" pitchFamily="34" charset="0"/>
                <a:ea typeface="Calibri" panose="020F0502020204030204" pitchFamily="34" charset="0"/>
                <a:cs typeface="Calibri" panose="020F0502020204030204" pitchFamily="34" charset="0"/>
              </a:rPr>
              <a:t>A 900,000 disbursement against a 500,000 policy rule → BLOCK, trust 0.00. The audit chain verifies across 604 entries; editing one BLOCK record to read ALLOW is detected and localised to entry #604.</a:t>
            </a:r>
          </a:p>
          <a:p>
            <a:pPr marL="0" indent="0" algn="l">
              <a:spcBef>
                <a:spcPts val="400"/>
              </a:spcBef>
              <a:buNone/>
            </a:pPr>
            <a:r>
              <a:rPr lang="en-US" sz="1450" b="1" i="0" dirty="0">
                <a:latin typeface="Calibri" panose="020F0502020204030204" pitchFamily="34" charset="0"/>
                <a:ea typeface="Calibri" panose="020F0502020204030204" pitchFamily="34" charset="0"/>
                <a:cs typeface="Calibri" panose="020F0502020204030204" pitchFamily="34" charset="0"/>
              </a:rPr>
              <a:t>Measured gateway p99 across the demonstration run: 0.5 ms, against a 50 ms budget.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Results — Drift Attribution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Severity alone says a model has moved. The per-feature breakdown says which input moved — which is what decides whether this is a real population shift or a broken upstream feed.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rift_attribution.png"/>
          <p:cNvPicPr>
            <a:picLocks noChangeAspect="1"/>
          </p:cNvPicPr>
          <p:nvPr/>
        </p:nvPicPr>
        <p:blipFill>
          <a:blip r:embed="rId4"/>
          <a:stretch>
            <a:fillRect/>
          </a:stretch>
        </p:blipFill>
        <p:spPr>
          <a:xfrm>
            <a:off x="1066647" y="2743200"/>
            <a:ext cx="10058400" cy="288036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Testing</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268 tests, all passing. The suite is written against the properties that must hold, not against the implementation — golden values, invariants, and every row of the decision matrix.</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560320"/>
          <a:ext cx="10241279" cy="254000"/>
        </p:xfrm>
        <a:graphic>
          <a:graphicData uri="http://schemas.openxmlformats.org/drawingml/2006/table">
            <a:tbl>
              <a:tblPr firstRow="1">
                <a:tableStyleId>{5C22544A-7EE6-4342-B048-85BDC9FD1C3A}</a:tableStyleId>
              </a:tblPr>
              <a:tblGrid>
                <a:gridCol w="2457907"/>
                <a:gridCol w="6144768"/>
                <a:gridCol w="1638604"/>
              </a:tblGrid>
              <a:tr h="25400">
                <a:tc>
                  <a:txBody>
                    <a:bodyPr wrap="square"/>
                    <a:lstStyle/>
                    <a:p>
                      <a:r>
                        <a:rPr sz="1000" b="1">
                          <a:solidFill>
                            <a:srgbClr val="FFFFFF"/>
                          </a:solidFill>
                          <a:latin typeface="Calibri"/>
                        </a:rPr>
                        <a:t>Suite</a:t>
                      </a:r>
                    </a:p>
                  </a:txBody>
                  <a:tcPr marL="50800" marR="50800" marT="25400" marB="25400">
                    <a:solidFill>
                      <a:srgbClr val="1F5CA8"/>
                    </a:solidFill>
                  </a:tcPr>
                </a:tc>
                <a:tc>
                  <a:txBody>
                    <a:bodyPr wrap="square"/>
                    <a:lstStyle/>
                    <a:p>
                      <a:r>
                        <a:rPr sz="1000" b="1">
                          <a:solidFill>
                            <a:srgbClr val="FFFFFF"/>
                          </a:solidFill>
                          <a:latin typeface="Calibri"/>
                        </a:rPr>
                        <a:t>What it pins down</a:t>
                      </a:r>
                    </a:p>
                  </a:txBody>
                  <a:tcPr marL="50800" marR="50800" marT="25400" marB="25400">
                    <a:solidFill>
                      <a:srgbClr val="1F5CA8"/>
                    </a:solidFill>
                  </a:tcPr>
                </a:tc>
                <a:tc>
                  <a:txBody>
                    <a:bodyPr wrap="square"/>
                    <a:lstStyle/>
                    <a:p>
                      <a:r>
                        <a:rPr sz="1000" b="1">
                          <a:solidFill>
                            <a:srgbClr val="FFFFFF"/>
                          </a:solidFill>
                          <a:latin typeface="Calibri"/>
                        </a:rPr>
                        <a:t>Tests</a:t>
                      </a:r>
                    </a:p>
                  </a:txBody>
                  <a:tcPr marL="50800" marR="50800" marT="25400" marB="25400">
                    <a:solidFill>
                      <a:srgbClr val="1F5CA8"/>
                    </a:solidFill>
                  </a:tcPr>
                </a:tc>
              </a:tr>
              <a:tr h="25400">
                <a:tc>
                  <a:txBody>
                    <a:bodyPr wrap="square"/>
                    <a:lstStyle/>
                    <a:p>
                      <a:r>
                        <a:rPr sz="1000" b="0">
                          <a:latin typeface="Calibri"/>
                        </a:rPr>
                        <a:t>unit/test_detectors</a:t>
                      </a:r>
                    </a:p>
                  </a:txBody>
                  <a:tcPr marL="50800" marR="50800" marT="25400" marB="25400">
                    <a:noFill/>
                  </a:tcPr>
                </a:tc>
                <a:tc>
                  <a:txBody>
                    <a:bodyPr wrap="square"/>
                    <a:lstStyle/>
                    <a:p>
                      <a:r>
                        <a:rPr sz="1000" b="0">
                          <a:latin typeface="Calibri"/>
                        </a:rPr>
                        <a:t>PSI and KS against hand-computed golden values; empty-sample refusal</a:t>
                      </a:r>
                    </a:p>
                  </a:txBody>
                  <a:tcPr marL="50800" marR="50800" marT="25400" marB="25400">
                    <a:noFill/>
                  </a:tcPr>
                </a:tc>
                <a:tc>
                  <a:txBody>
                    <a:bodyPr wrap="square"/>
                    <a:lstStyle/>
                    <a:p>
                      <a:r>
                        <a:rPr sz="1000" b="0">
                          <a:latin typeface="Calibri"/>
                        </a:rPr>
                        <a:t>21</a:t>
                      </a:r>
                    </a:p>
                  </a:txBody>
                  <a:tcPr marL="50800" marR="50800" marT="25400" marB="25400">
                    <a:noFill/>
                  </a:tcPr>
                </a:tc>
              </a:tr>
              <a:tr h="25400">
                <a:tc>
                  <a:txBody>
                    <a:bodyPr wrap="square"/>
                    <a:lstStyle/>
                    <a:p>
                      <a:r>
                        <a:rPr sz="1000" b="0">
                          <a:latin typeface="Calibri"/>
                        </a:rPr>
                        <a:t>unit/test_severity</a:t>
                      </a:r>
                    </a:p>
                  </a:txBody>
                  <a:tcPr marL="50800" marR="50800" marT="25400" marB="25400">
                    <a:solidFill>
                      <a:srgbClr val="F4F6F9"/>
                    </a:solidFill>
                  </a:tcPr>
                </a:tc>
                <a:tc>
                  <a:txBody>
                    <a:bodyPr wrap="square"/>
                    <a:lstStyle/>
                    <a:p>
                      <a:r>
                        <a:rPr sz="1000" b="0">
                          <a:latin typeface="Calibri"/>
                        </a:rPr>
                        <a:t>Monotonicity invariant over 500 randomised perturbations</a:t>
                      </a:r>
                    </a:p>
                  </a:txBody>
                  <a:tcPr marL="50800" marR="50800" marT="25400" marB="25400">
                    <a:solidFill>
                      <a:srgbClr val="F4F6F9"/>
                    </a:solidFill>
                  </a:tcPr>
                </a:tc>
                <a:tc>
                  <a:txBody>
                    <a:bodyPr wrap="square"/>
                    <a:lstStyle/>
                    <a:p>
                      <a:r>
                        <a:rPr sz="1000" b="0">
                          <a:latin typeface="Calibri"/>
                        </a:rPr>
                        <a:t>22</a:t>
                      </a:r>
                    </a:p>
                  </a:txBody>
                  <a:tcPr marL="50800" marR="50800" marT="25400" marB="25400">
                    <a:solidFill>
                      <a:srgbClr val="F4F6F9"/>
                    </a:solidFill>
                  </a:tcPr>
                </a:tc>
              </a:tr>
              <a:tr h="25400">
                <a:tc>
                  <a:txBody>
                    <a:bodyPr wrap="square"/>
                    <a:lstStyle/>
                    <a:p>
                      <a:r>
                        <a:rPr sz="1000" b="0">
                          <a:latin typeface="Calibri"/>
                        </a:rPr>
                        <a:t>unit/test_aggregate</a:t>
                      </a:r>
                    </a:p>
                  </a:txBody>
                  <a:tcPr marL="50800" marR="50800" marT="25400" marB="25400">
                    <a:noFill/>
                  </a:tcPr>
                </a:tc>
                <a:tc>
                  <a:txBody>
                    <a:bodyPr wrap="square"/>
                    <a:lstStyle/>
                    <a:p>
                      <a:r>
                        <a:rPr sz="1000" b="0">
                          <a:latin typeface="Calibri"/>
                        </a:rPr>
                        <a:t>Weighted mean, degraded exclusion, veto ceiling</a:t>
                      </a:r>
                    </a:p>
                  </a:txBody>
                  <a:tcPr marL="50800" marR="50800" marT="25400" marB="25400">
                    <a:noFill/>
                  </a:tcPr>
                </a:tc>
                <a:tc>
                  <a:txBody>
                    <a:bodyPr wrap="square"/>
                    <a:lstStyle/>
                    <a:p>
                      <a:r>
                        <a:rPr sz="1000" b="0">
                          <a:latin typeface="Calibri"/>
                        </a:rPr>
                        <a:t>17</a:t>
                      </a:r>
                    </a:p>
                  </a:txBody>
                  <a:tcPr marL="50800" marR="50800" marT="25400" marB="25400">
                    <a:noFill/>
                  </a:tcPr>
                </a:tc>
              </a:tr>
              <a:tr h="25400">
                <a:tc>
                  <a:txBody>
                    <a:bodyPr wrap="square"/>
                    <a:lstStyle/>
                    <a:p>
                      <a:r>
                        <a:rPr sz="1000" b="0">
                          <a:latin typeface="Calibri"/>
                        </a:rPr>
                        <a:t>unit/test_decision_table</a:t>
                      </a:r>
                    </a:p>
                  </a:txBody>
                  <a:tcPr marL="50800" marR="50800" marT="25400" marB="25400">
                    <a:solidFill>
                      <a:srgbClr val="F4F6F9"/>
                    </a:solidFill>
                  </a:tcPr>
                </a:tc>
                <a:tc>
                  <a:txBody>
                    <a:bodyPr wrap="square"/>
                    <a:lstStyle/>
                    <a:p>
                      <a:r>
                        <a:rPr sz="1000" b="0">
                          <a:latin typeface="Calibri"/>
                        </a:rPr>
                        <a:t>Every row of the decision matrix and the precedence between rows</a:t>
                      </a:r>
                    </a:p>
                  </a:txBody>
                  <a:tcPr marL="50800" marR="50800" marT="25400" marB="25400">
                    <a:solidFill>
                      <a:srgbClr val="F4F6F9"/>
                    </a:solidFill>
                  </a:tcPr>
                </a:tc>
                <a:tc>
                  <a:txBody>
                    <a:bodyPr wrap="square"/>
                    <a:lstStyle/>
                    <a:p>
                      <a:r>
                        <a:rPr sz="1000" b="0">
                          <a:latin typeface="Calibri"/>
                        </a:rPr>
                        <a:t>26</a:t>
                      </a:r>
                    </a:p>
                  </a:txBody>
                  <a:tcPr marL="50800" marR="50800" marT="25400" marB="25400">
                    <a:solidFill>
                      <a:srgbClr val="F4F6F9"/>
                    </a:solidFill>
                  </a:tcPr>
                </a:tc>
              </a:tr>
              <a:tr h="25400">
                <a:tc>
                  <a:txBody>
                    <a:bodyPr wrap="square"/>
                    <a:lstStyle/>
                    <a:p>
                      <a:r>
                        <a:rPr sz="1000" b="0">
                          <a:latin typeface="Calibri"/>
                        </a:rPr>
                        <a:t>unit/test_hash_chain</a:t>
                      </a:r>
                    </a:p>
                  </a:txBody>
                  <a:tcPr marL="50800" marR="50800" marT="25400" marB="25400">
                    <a:noFill/>
                  </a:tcPr>
                </a:tc>
                <a:tc>
                  <a:txBody>
                    <a:bodyPr wrap="square"/>
                    <a:lstStyle/>
                    <a:p>
                      <a:r>
                        <a:rPr sz="1000" b="0">
                          <a:latin typeface="Calibri"/>
                        </a:rPr>
                        <a:t>Payload edits, forged hashes, deletions — each detected and localised</a:t>
                      </a:r>
                    </a:p>
                  </a:txBody>
                  <a:tcPr marL="50800" marR="50800" marT="25400" marB="25400">
                    <a:noFill/>
                  </a:tcPr>
                </a:tc>
                <a:tc>
                  <a:txBody>
                    <a:bodyPr wrap="square"/>
                    <a:lstStyle/>
                    <a:p>
                      <a:r>
                        <a:rPr sz="1000" b="0">
                          <a:latin typeface="Calibri"/>
                        </a:rPr>
                        <a:t>19</a:t>
                      </a:r>
                    </a:p>
                  </a:txBody>
                  <a:tcPr marL="50800" marR="50800" marT="25400" marB="25400">
                    <a:noFill/>
                  </a:tcPr>
                </a:tc>
              </a:tr>
              <a:tr h="25400">
                <a:tc>
                  <a:txBody>
                    <a:bodyPr wrap="square"/>
                    <a:lstStyle/>
                    <a:p>
                      <a:r>
                        <a:rPr sz="1000" b="0">
                          <a:latin typeface="Calibri"/>
                        </a:rPr>
                        <a:t>unit/test_policy_rules</a:t>
                      </a:r>
                    </a:p>
                  </a:txBody>
                  <a:tcPr marL="50800" marR="50800" marT="25400" marB="25400">
                    <a:solidFill>
                      <a:srgbClr val="F4F6F9"/>
                    </a:solidFill>
                  </a:tcPr>
                </a:tc>
                <a:tc>
                  <a:txBody>
                    <a:bodyPr wrap="square"/>
                    <a:lstStyle/>
                    <a:p>
                      <a:r>
                        <a:rPr sz="1000" b="0">
                          <a:latin typeface="Calibri"/>
                        </a:rPr>
                        <a:t>Grammar truth table; code-injection attempts rejected at parse time</a:t>
                      </a:r>
                    </a:p>
                  </a:txBody>
                  <a:tcPr marL="50800" marR="50800" marT="25400" marB="25400">
                    <a:solidFill>
                      <a:srgbClr val="F4F6F9"/>
                    </a:solidFill>
                  </a:tcPr>
                </a:tc>
                <a:tc>
                  <a:txBody>
                    <a:bodyPr wrap="square"/>
                    <a:lstStyle/>
                    <a:p>
                      <a:r>
                        <a:rPr sz="1000" b="0">
                          <a:latin typeface="Calibri"/>
                        </a:rPr>
                        <a:t>61</a:t>
                      </a:r>
                    </a:p>
                  </a:txBody>
                  <a:tcPr marL="50800" marR="50800" marT="25400" marB="25400">
                    <a:solidFill>
                      <a:srgbClr val="F4F6F9"/>
                    </a:solidFill>
                  </a:tcPr>
                </a:tc>
              </a:tr>
              <a:tr h="25400">
                <a:tc>
                  <a:txBody>
                    <a:bodyPr wrap="square"/>
                    <a:lstStyle/>
                    <a:p>
                      <a:r>
                        <a:rPr sz="1000" b="0">
                          <a:latin typeface="Calibri"/>
                        </a:rPr>
                        <a:t>unit/test_sdk</a:t>
                      </a:r>
                    </a:p>
                  </a:txBody>
                  <a:tcPr marL="50800" marR="50800" marT="25400" marB="25400">
                    <a:noFill/>
                  </a:tcPr>
                </a:tc>
                <a:tc>
                  <a:txBody>
                    <a:bodyPr wrap="square"/>
                    <a:lstStyle/>
                    <a:p>
                      <a:r>
                        <a:rPr sz="1000" b="0">
                          <a:latin typeface="Calibri"/>
                        </a:rPr>
                        <a:t>Fail-open under every transport failure; verdict → control flow</a:t>
                      </a:r>
                    </a:p>
                  </a:txBody>
                  <a:tcPr marL="50800" marR="50800" marT="25400" marB="25400">
                    <a:noFill/>
                  </a:tcPr>
                </a:tc>
                <a:tc>
                  <a:txBody>
                    <a:bodyPr wrap="square"/>
                    <a:lstStyle/>
                    <a:p>
                      <a:r>
                        <a:rPr sz="1000" b="0">
                          <a:latin typeface="Calibri"/>
                        </a:rPr>
                        <a:t>29</a:t>
                      </a:r>
                    </a:p>
                  </a:txBody>
                  <a:tcPr marL="50800" marR="50800" marT="25400" marB="25400">
                    <a:noFill/>
                  </a:tcPr>
                </a:tc>
              </a:tr>
              <a:tr h="25400">
                <a:tc>
                  <a:txBody>
                    <a:bodyPr wrap="square"/>
                    <a:lstStyle/>
                    <a:p>
                      <a:r>
                        <a:rPr sz="1000" b="0">
                          <a:latin typeface="Calibri"/>
                        </a:rPr>
                        <a:t>integration/</a:t>
                      </a:r>
                    </a:p>
                  </a:txBody>
                  <a:tcPr marL="50800" marR="50800" marT="25400" marB="25400">
                    <a:solidFill>
                      <a:srgbClr val="F4F6F9"/>
                    </a:solidFill>
                  </a:tcPr>
                </a:tc>
                <a:tc>
                  <a:txBody>
                    <a:bodyPr wrap="square"/>
                    <a:lstStyle/>
                    <a:p>
                      <a:r>
                        <a:rPr sz="1000" b="0">
                          <a:latin typeface="Calibri"/>
                        </a:rPr>
                        <a:t>Gateway ↔ engines ↔ DB; drift worker; full control API lifecycle</a:t>
                      </a:r>
                    </a:p>
                  </a:txBody>
                  <a:tcPr marL="50800" marR="50800" marT="25400" marB="25400">
                    <a:solidFill>
                      <a:srgbClr val="F4F6F9"/>
                    </a:solidFill>
                  </a:tcPr>
                </a:tc>
                <a:tc>
                  <a:txBody>
                    <a:bodyPr wrap="square"/>
                    <a:lstStyle/>
                    <a:p>
                      <a:r>
                        <a:rPr sz="1000" b="0">
                          <a:latin typeface="Calibri"/>
                        </a:rPr>
                        <a:t>69</a:t>
                      </a:r>
                    </a:p>
                  </a:txBody>
                  <a:tcPr marL="50800" marR="50800" marT="25400" marB="25400">
                    <a:solidFill>
                      <a:srgbClr val="F4F6F9"/>
                    </a:solidFill>
                  </a:tcPr>
                </a:tc>
              </a:tr>
              <a:tr h="25400">
                <a:tc>
                  <a:txBody>
                    <a:bodyPr wrap="square"/>
                    <a:lstStyle/>
                    <a:p>
                      <a:r>
                        <a:rPr sz="1000" b="0">
                          <a:latin typeface="Calibri"/>
                        </a:rPr>
                        <a:t>e2e/</a:t>
                      </a:r>
                    </a:p>
                  </a:txBody>
                  <a:tcPr marL="50800" marR="50800" marT="25400" marB="25400">
                    <a:noFill/>
                  </a:tcPr>
                </a:tc>
                <a:tc>
                  <a:txBody>
                    <a:bodyPr wrap="square"/>
                    <a:lstStyle/>
                    <a:p>
                      <a:r>
                        <a:rPr sz="1000" b="0">
                          <a:latin typeface="Calibri"/>
                        </a:rPr>
                        <a:t>Register → baseline → drift → verdict change → audit → tamper detection</a:t>
                      </a:r>
                    </a:p>
                  </a:txBody>
                  <a:tcPr marL="50800" marR="50800" marT="25400" marB="25400">
                    <a:noFill/>
                  </a:tcPr>
                </a:tc>
                <a:tc>
                  <a:txBody>
                    <a:bodyPr wrap="square"/>
                    <a:lstStyle/>
                    <a:p>
                      <a:r>
                        <a:rPr sz="1000" b="0">
                          <a:latin typeface="Calibri"/>
                        </a:rPr>
                        <a:t>4</a:t>
                      </a:r>
                    </a:p>
                  </a:txBody>
                  <a:tcPr marL="50800" marR="50800" marT="25400" marB="254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Team Contributions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Work was split along the module boundaries described in the System Design section, so each member owns a vertical slice with its own tests.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651760"/>
          <a:ext cx="10241279" cy="101600"/>
        </p:xfrm>
        <a:graphic>
          <a:graphicData uri="http://schemas.openxmlformats.org/drawingml/2006/table">
            <a:tbl>
              <a:tblPr firstRow="1">
                <a:tableStyleId>{5C22544A-7EE6-4342-B048-85BDC9FD1C3A}</a:tableStyleId>
              </a:tblPr>
              <a:tblGrid>
                <a:gridCol w="2867558"/>
                <a:gridCol w="1843430"/>
                <a:gridCol w="5530291"/>
              </a:tblGrid>
              <a:tr h="25400">
                <a:tc>
                  <a:txBody>
                    <a:bodyPr wrap="square"/>
                    <a:lstStyle/>
                    <a:p>
                      <a:r>
                        <a:rPr sz="1000" b="1">
                          <a:solidFill>
                            <a:srgbClr val="FFFFFF"/>
                          </a:solidFill>
                          <a:latin typeface="Calibri"/>
                        </a:rPr>
                        <a:t>Team member</a:t>
                      </a:r>
                    </a:p>
                  </a:txBody>
                  <a:tcPr marL="50800" marR="50800" marT="25400" marB="25400">
                    <a:solidFill>
                      <a:srgbClr val="1F5CA8"/>
                    </a:solidFill>
                  </a:tcPr>
                </a:tc>
                <a:tc>
                  <a:txBody>
                    <a:bodyPr wrap="square"/>
                    <a:lstStyle/>
                    <a:p>
                      <a:r>
                        <a:rPr sz="1000" b="1">
                          <a:solidFill>
                            <a:srgbClr val="FFFFFF"/>
                          </a:solidFill>
                          <a:latin typeface="Calibri"/>
                        </a:rPr>
                        <a:t>USN</a:t>
                      </a:r>
                    </a:p>
                  </a:txBody>
                  <a:tcPr marL="50800" marR="50800" marT="25400" marB="25400">
                    <a:solidFill>
                      <a:srgbClr val="1F5CA8"/>
                    </a:solidFill>
                  </a:tcPr>
                </a:tc>
                <a:tc>
                  <a:txBody>
                    <a:bodyPr wrap="square"/>
                    <a:lstStyle/>
                    <a:p>
                      <a:r>
                        <a:rPr sz="1000" b="1">
                          <a:solidFill>
                            <a:srgbClr val="FFFFFF"/>
                          </a:solidFill>
                          <a:latin typeface="Calibri"/>
                        </a:rPr>
                        <a:t>Modules owned</a:t>
                      </a:r>
                    </a:p>
                  </a:txBody>
                  <a:tcPr marL="50800" marR="50800" marT="25400" marB="25400">
                    <a:solidFill>
                      <a:srgbClr val="1F5CA8"/>
                    </a:solidFill>
                  </a:tcPr>
                </a:tc>
              </a:tr>
              <a:tr h="25400">
                <a:tc>
                  <a:txBody>
                    <a:bodyPr wrap="square"/>
                    <a:lstStyle/>
                    <a:p>
                      <a:r>
                        <a:rPr sz="1000" b="0">
                          <a:latin typeface="Calibri"/>
                        </a:rPr>
                        <a:t>«Student Name 1»</a:t>
                      </a:r>
                    </a:p>
                  </a:txBody>
                  <a:tcPr marL="50800" marR="50800" marT="25400" marB="25400">
                    <a:noFill/>
                  </a:tcPr>
                </a:tc>
                <a:tc>
                  <a:txBody>
                    <a:bodyPr wrap="square"/>
                    <a:lstStyle/>
                    <a:p>
                      <a:r>
                        <a:rPr sz="1000" b="0">
                          <a:latin typeface="Calibri"/>
                        </a:rPr>
                        <a:t>«USN»</a:t>
                      </a:r>
                    </a:p>
                  </a:txBody>
                  <a:tcPr marL="50800" marR="50800" marT="25400" marB="25400">
                    <a:noFill/>
                  </a:tcPr>
                </a:tc>
                <a:tc>
                  <a:txBody>
                    <a:bodyPr wrap="square"/>
                    <a:lstStyle/>
                    <a:p>
                      <a:r>
                        <a:rPr sz="1000" b="0">
                          <a:latin typeface="Calibri"/>
                        </a:rPr>
                        <a:t>«modules owned»</a:t>
                      </a:r>
                    </a:p>
                  </a:txBody>
                  <a:tcPr marL="50800" marR="50800" marT="25400" marB="25400">
                    <a:noFill/>
                  </a:tcPr>
                </a:tc>
              </a:tr>
              <a:tr h="25400">
                <a:tc>
                  <a:txBody>
                    <a:bodyPr wrap="square"/>
                    <a:lstStyle/>
                    <a:p>
                      <a:r>
                        <a:rPr sz="1000" b="0">
                          <a:latin typeface="Calibri"/>
                        </a:rPr>
                        <a:t>«Student Name 2»</a:t>
                      </a:r>
                    </a:p>
                  </a:txBody>
                  <a:tcPr marL="50800" marR="50800" marT="25400" marB="25400">
                    <a:solidFill>
                      <a:srgbClr val="F4F6F9"/>
                    </a:solidFill>
                  </a:tcPr>
                </a:tc>
                <a:tc>
                  <a:txBody>
                    <a:bodyPr wrap="square"/>
                    <a:lstStyle/>
                    <a:p>
                      <a:r>
                        <a:rPr sz="1000" b="0">
                          <a:latin typeface="Calibri"/>
                        </a:rPr>
                        <a:t>«USN»</a:t>
                      </a:r>
                    </a:p>
                  </a:txBody>
                  <a:tcPr marL="50800" marR="50800" marT="25400" marB="25400">
                    <a:solidFill>
                      <a:srgbClr val="F4F6F9"/>
                    </a:solidFill>
                  </a:tcPr>
                </a:tc>
                <a:tc>
                  <a:txBody>
                    <a:bodyPr wrap="square"/>
                    <a:lstStyle/>
                    <a:p>
                      <a:r>
                        <a:rPr sz="1000" b="0">
                          <a:latin typeface="Calibri"/>
                        </a:rPr>
                        <a:t>«modules owned»</a:t>
                      </a:r>
                    </a:p>
                  </a:txBody>
                  <a:tcPr marL="50800" marR="50800" marT="25400" marB="25400">
                    <a:solidFill>
                      <a:srgbClr val="F4F6F9"/>
                    </a:solidFill>
                  </a:tcPr>
                </a:tc>
              </a:tr>
              <a:tr h="25400">
                <a:tc>
                  <a:txBody>
                    <a:bodyPr wrap="square"/>
                    <a:lstStyle/>
                    <a:p>
                      <a:r>
                        <a:rPr sz="1000" b="0">
                          <a:latin typeface="Calibri"/>
                        </a:rPr>
                        <a:t>«Student Name 3»</a:t>
                      </a:r>
                    </a:p>
                  </a:txBody>
                  <a:tcPr marL="50800" marR="50800" marT="25400" marB="25400">
                    <a:noFill/>
                  </a:tcPr>
                </a:tc>
                <a:tc>
                  <a:txBody>
                    <a:bodyPr wrap="square"/>
                    <a:lstStyle/>
                    <a:p>
                      <a:r>
                        <a:rPr sz="1000" b="0">
                          <a:latin typeface="Calibri"/>
                        </a:rPr>
                        <a:t>«USN»</a:t>
                      </a:r>
                    </a:p>
                  </a:txBody>
                  <a:tcPr marL="50800" marR="50800" marT="25400" marB="25400">
                    <a:noFill/>
                  </a:tcPr>
                </a:tc>
                <a:tc>
                  <a:txBody>
                    <a:bodyPr wrap="square"/>
                    <a:lstStyle/>
                    <a:p>
                      <a:r>
                        <a:rPr sz="1000" b="0">
                          <a:latin typeface="Calibri"/>
                        </a:rPr>
                        <a:t>«modules owned»</a:t>
                      </a:r>
                    </a:p>
                  </a:txBody>
                  <a:tcPr marL="50800" marR="50800" marT="25400" marB="254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Conclusion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A working runtime trust layer has been built and demonstrated end to end. An unchanged model and unchanged caller code move from ALLOW to REVIEW to BLOCK purely because the incoming population changed — which is the behaviour the project set out to produce.</a:t>
            </a:r>
          </a:p>
          <a:p>
            <a:pPr marL="0" indent="0" algn="l">
              <a:spcBef>
                <a:spcPts val="350"/>
              </a:spcBef>
              <a:buNone/>
            </a:pPr>
            <a:r>
              <a:rPr lang="en-US" sz="1650" b="1" i="0" dirty="0">
                <a:latin typeface="Calibri" panose="020F0502020204030204" pitchFamily="34" charset="0"/>
                <a:ea typeface="Calibri" panose="020F0502020204030204" pitchFamily="34" charset="0"/>
                <a:cs typeface="Calibri" panose="020F0502020204030204" pitchFamily="34" charset="0"/>
              </a:rPr>
              <a:t>Objectives achieved</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O1, O5 — multi-signal fusion behind one extensible engine interface.</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O2 — per-feature PSI/KS attribution surfaced with every verdict.</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O3 — measured gateway p99 of 0.5 ms against a 50 ms budget.</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O4 — tamper-evident audit chain, demonstrated under an actual tampering attempt.</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O6 — five-line integration surface, standard library only.</a:t>
            </a:r>
          </a:p>
          <a:p>
            <a:pPr marL="0" indent="0" algn="l">
              <a:spcBef>
                <a:spcPts val="350"/>
              </a:spcBef>
              <a:buNone/>
            </a:pPr>
            <a:r>
              <a:rPr lang="en-US" sz="1650" b="1" i="0" dirty="0">
                <a:latin typeface="Calibri" panose="020F0502020204030204" pitchFamily="34" charset="0"/>
                <a:ea typeface="Calibri" panose="020F0502020204030204" pitchFamily="34" charset="0"/>
                <a:cs typeface="Calibri" panose="020F0502020204030204" pitchFamily="34" charset="0"/>
              </a:rPr>
              <a:t>Remaining work for Review-2</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Implement the risk engine behind the existing seam (transaction velocity, anomaly scoring).</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Load-test the gateway under concurrency and validate the p99 budget at realistic volume.</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Separate pipeline-break detection from population shift as an explicit signal.</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Language-agnostic sidecar proxy so non-Python callers can integrate.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9</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68599917"/>
      </p:ext>
    </p:extLst>
  </p:cSld>
  <p:clrMapOvr>
    <a:masterClrMapping/>
  </p:clrMapOvr>
</p:sld>
</file>

<file path=ppt/theme/theme1.xml><?xml version="1.0" encoding="utf-8"?>
<a:theme xmlns:a="http://schemas.openxmlformats.org/drawingml/2006/main" name="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73</TotalTime>
  <Words>194</Words>
  <Application>Microsoft Office PowerPoint</Application>
  <PresentationFormat>Widescreen</PresentationFormat>
  <Paragraphs>56</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Times New Roman</vt:lpstr>
      <vt:lpstr>Office Theme</vt:lpstr>
      <vt:lpstr>BMS College of Engineering (Autonomous College under VTU) Department of Artificial Intelligence and Data Science   Project Work Phase-II(23AI7PWPP1) Review-1 Presentation on   Project Title </vt:lpstr>
      <vt:lpstr>Table of Contents </vt:lpstr>
      <vt:lpstr>Abstract </vt:lpstr>
      <vt:lpstr>Introduction</vt:lpstr>
      <vt:lpstr>Literature Survey</vt:lpstr>
      <vt:lpstr>Requirement Analysis and Specification</vt:lpstr>
      <vt:lpstr>System Design</vt:lpstr>
      <vt:lpstr>Implementation</vt:lpstr>
      <vt:lpstr>Conclusion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BMS College of Engineering  Department of Artificial Intelligence and Data Science    Project Title</dc:title>
  <dc:creator>Admin</dc:creator>
  <cp:lastModifiedBy>Admin</cp:lastModifiedBy>
  <cp:revision>12</cp:revision>
  <dcterms:created xsi:type="dcterms:W3CDTF">2025-03-11T07:28:48Z</dcterms:created>
  <dcterms:modified xsi:type="dcterms:W3CDTF">2026-09-03T11:48:10Z</dcterms:modified>
</cp:coreProperties>
</file>