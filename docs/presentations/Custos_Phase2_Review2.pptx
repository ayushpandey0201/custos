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notesMasterIdLst>
    <p:notesMasterId r:id="rId11"/>
  </p:notesMasterIdLst>
  <p:sldIdLst>
    <p:sldId id="256" r:id="rId2"/>
    <p:sldId id="257" r:id="rId3"/>
    <p:sldId id="258" r:id="rId4"/>
    <p:sldId id="259" r:id="rId17"/>
    <p:sldId id="260" r:id="rId5"/>
    <p:sldId id="261" r:id="rId18"/>
    <p:sldId id="262" r:id="rId19"/>
    <p:sldId id="263" r:id="rId6"/>
    <p:sldId id="264" r:id="rId20"/>
    <p:sldId id="265" r:id="rId7"/>
    <p:sldId id="266" r:id="rId8"/>
    <p:sldId id="267" r:id="rId21"/>
    <p:sldId id="268" r:id="rId9"/>
    <p:sldId id="269" r:id="rId22"/>
    <p:sldId id="270" r:id="rId23"/>
    <p:sldId id="271" r:id="rId24"/>
    <p:sldId id="272" r:id="rId25"/>
    <p:sldId id="273" r:id="rId26"/>
    <p:sldId id="274" r:id="rId27"/>
    <p:sldId id="275" r:id="rId30"/>
    <p:sldId id="276" r:id="rId28"/>
    <p:sldId id="277" r:id="rId31"/>
    <p:sldId id="278" r:id="rId29"/>
    <p:sldId id="27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3.xml"/><Relationship Id="rId10" Type="http://schemas.openxmlformats.org/officeDocument/2006/relationships/slide" Target="slides/slide24.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4.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9.xml"/><Relationship Id="rId21" Type="http://schemas.openxmlformats.org/officeDocument/2006/relationships/slide" Target="slides/slide12.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1.xml"/><Relationship Id="rId29" Type="http://schemas.openxmlformats.org/officeDocument/2006/relationships/slide" Target="slides/slide23.xml"/><Relationship Id="rId30" Type="http://schemas.openxmlformats.org/officeDocument/2006/relationships/slide" Target="slides/slide20.xml"/><Relationship Id="rId31"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E64CC-FAEA-419F-85AD-198B850C8D23}" type="datetimeFigureOut">
              <a:rPr lang="en-IN" smtClean="0"/>
              <a:t>03-09-2026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8047E-ABDD-4AF6-BACE-9BE3DC3E46C3}" type="slidenum">
              <a:rPr lang="en-IN" smtClean="0"/>
              <a:t>‹#›</a:t>
            </a:fld>
            <a:endParaRPr lang="en-IN"/>
          </a:p>
        </p:txBody>
      </p:sp>
    </p:spTree>
    <p:extLst>
      <p:ext uri="{BB962C8B-B14F-4D97-AF65-F5344CB8AC3E}">
        <p14:creationId xmlns:p14="http://schemas.microsoft.com/office/powerpoint/2010/main" val="113242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8DC7-A1AF-454D-8F51-1EED3626D6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55B11F-023F-4919-AB4A-585D993C1A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51392C-B085-4A0C-835C-887FE05E4D59}"/>
              </a:ext>
            </a:extLst>
          </p:cNvPr>
          <p:cNvSpPr>
            <a:spLocks noGrp="1"/>
          </p:cNvSpPr>
          <p:nvPr>
            <p:ph type="dt" sz="half" idx="10"/>
          </p:nvPr>
        </p:nvSpPr>
        <p:spPr/>
        <p:txBody>
          <a:bodyPr/>
          <a:lstStyle/>
          <a:p>
            <a:fld id="{F96B690A-2018-4C35-84C1-074B36A8631B}" type="datetime3">
              <a:rPr lang="en-US" smtClean="0"/>
              <a:t>3 September 2026</a:t>
            </a:fld>
            <a:endParaRPr lang="en-US" dirty="0"/>
          </a:p>
        </p:txBody>
      </p:sp>
      <p:sp>
        <p:nvSpPr>
          <p:cNvPr id="5" name="Footer Placeholder 4">
            <a:extLst>
              <a:ext uri="{FF2B5EF4-FFF2-40B4-BE49-F238E27FC236}">
                <a16:creationId xmlns:a16="http://schemas.microsoft.com/office/drawing/2014/main" id="{B6216E43-37A0-4A7C-8D2E-D56ED0504E6F}"/>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2AD48056-AE10-4E2D-836A-8FE0A2148E5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5015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B72E-9EB0-4D5C-9212-928BA26806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C7BAEB-BDDE-4D24-8B52-E7DA57FB6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263259-5941-4A24-9144-10E25DA07401}"/>
              </a:ext>
            </a:extLst>
          </p:cNvPr>
          <p:cNvSpPr>
            <a:spLocks noGrp="1"/>
          </p:cNvSpPr>
          <p:nvPr>
            <p:ph type="dt" sz="half" idx="10"/>
          </p:nvPr>
        </p:nvSpPr>
        <p:spPr/>
        <p:txBody>
          <a:bodyPr/>
          <a:lstStyle/>
          <a:p>
            <a:fld id="{8B5D5C25-6344-4FCC-B0C5-B8E7C09A7920}" type="datetime3">
              <a:rPr lang="en-US" smtClean="0"/>
              <a:t>3 September 2026</a:t>
            </a:fld>
            <a:endParaRPr lang="en-US" dirty="0"/>
          </a:p>
        </p:txBody>
      </p:sp>
      <p:sp>
        <p:nvSpPr>
          <p:cNvPr id="5" name="Footer Placeholder 4">
            <a:extLst>
              <a:ext uri="{FF2B5EF4-FFF2-40B4-BE49-F238E27FC236}">
                <a16:creationId xmlns:a16="http://schemas.microsoft.com/office/drawing/2014/main" id="{34462CA2-E8B4-4C80-8E31-44F6F336A443}"/>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C3FCB4F3-0B0C-45B4-8CD2-8CEA99260068}"/>
              </a:ext>
            </a:extLst>
          </p:cNvPr>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25684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C05A-F84C-46F4-AA53-E5BD71E6CE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758BEB-486A-40BF-BFA4-AAC41F702A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E777AD-1E4A-49AD-B010-4B5F4094713E}"/>
              </a:ext>
            </a:extLst>
          </p:cNvPr>
          <p:cNvSpPr>
            <a:spLocks noGrp="1"/>
          </p:cNvSpPr>
          <p:nvPr>
            <p:ph type="dt" sz="half" idx="10"/>
          </p:nvPr>
        </p:nvSpPr>
        <p:spPr/>
        <p:txBody>
          <a:bodyPr/>
          <a:lstStyle/>
          <a:p>
            <a:fld id="{5B63C459-52BE-4A7F-8B66-B0BDD5930200}" type="datetime3">
              <a:rPr lang="en-US" smtClean="0"/>
              <a:t>3 September 2026</a:t>
            </a:fld>
            <a:endParaRPr lang="en-US" dirty="0"/>
          </a:p>
        </p:txBody>
      </p:sp>
      <p:sp>
        <p:nvSpPr>
          <p:cNvPr id="5" name="Footer Placeholder 4">
            <a:extLst>
              <a:ext uri="{FF2B5EF4-FFF2-40B4-BE49-F238E27FC236}">
                <a16:creationId xmlns:a16="http://schemas.microsoft.com/office/drawing/2014/main" id="{EA639839-E3C8-4668-B4BB-8F9AA9CFDB8A}"/>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8523822D-B98B-437B-820A-234A636795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2895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45003-09BE-47AD-ABD9-CF3855D76D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64CB74-49D3-41E8-95EE-82990C4440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EFC566-6024-497C-BE11-8D0352BC3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C4B89F-D41B-462A-A991-2D4B63239AFD}"/>
              </a:ext>
            </a:extLst>
          </p:cNvPr>
          <p:cNvSpPr>
            <a:spLocks noGrp="1"/>
          </p:cNvSpPr>
          <p:nvPr>
            <p:ph type="dt" sz="half" idx="10"/>
          </p:nvPr>
        </p:nvSpPr>
        <p:spPr/>
        <p:txBody>
          <a:bodyPr/>
          <a:lstStyle/>
          <a:p>
            <a:fld id="{85600D5F-C7D7-4DA9-8ED1-6A26ED488053}" type="datetime3">
              <a:rPr lang="en-US" smtClean="0"/>
              <a:t>3 September 2026</a:t>
            </a:fld>
            <a:endParaRPr lang="en-US" dirty="0"/>
          </a:p>
        </p:txBody>
      </p:sp>
      <p:sp>
        <p:nvSpPr>
          <p:cNvPr id="6" name="Footer Placeholder 5">
            <a:extLst>
              <a:ext uri="{FF2B5EF4-FFF2-40B4-BE49-F238E27FC236}">
                <a16:creationId xmlns:a16="http://schemas.microsoft.com/office/drawing/2014/main" id="{D2B69D38-E1C2-4933-BBFE-F57C39178E8D}"/>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1BD9292E-2746-4501-ADF7-C4F14A8DB8BE}"/>
              </a:ext>
            </a:extLst>
          </p:cNvPr>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780618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0879-8E62-45BC-AF8C-25286B3B2C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483ABB-CE83-403E-8621-103F660E8A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2C4F16-181B-418B-8C33-53BD349A33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54CB22-06EF-4C53-97AD-6005175A88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EDC58C-36E6-4ED2-A747-8257F32B09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59A9E8-C2BF-4670-8445-296C9B28891B}"/>
              </a:ext>
            </a:extLst>
          </p:cNvPr>
          <p:cNvSpPr>
            <a:spLocks noGrp="1"/>
          </p:cNvSpPr>
          <p:nvPr>
            <p:ph type="dt" sz="half" idx="10"/>
          </p:nvPr>
        </p:nvSpPr>
        <p:spPr/>
        <p:txBody>
          <a:bodyPr/>
          <a:lstStyle/>
          <a:p>
            <a:fld id="{9DF619B0-41D6-4259-BDD5-5E4016DE45FE}" type="datetime3">
              <a:rPr lang="en-US" smtClean="0"/>
              <a:t>3 September 2026</a:t>
            </a:fld>
            <a:endParaRPr lang="en-US" dirty="0"/>
          </a:p>
        </p:txBody>
      </p:sp>
      <p:sp>
        <p:nvSpPr>
          <p:cNvPr id="8" name="Footer Placeholder 7">
            <a:extLst>
              <a:ext uri="{FF2B5EF4-FFF2-40B4-BE49-F238E27FC236}">
                <a16:creationId xmlns:a16="http://schemas.microsoft.com/office/drawing/2014/main" id="{38029DB8-1E8B-4256-906C-E498D14E7FF7}"/>
              </a:ext>
            </a:extLst>
          </p:cNvPr>
          <p:cNvSpPr>
            <a:spLocks noGrp="1"/>
          </p:cNvSpPr>
          <p:nvPr>
            <p:ph type="ftr" sz="quarter" idx="11"/>
          </p:nvPr>
        </p:nvSpPr>
        <p:spPr/>
        <p:txBody>
          <a:bodyPr/>
          <a:lstStyle/>
          <a:p>
            <a:r>
              <a:rPr lang="en-US"/>
              <a:t>Dept of AI &amp; DS</a:t>
            </a:r>
            <a:endParaRPr lang="en-US" dirty="0"/>
          </a:p>
        </p:txBody>
      </p:sp>
      <p:sp>
        <p:nvSpPr>
          <p:cNvPr id="9" name="Slide Number Placeholder 8">
            <a:extLst>
              <a:ext uri="{FF2B5EF4-FFF2-40B4-BE49-F238E27FC236}">
                <a16:creationId xmlns:a16="http://schemas.microsoft.com/office/drawing/2014/main" id="{43F8EAA8-29C1-4CB8-9FB3-CA8AC6ADF66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573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AEF7-FFC2-4F73-B673-20FA77FA56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2BD792-97FD-4783-B155-DCBBCEC6958C}"/>
              </a:ext>
            </a:extLst>
          </p:cNvPr>
          <p:cNvSpPr>
            <a:spLocks noGrp="1"/>
          </p:cNvSpPr>
          <p:nvPr>
            <p:ph type="dt" sz="half" idx="10"/>
          </p:nvPr>
        </p:nvSpPr>
        <p:spPr/>
        <p:txBody>
          <a:bodyPr/>
          <a:lstStyle/>
          <a:p>
            <a:fld id="{7AAB6B39-79AD-49CF-9581-BBED8573797D}" type="datetime3">
              <a:rPr lang="en-US" smtClean="0"/>
              <a:t>3 September 2026</a:t>
            </a:fld>
            <a:endParaRPr lang="en-US" dirty="0"/>
          </a:p>
        </p:txBody>
      </p:sp>
      <p:sp>
        <p:nvSpPr>
          <p:cNvPr id="4" name="Footer Placeholder 3">
            <a:extLst>
              <a:ext uri="{FF2B5EF4-FFF2-40B4-BE49-F238E27FC236}">
                <a16:creationId xmlns:a16="http://schemas.microsoft.com/office/drawing/2014/main" id="{50E01A47-5CA7-49DD-B220-7036801F4C5D}"/>
              </a:ext>
            </a:extLst>
          </p:cNvPr>
          <p:cNvSpPr>
            <a:spLocks noGrp="1"/>
          </p:cNvSpPr>
          <p:nvPr>
            <p:ph type="ftr" sz="quarter" idx="11"/>
          </p:nvPr>
        </p:nvSpPr>
        <p:spPr/>
        <p:txBody>
          <a:bodyPr/>
          <a:lstStyle/>
          <a:p>
            <a:r>
              <a:rPr lang="en-US"/>
              <a:t>Dept of AI &amp; DS</a:t>
            </a:r>
            <a:endParaRPr lang="en-US" dirty="0"/>
          </a:p>
        </p:txBody>
      </p:sp>
      <p:sp>
        <p:nvSpPr>
          <p:cNvPr id="5" name="Slide Number Placeholder 4">
            <a:extLst>
              <a:ext uri="{FF2B5EF4-FFF2-40B4-BE49-F238E27FC236}">
                <a16:creationId xmlns:a16="http://schemas.microsoft.com/office/drawing/2014/main" id="{C53A02EB-4172-4384-8A07-825746F55A0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573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F028B-BC35-4777-8DA5-349770F4D7E3}"/>
              </a:ext>
            </a:extLst>
          </p:cNvPr>
          <p:cNvSpPr>
            <a:spLocks noGrp="1"/>
          </p:cNvSpPr>
          <p:nvPr>
            <p:ph type="dt" sz="half" idx="10"/>
          </p:nvPr>
        </p:nvSpPr>
        <p:spPr/>
        <p:txBody>
          <a:bodyPr/>
          <a:lstStyle/>
          <a:p>
            <a:fld id="{354D09DC-397F-4C90-BEF8-1B27AE70C1B8}" type="datetime3">
              <a:rPr lang="en-US" smtClean="0"/>
              <a:t>3 September 2026</a:t>
            </a:fld>
            <a:endParaRPr lang="en-US" dirty="0"/>
          </a:p>
        </p:txBody>
      </p:sp>
      <p:sp>
        <p:nvSpPr>
          <p:cNvPr id="3" name="Footer Placeholder 2">
            <a:extLst>
              <a:ext uri="{FF2B5EF4-FFF2-40B4-BE49-F238E27FC236}">
                <a16:creationId xmlns:a16="http://schemas.microsoft.com/office/drawing/2014/main" id="{0781F0F5-4C14-4F89-807A-BAFA18E6D703}"/>
              </a:ext>
            </a:extLst>
          </p:cNvPr>
          <p:cNvSpPr>
            <a:spLocks noGrp="1"/>
          </p:cNvSpPr>
          <p:nvPr>
            <p:ph type="ftr" sz="quarter" idx="11"/>
          </p:nvPr>
        </p:nvSpPr>
        <p:spPr/>
        <p:txBody>
          <a:bodyPr/>
          <a:lstStyle/>
          <a:p>
            <a:r>
              <a:rPr lang="en-US"/>
              <a:t>Dept of AI &amp; DS</a:t>
            </a:r>
            <a:endParaRPr lang="en-US" dirty="0"/>
          </a:p>
        </p:txBody>
      </p:sp>
      <p:sp>
        <p:nvSpPr>
          <p:cNvPr id="4" name="Slide Number Placeholder 3">
            <a:extLst>
              <a:ext uri="{FF2B5EF4-FFF2-40B4-BE49-F238E27FC236}">
                <a16:creationId xmlns:a16="http://schemas.microsoft.com/office/drawing/2014/main" id="{2B1ECB63-3832-410F-B52B-EA5059FB425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1920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265A5-589F-436F-B963-51B674C2C3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5C5788-6A11-41D3-AFA3-9AEA251F6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DCE902-1E56-451A-B337-0A06E5A5F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E3FBC-6860-44C4-AA13-71D32C829D41}"/>
              </a:ext>
            </a:extLst>
          </p:cNvPr>
          <p:cNvSpPr>
            <a:spLocks noGrp="1"/>
          </p:cNvSpPr>
          <p:nvPr>
            <p:ph type="dt" sz="half" idx="10"/>
          </p:nvPr>
        </p:nvSpPr>
        <p:spPr/>
        <p:txBody>
          <a:bodyPr/>
          <a:lstStyle/>
          <a:p>
            <a:fld id="{CB0CD71C-7E0D-4C06-BD4A-154CEF952E54}" type="datetime3">
              <a:rPr lang="en-US" smtClean="0"/>
              <a:t>3 September 2026</a:t>
            </a:fld>
            <a:endParaRPr lang="en-US" dirty="0"/>
          </a:p>
        </p:txBody>
      </p:sp>
      <p:sp>
        <p:nvSpPr>
          <p:cNvPr id="6" name="Footer Placeholder 5">
            <a:extLst>
              <a:ext uri="{FF2B5EF4-FFF2-40B4-BE49-F238E27FC236}">
                <a16:creationId xmlns:a16="http://schemas.microsoft.com/office/drawing/2014/main" id="{C0717787-1889-4CB9-A6B6-0B536CE46FBD}"/>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A11C5F25-288D-4C05-A2D0-34DF85E3C32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847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D07F-8DC5-4B8C-9A7F-3DCCA66B9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5A51A-5EDE-4327-972A-56F8AD07C2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C9361E-CE10-493C-AEDB-CA7DA6A2E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CDBE5-0868-41ED-B735-08360E926664}"/>
              </a:ext>
            </a:extLst>
          </p:cNvPr>
          <p:cNvSpPr>
            <a:spLocks noGrp="1"/>
          </p:cNvSpPr>
          <p:nvPr>
            <p:ph type="dt" sz="half" idx="10"/>
          </p:nvPr>
        </p:nvSpPr>
        <p:spPr/>
        <p:txBody>
          <a:bodyPr/>
          <a:lstStyle/>
          <a:p>
            <a:fld id="{7A48FDE7-01DF-4ABF-99D1-733E01D15C4D}" type="datetime3">
              <a:rPr lang="en-US" smtClean="0"/>
              <a:t>3 September 2026</a:t>
            </a:fld>
            <a:endParaRPr lang="en-US" dirty="0"/>
          </a:p>
        </p:txBody>
      </p:sp>
      <p:sp>
        <p:nvSpPr>
          <p:cNvPr id="6" name="Footer Placeholder 5">
            <a:extLst>
              <a:ext uri="{FF2B5EF4-FFF2-40B4-BE49-F238E27FC236}">
                <a16:creationId xmlns:a16="http://schemas.microsoft.com/office/drawing/2014/main" id="{5018971D-9DD4-4EF2-9CE0-1E2EA1EF7CF9}"/>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5E6E5A19-0667-4C50-872A-ADBEF04AF0B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3992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A367-7B98-4B2A-AD6F-870DCECC2A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2F63E8-4F90-40DC-B1B5-8723F4D226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44E234-4D4A-47CB-BF9E-3E0A5A2E1017}"/>
              </a:ext>
            </a:extLst>
          </p:cNvPr>
          <p:cNvSpPr>
            <a:spLocks noGrp="1"/>
          </p:cNvSpPr>
          <p:nvPr>
            <p:ph type="dt" sz="half" idx="10"/>
          </p:nvPr>
        </p:nvSpPr>
        <p:spPr/>
        <p:txBody>
          <a:bodyPr/>
          <a:lstStyle/>
          <a:p>
            <a:fld id="{97C4DF75-2FED-488D-BFD6-8E71635C4D39}" type="datetime3">
              <a:rPr lang="en-US" smtClean="0"/>
              <a:t>3 September 2026</a:t>
            </a:fld>
            <a:endParaRPr lang="en-US" dirty="0"/>
          </a:p>
        </p:txBody>
      </p:sp>
      <p:sp>
        <p:nvSpPr>
          <p:cNvPr id="5" name="Footer Placeholder 4">
            <a:extLst>
              <a:ext uri="{FF2B5EF4-FFF2-40B4-BE49-F238E27FC236}">
                <a16:creationId xmlns:a16="http://schemas.microsoft.com/office/drawing/2014/main" id="{C6F46CE3-AF2A-4CBF-AA79-BFBF38FF4AC2}"/>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51BFBBF8-FA99-4380-AC6E-975D048364D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701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61571-5B71-44C5-B8A1-03F5C543A6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2296D-5675-43B3-A998-5E03CAB29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87514F-7C52-405E-9731-6E25A1D84DE2}"/>
              </a:ext>
            </a:extLst>
          </p:cNvPr>
          <p:cNvSpPr>
            <a:spLocks noGrp="1"/>
          </p:cNvSpPr>
          <p:nvPr>
            <p:ph type="dt" sz="half" idx="10"/>
          </p:nvPr>
        </p:nvSpPr>
        <p:spPr/>
        <p:txBody>
          <a:bodyPr/>
          <a:lstStyle/>
          <a:p>
            <a:fld id="{9425C36C-502D-4ECE-A30C-9E599D171CDD}" type="datetime3">
              <a:rPr lang="en-US" smtClean="0"/>
              <a:t>3 September 2026</a:t>
            </a:fld>
            <a:endParaRPr lang="en-US" dirty="0"/>
          </a:p>
        </p:txBody>
      </p:sp>
      <p:sp>
        <p:nvSpPr>
          <p:cNvPr id="5" name="Footer Placeholder 4">
            <a:extLst>
              <a:ext uri="{FF2B5EF4-FFF2-40B4-BE49-F238E27FC236}">
                <a16:creationId xmlns:a16="http://schemas.microsoft.com/office/drawing/2014/main" id="{BAA16880-27F0-438E-8025-61DE8779EFEC}"/>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6AEC0B98-06B8-4EC1-9657-61C66E3F328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90956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C45A6E-8825-46BC-99DE-D500EC37E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BCE6DD-1CF5-45D9-A60F-1126C62EE2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8227C5-F783-4179-A852-7DEB6E167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68655-725C-4355-803F-4C179E033006}" type="datetime3">
              <a:rPr lang="en-US" smtClean="0"/>
              <a:t>3 September 2026</a:t>
            </a:fld>
            <a:endParaRPr lang="en-US" dirty="0"/>
          </a:p>
        </p:txBody>
      </p:sp>
      <p:sp>
        <p:nvSpPr>
          <p:cNvPr id="5" name="Footer Placeholder 4">
            <a:extLst>
              <a:ext uri="{FF2B5EF4-FFF2-40B4-BE49-F238E27FC236}">
                <a16:creationId xmlns:a16="http://schemas.microsoft.com/office/drawing/2014/main" id="{E2C64982-03A8-46F2-A6BE-9F377DEF7A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AI &amp; DS</a:t>
            </a:r>
            <a:endParaRPr lang="en-US" dirty="0"/>
          </a:p>
        </p:txBody>
      </p:sp>
      <p:sp>
        <p:nvSpPr>
          <p:cNvPr id="6" name="Slide Number Placeholder 5">
            <a:extLst>
              <a:ext uri="{FF2B5EF4-FFF2-40B4-BE49-F238E27FC236}">
                <a16:creationId xmlns:a16="http://schemas.microsoft.com/office/drawing/2014/main" id="{2D2755F6-3403-4B19-B155-5ED22F4EAD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082169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981198" y="0"/>
            <a:ext cx="8365069" cy="2658535"/>
          </a:xfrm>
        </p:spPr>
        <p:txBody>
          <a:bodyPr>
            <a:normAutofit/>
          </a:bodyPr>
          <a:lstStyle/>
          <a:p>
            <a:pPr marL="0" indent="0" algn="ctr">
              <a:spcBef>
                <a:spcPts val="0"/>
              </a:spcBef>
              <a:buNone/>
            </a:pPr>
            <a:r>
              <a:rPr lang="en-US" sz="2800" b="1" i="0" dirty="0">
                <a:latin typeface="Calibri" panose="020F0502020204030204" pitchFamily="34" charset="0"/>
                <a:ea typeface="Calibri" panose="020F0502020204030204" pitchFamily="34" charset="0"/>
                <a:cs typeface="Calibri" panose="020F0502020204030204" pitchFamily="34" charset="0"/>
              </a:rPr>
              <a:t>BMS College of Engineering</a:t>
            </a:r>
          </a:p>
          <a:p>
            <a:pPr marL="0" indent="0" algn="ctr">
              <a:spcBef>
                <a:spcPts val="10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(Autonomous College under VTU)</a:t>
            </a:r>
          </a:p>
          <a:p>
            <a:pPr marL="0" indent="0" algn="ctr">
              <a:spcBef>
                <a:spcPts val="25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Department of Artificial Intelligence and Data Science</a:t>
            </a:r>
          </a:p>
          <a:p>
            <a:pPr marL="0" indent="0" algn="ctr">
              <a:spcBef>
                <a:spcPts val="35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Project Work Phase-II (23AI7PWPP1) — Review-2</a:t>
            </a:r>
          </a:p>
          <a:p>
            <a:pPr marL="0" indent="0" algn="ctr">
              <a:spcBef>
                <a:spcPts val="35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CUSTOS</a:t>
            </a:r>
          </a:p>
          <a:p>
            <a:pPr marL="0" indent="0" algn="ctr">
              <a:spcBef>
                <a:spcPts val="120"/>
              </a:spcBef>
              <a:buNone/>
            </a:pPr>
            <a:r>
              <a:rPr lang="en-US" sz="1800" b="0" i="0" dirty="0">
                <a:latin typeface="Calibri" panose="020F0502020204030204" pitchFamily="34" charset="0"/>
                <a:ea typeface="Calibri" panose="020F0502020204030204" pitchFamily="34" charset="0"/>
                <a:cs typeface="Calibri" panose="020F0502020204030204" pitchFamily="34" charset="0"/>
              </a:rPr>
              <a:t>Runtime Drift Enforcement for Production ML Models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3657597"/>
            <a:ext cx="8957733" cy="2531536"/>
          </a:xfrm>
        </p:spPr>
        <p:txBody>
          <a:bodyPr>
            <a:normAutofit/>
          </a:bodyPr>
          <a:lstStyle/>
          <a:p>
            <a:pPr marL="0" indent="0" algn="ctr">
              <a:spcBef>
                <a:spcPts val="0"/>
              </a:spcBef>
              <a:buNone/>
            </a:pPr>
            <a:r>
              <a:rPr lang="en-US" sz="1300" b="0" i="1" dirty="0">
                <a:latin typeface="Calibri" panose="020F0502020204030204" pitchFamily="34" charset="0"/>
                <a:ea typeface="Calibri" panose="020F0502020204030204" pitchFamily="34" charset="0"/>
                <a:cs typeface="Calibri" panose="020F0502020204030204" pitchFamily="34" charset="0"/>
              </a:rPr>
              <a:t>Presented by</a:t>
            </a:r>
          </a:p>
          <a:p>
            <a:pPr marL="0" indent="0" algn="ctr">
              <a:spcBef>
                <a:spcPts val="20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AYUSH PANDEY		1BM23AD074</a:t>
            </a:r>
          </a:p>
          <a:p>
            <a:pPr marL="0" indent="0" algn="ctr">
              <a:spcBef>
                <a:spcPts val="12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VIVEK BOORA		1BM23AD073</a:t>
            </a:r>
          </a:p>
          <a:p>
            <a:pPr marL="0" indent="0" algn="ctr">
              <a:spcBef>
                <a:spcPts val="12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NITIN		1BM24AD404</a:t>
            </a:r>
          </a:p>
          <a:p>
            <a:pPr marL="0" indent="0" algn="ctr">
              <a:spcBef>
                <a:spcPts val="400"/>
              </a:spcBef>
              <a:buNone/>
            </a:pPr>
            <a:r>
              <a:rPr lang="en-US" sz="1300" b="0" i="1" dirty="0">
                <a:latin typeface="Calibri" panose="020F0502020204030204" pitchFamily="34" charset="0"/>
                <a:ea typeface="Calibri" panose="020F0502020204030204" pitchFamily="34" charset="0"/>
                <a:cs typeface="Calibri" panose="020F0502020204030204" pitchFamily="34" charset="0"/>
              </a:rPr>
              <a:t>Under the guidance of</a:t>
            </a:r>
          </a:p>
          <a:p>
            <a:pPr marL="0" indent="0" algn="ctr">
              <a:spcBef>
                <a:spcPts val="150"/>
              </a:spcBef>
              <a:buNone/>
            </a:pPr>
            <a:r>
              <a:rPr lang="en-US" sz="1700" b="1" i="0" dirty="0">
                <a:latin typeface="Calibri" panose="020F0502020204030204" pitchFamily="34" charset="0"/>
                <a:ea typeface="Calibri" panose="020F0502020204030204" pitchFamily="34" charset="0"/>
                <a:cs typeface="Calibri" panose="020F0502020204030204" pitchFamily="34" charset="0"/>
              </a:rPr>
              <a:t>Dr. Seemanthini K G</a:t>
            </a:r>
          </a:p>
          <a:p>
            <a:pPr marL="0" indent="0" algn="ctr">
              <a:spcBef>
                <a:spcPts val="6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HOD, Dept. of AI &amp; DS, BMSCE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0D1240E3-26F4-4429-8843-A286E3DCB8D9}"/>
              </a:ext>
            </a:extLst>
          </p:cNvPr>
          <p:cNvSpPr>
            <a:spLocks noGrp="1"/>
          </p:cNvSpPr>
          <p:nvPr>
            <p:ph type="dt" sz="half" idx="10"/>
          </p:nvPr>
        </p:nvSpPr>
        <p:spPr/>
        <p:txBody>
          <a:bodyPr/>
          <a:lstStyle/>
          <a:p>
            <a:fld id="{3824AD60-7A91-4584-9CFF-40792E6A86E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485B91F5-5ED3-4E5D-840C-40EC0896DC3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
        <p:nvSpPr>
          <p:cNvPr id="7" name="Footer Placeholder 6">
            <a:extLst>
              <a:ext uri="{FF2B5EF4-FFF2-40B4-BE49-F238E27FC236}">
                <a16:creationId xmlns:a16="http://schemas.microsoft.com/office/drawing/2014/main" id="{66A3399C-E55B-4351-BDB5-EC39B3EC36B2}"/>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2717080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Abstract</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Progress since Review-1</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Introduction — motivation, existing vs proposed system, objectives</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Literature survey and research gap</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Requirement analysis and specification</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System design — architecture and decision logic</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Implementation — new: risk engine and admission control</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Results and validation</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Engineering rigour, governed self-healing, work plan, conclusion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6" name="Date Placeholder 5">
            <a:extLst>
              <a:ext uri="{FF2B5EF4-FFF2-40B4-BE49-F238E27FC236}">
                <a16:creationId xmlns:a16="http://schemas.microsoft.com/office/drawing/2014/main" id="{D9101FD2-598A-4BE2-AC54-854A97F64A5A}"/>
              </a:ext>
            </a:extLst>
          </p:cNvPr>
          <p:cNvSpPr>
            <a:spLocks noGrp="1"/>
          </p:cNvSpPr>
          <p:nvPr>
            <p:ph type="dt" sz="half" idx="10"/>
          </p:nvPr>
        </p:nvSpPr>
        <p:spPr/>
        <p:txBody>
          <a:bodyPr/>
          <a:lstStyle/>
          <a:p>
            <a:fld id="{1719FD98-5FDC-4CCE-BD5A-59D793565931}" type="datetime3">
              <a:rPr lang="en-US" smtClean="0"/>
              <a:t>17 October 2026</a:t>
            </a:fld>
            <a:endParaRPr lang="en-US" dirty="0"/>
          </a:p>
        </p:txBody>
      </p:sp>
      <p:sp>
        <p:nvSpPr>
          <p:cNvPr id="7" name="Slide Number Placeholder 6">
            <a:extLst>
              <a:ext uri="{FF2B5EF4-FFF2-40B4-BE49-F238E27FC236}">
                <a16:creationId xmlns:a16="http://schemas.microsoft.com/office/drawing/2014/main" id="{DB034A87-4A6E-4927-B895-60B8978B0D0B}"/>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8" name="Footer Placeholder 7">
            <a:extLst>
              <a:ext uri="{FF2B5EF4-FFF2-40B4-BE49-F238E27FC236}">
                <a16:creationId xmlns:a16="http://schemas.microsoft.com/office/drawing/2014/main" id="{690EDBAA-3DAF-4A0B-ADCD-B56430B133C1}"/>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2366995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Abstract</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500" b="0" i="0" dirty="0">
                <a:latin typeface="Calibri" panose="020F0502020204030204" pitchFamily="34" charset="0"/>
                <a:ea typeface="Calibri" panose="020F0502020204030204" pitchFamily="34" charset="0"/>
                <a:cs typeface="Calibri" panose="020F0502020204030204" pitchFamily="34" charset="0"/>
              </a:rPr>
              <a:t>Machine-learning models are validated once and then trusted indefinitely, yet the data they see keeps changing. A drifted model fails quietly: it stays up, answers confidently, and is wrong.</a:t>
            </a:r>
          </a:p>
          <a:p>
            <a:pPr marL="0" indent="0" algn="l">
              <a:spcBef>
                <a:spcPts val="300"/>
              </a:spcBef>
              <a:buNone/>
            </a:pPr>
            <a:r>
              <a:rPr lang="en-US" sz="1500" b="0" i="0" dirty="0">
                <a:latin typeface="Calibri" panose="020F0502020204030204" pitchFamily="34" charset="0"/>
                <a:ea typeface="Calibri" panose="020F0502020204030204" pitchFamily="34" charset="0"/>
                <a:cs typeface="Calibri" panose="020F0502020204030204" pitchFamily="34" charset="0"/>
              </a:rPr>
              <a:t>Custos is a runtime trust layer between a model and the consequential action taken on its output. On every request it fuses three signals — population drift (PSI and KS against a fixed baseline), business policy, and per-request risk — into a trust score and an ALLOW, REVIEW or BLOCK verdict within a 50 ms budget, and appends each verdict to a tamper-evident hash chain. Drift is computed offline so the request path stays fast.</a:t>
            </a:r>
          </a:p>
          <a:p>
            <a:pPr marL="0" indent="0" algn="l">
              <a:spcBef>
                <a:spcPts val="300"/>
              </a:spcBef>
              <a:buNone/>
            </a:pPr>
            <a:r>
              <a:rPr lang="en-US" sz="1500" b="0" i="0" dirty="0">
                <a:latin typeface="Calibri" panose="020F0502020204030204" pitchFamily="34" charset="0"/>
                <a:ea typeface="Calibri" panose="020F0502020204030204" pitchFamily="34" charset="0"/>
                <a:cs typeface="Calibri" panose="020F0502020204030204" pitchFamily="34" charset="0"/>
              </a:rPr>
              <a:t>The detector is validated by calibration against shifts of known size, the gateway by open-loop load testing, and the gating idea itself by a pre-registered study on 589,186 real loans. That study found that gating on population drift catches fewer bad loans than random review. We report it as measured, and it now decides what we build next.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3231882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Progress since Review-1</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Every commitment from the Review-1 closing slide, and what happened to it — including what did not get done.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9" cy="177800"/>
        </p:xfrm>
        <a:graphic>
          <a:graphicData uri="http://schemas.openxmlformats.org/drawingml/2006/table">
            <a:tbl>
              <a:tblPr firstRow="1">
                <a:tableStyleId>{5C22544A-7EE6-4342-B048-85BDC9FD1C3A}</a:tableStyleId>
              </a:tblPr>
              <a:tblGrid>
                <a:gridCol w="3072384"/>
                <a:gridCol w="1331366"/>
                <a:gridCol w="5837529"/>
              </a:tblGrid>
              <a:tr h="25400">
                <a:tc>
                  <a:txBody>
                    <a:bodyPr wrap="square"/>
                    <a:lstStyle/>
                    <a:p>
                      <a:r>
                        <a:rPr sz="1100" b="1">
                          <a:solidFill>
                            <a:srgbClr val="FFFFFF"/>
                          </a:solidFill>
                          <a:latin typeface="Calibri"/>
                        </a:rPr>
                        <a:t>Committed at Review-1</a:t>
                      </a:r>
                    </a:p>
                  </a:txBody>
                  <a:tcPr marL="63500" marR="63500" marT="38100" marB="38100">
                    <a:solidFill>
                      <a:srgbClr val="1F5CA8"/>
                    </a:solidFill>
                  </a:tcPr>
                </a:tc>
                <a:tc>
                  <a:txBody>
                    <a:bodyPr wrap="square"/>
                    <a:lstStyle/>
                    <a:p>
                      <a:r>
                        <a:rPr sz="1100" b="1">
                          <a:solidFill>
                            <a:srgbClr val="FFFFFF"/>
                          </a:solidFill>
                          <a:latin typeface="Calibri"/>
                        </a:rPr>
                        <a:t>Status</a:t>
                      </a:r>
                    </a:p>
                  </a:txBody>
                  <a:tcPr marL="63500" marR="63500" marT="38100" marB="38100">
                    <a:solidFill>
                      <a:srgbClr val="1F5CA8"/>
                    </a:solidFill>
                  </a:tcPr>
                </a:tc>
                <a:tc>
                  <a:txBody>
                    <a:bodyPr wrap="square"/>
                    <a:lstStyle/>
                    <a:p>
                      <a:r>
                        <a:rPr sz="1100" b="1">
                          <a:solidFill>
                            <a:srgbClr val="FFFFFF"/>
                          </a:solidFill>
                          <a:latin typeface="Calibri"/>
                        </a:rPr>
                        <a:t>Evidence</a:t>
                      </a:r>
                    </a:p>
                  </a:txBody>
                  <a:tcPr marL="63500" marR="63500" marT="38100" marB="38100">
                    <a:solidFill>
                      <a:srgbClr val="1F5CA8"/>
                    </a:solidFill>
                  </a:tcPr>
                </a:tc>
              </a:tr>
              <a:tr h="25400">
                <a:tc>
                  <a:txBody>
                    <a:bodyPr wrap="square"/>
                    <a:lstStyle/>
                    <a:p>
                      <a:r>
                        <a:rPr sz="1100" b="0">
                          <a:latin typeface="Calibri"/>
                        </a:rPr>
                        <a:t>Admission control: shed load at the door</a:t>
                      </a:r>
                    </a:p>
                  </a:txBody>
                  <a:tcPr marL="63500" marR="63500" marT="38100" marB="38100">
                    <a:noFill/>
                  </a:tcPr>
                </a:tc>
                <a:tc>
                  <a:txBody>
                    <a:bodyPr wrap="square"/>
                    <a:lstStyle/>
                    <a:p>
                      <a:r>
                        <a:rPr sz="1100" b="0">
                          <a:latin typeface="Calibri"/>
                        </a:rPr>
                        <a:t>Done</a:t>
                      </a:r>
                    </a:p>
                  </a:txBody>
                  <a:tcPr marL="63500" marR="63500" marT="38100" marB="38100">
                    <a:noFill/>
                  </a:tcPr>
                </a:tc>
                <a:tc>
                  <a:txBody>
                    <a:bodyPr wrap="square"/>
                    <a:lstStyle/>
                    <a:p>
                      <a:r>
                        <a:rPr sz="1100" b="0">
                          <a:latin typeface="Calibri"/>
                        </a:rPr>
                        <a:t>Gateway refuses past a bounded in-flight limit with 503; the SDK then applies the tenant's fail-open / fail-closed policy</a:t>
                      </a:r>
                    </a:p>
                  </a:txBody>
                  <a:tcPr marL="63500" marR="63500" marT="38100" marB="38100">
                    <a:noFill/>
                  </a:tcPr>
                </a:tc>
              </a:tr>
              <a:tr h="25400">
                <a:tc>
                  <a:txBody>
                    <a:bodyPr wrap="square"/>
                    <a:lstStyle/>
                    <a:p>
                      <a:r>
                        <a:rPr sz="1100" b="0">
                          <a:latin typeface="Calibri"/>
                        </a:rPr>
                        <a:t>Move the audit write off the hot path</a:t>
                      </a:r>
                    </a:p>
                  </a:txBody>
                  <a:tcPr marL="63500" marR="63500" marT="38100" marB="38100">
                    <a:solidFill>
                      <a:srgbClr val="F4F6F9"/>
                    </a:solidFill>
                  </a:tcPr>
                </a:tc>
                <a:tc>
                  <a:txBody>
                    <a:bodyPr wrap="square"/>
                    <a:lstStyle/>
                    <a:p>
                      <a:r>
                        <a:rPr sz="1100" b="0">
                          <a:latin typeface="Calibri"/>
                        </a:rPr>
                        <a:t>Done</a:t>
                      </a:r>
                    </a:p>
                  </a:txBody>
                  <a:tcPr marL="63500" marR="63500" marT="38100" marB="38100">
                    <a:solidFill>
                      <a:srgbClr val="F4F6F9"/>
                    </a:solidFill>
                  </a:tcPr>
                </a:tc>
                <a:tc>
                  <a:txBody>
                    <a:bodyPr wrap="square"/>
                    <a:lstStyle/>
                    <a:p>
                      <a:r>
                        <a:rPr sz="1100" b="0">
                          <a:latin typeface="Calibri"/>
                        </a:rPr>
                        <a:t>Dedicated single writer thread; event loop no longer blocks. p99 at 100 req/s: 49 ms → 9 ms</a:t>
                      </a:r>
                    </a:p>
                  </a:txBody>
                  <a:tcPr marL="63500" marR="63500" marT="38100" marB="38100">
                    <a:solidFill>
                      <a:srgbClr val="F4F6F9"/>
                    </a:solidFill>
                  </a:tcPr>
                </a:tc>
              </a:tr>
              <a:tr h="25400">
                <a:tc>
                  <a:txBody>
                    <a:bodyPr wrap="square"/>
                    <a:lstStyle/>
                    <a:p>
                      <a:r>
                        <a:rPr sz="1100" b="0">
                          <a:latin typeface="Calibri"/>
                        </a:rPr>
                        <a:t>Validate against real drift (Lending Club)</a:t>
                      </a:r>
                    </a:p>
                  </a:txBody>
                  <a:tcPr marL="63500" marR="63500" marT="38100" marB="38100">
                    <a:noFill/>
                  </a:tcPr>
                </a:tc>
                <a:tc>
                  <a:txBody>
                    <a:bodyPr wrap="square"/>
                    <a:lstStyle/>
                    <a:p>
                      <a:r>
                        <a:rPr sz="1100" b="0">
                          <a:latin typeface="Calibri"/>
                        </a:rPr>
                        <a:t>Done — negative</a:t>
                      </a:r>
                    </a:p>
                  </a:txBody>
                  <a:tcPr marL="63500" marR="63500" marT="38100" marB="38100">
                    <a:noFill/>
                  </a:tcPr>
                </a:tc>
                <a:tc>
                  <a:txBody>
                    <a:bodyPr wrap="square"/>
                    <a:lstStyle/>
                    <a:p>
                      <a:r>
                        <a:rPr sz="1100" b="0">
                          <a:latin typeface="Calibri"/>
                        </a:rPr>
                        <a:t>Pre-registered study, 589,186 real loans: drift gating caught fewer defaults than random review. Reported as measured</a:t>
                      </a:r>
                    </a:p>
                  </a:txBody>
                  <a:tcPr marL="63500" marR="63500" marT="38100" marB="38100">
                    <a:noFill/>
                  </a:tcPr>
                </a:tc>
              </a:tr>
              <a:tr h="25400">
                <a:tc>
                  <a:txBody>
                    <a:bodyPr wrap="square"/>
                    <a:lstStyle/>
                    <a:p>
                      <a:r>
                        <a:rPr sz="1100" b="0">
                          <a:latin typeface="Calibri"/>
                        </a:rPr>
                        <a:t>Model and data versioning + retraining trigger</a:t>
                      </a:r>
                    </a:p>
                  </a:txBody>
                  <a:tcPr marL="63500" marR="63500" marT="38100" marB="38100">
                    <a:solidFill>
                      <a:srgbClr val="F4F6F9"/>
                    </a:solidFill>
                  </a:tcPr>
                </a:tc>
                <a:tc>
                  <a:txBody>
                    <a:bodyPr wrap="square"/>
                    <a:lstStyle/>
                    <a:p>
                      <a:r>
                        <a:rPr sz="1100" b="0">
                          <a:latin typeface="Calibri"/>
                        </a:rPr>
                        <a:t>Not started</a:t>
                      </a:r>
                    </a:p>
                  </a:txBody>
                  <a:tcPr marL="63500" marR="63500" marT="38100" marB="38100">
                    <a:solidFill>
                      <a:srgbClr val="F4F6F9"/>
                    </a:solidFill>
                  </a:tcPr>
                </a:tc>
                <a:tc>
                  <a:txBody>
                    <a:bodyPr wrap="square"/>
                    <a:lstStyle/>
                    <a:p>
                      <a:r>
                        <a:rPr sz="1100" b="0">
                          <a:latin typeface="Calibri"/>
                        </a:rPr>
                        <a:t>Moved to the final-review plan</a:t>
                      </a:r>
                    </a:p>
                  </a:txBody>
                  <a:tcPr marL="63500" marR="63500" marT="38100" marB="38100">
                    <a:solidFill>
                      <a:srgbClr val="F4F6F9"/>
                    </a:solidFill>
                  </a:tcPr>
                </a:tc>
              </a:tr>
              <a:tr h="25400">
                <a:tc>
                  <a:txBody>
                    <a:bodyPr wrap="square"/>
                    <a:lstStyle/>
                    <a:p>
                      <a:r>
                        <a:rPr sz="1100" b="0">
                          <a:latin typeface="Calibri"/>
                        </a:rPr>
                        <a:t>Re-measure against Postgres</a:t>
                      </a:r>
                    </a:p>
                  </a:txBody>
                  <a:tcPr marL="63500" marR="63500" marT="38100" marB="38100">
                    <a:noFill/>
                  </a:tcPr>
                </a:tc>
                <a:tc>
                  <a:txBody>
                    <a:bodyPr wrap="square"/>
                    <a:lstStyle/>
                    <a:p>
                      <a:r>
                        <a:rPr sz="1100" b="0">
                          <a:latin typeface="Calibri"/>
                        </a:rPr>
                        <a:t>Not started</a:t>
                      </a:r>
                    </a:p>
                  </a:txBody>
                  <a:tcPr marL="63500" marR="63500" marT="38100" marB="38100">
                    <a:noFill/>
                  </a:tcPr>
                </a:tc>
                <a:tc>
                  <a:txBody>
                    <a:bodyPr wrap="square"/>
                    <a:lstStyle/>
                    <a:p>
                      <a:r>
                        <a:rPr sz="1100" b="0">
                          <a:latin typeface="Calibri"/>
                        </a:rPr>
                        <a:t>Harness supports --database-url; needs the Postgres container</a:t>
                      </a:r>
                    </a:p>
                  </a:txBody>
                  <a:tcPr marL="63500" marR="63500" marT="38100" marB="38100">
                    <a:noFill/>
                  </a:tcPr>
                </a:tc>
              </a:tr>
              <a:tr h="25400">
                <a:tc>
                  <a:txBody>
                    <a:bodyPr wrap="square"/>
                    <a:lstStyle/>
                    <a:p>
                      <a:r>
                        <a:rPr sz="1100" b="0">
                          <a:latin typeface="Calibri"/>
                        </a:rPr>
                        <a:t>Not committed — added: real RiskEngine</a:t>
                      </a:r>
                    </a:p>
                  </a:txBody>
                  <a:tcPr marL="63500" marR="63500" marT="38100" marB="38100">
                    <a:solidFill>
                      <a:srgbClr val="F4F6F9"/>
                    </a:solidFill>
                  </a:tcPr>
                </a:tc>
                <a:tc>
                  <a:txBody>
                    <a:bodyPr wrap="square"/>
                    <a:lstStyle/>
                    <a:p>
                      <a:r>
                        <a:rPr sz="1100" b="0">
                          <a:latin typeface="Calibri"/>
                        </a:rPr>
                        <a:t>Done</a:t>
                      </a:r>
                    </a:p>
                  </a:txBody>
                  <a:tcPr marL="63500" marR="63500" marT="38100" marB="38100">
                    <a:solidFill>
                      <a:srgbClr val="F4F6F9"/>
                    </a:solidFill>
                  </a:tcPr>
                </a:tc>
                <a:tc>
                  <a:txBody>
                    <a:bodyPr wrap="square"/>
                    <a:lstStyle/>
                    <a:p>
                      <a:r>
                        <a:rPr sz="1100" b="0">
                          <a:latin typeface="Calibri"/>
                        </a:rPr>
                        <a:t>Amount anomaly (robust z-score) + request velocity; the third signal is live instead of a stub</a:t>
                      </a:r>
                    </a:p>
                  </a:txBody>
                  <a:tcPr marL="63500" marR="63500" marT="38100" marB="38100">
                    <a:solidFill>
                      <a:srgbClr val="F4F6F9"/>
                    </a:solid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Introduction — Overview and Motivation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59467" y="16002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 model is validated once, deployed, and then trusted indefinitely. Drift is checked on a quarterly report — but decisions are made every second.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problem_timeline.png"/>
          <p:cNvPicPr>
            <a:picLocks noChangeAspect="1"/>
          </p:cNvPicPr>
          <p:nvPr/>
        </p:nvPicPr>
        <p:blipFill>
          <a:blip r:embed="rId4"/>
          <a:stretch>
            <a:fillRect/>
          </a:stretch>
        </p:blipFill>
        <p:spPr>
          <a:xfrm>
            <a:off x="1066647" y="2606040"/>
            <a:ext cx="10058400" cy="2514600"/>
          </a:xfrm>
          <a:prstGeom prst="rect">
            <a:avLst/>
          </a:prstGeom>
        </p:spPr>
      </p:pic>
    </p:spTree>
    <p:extLst>
      <p:ext uri="{BB962C8B-B14F-4D97-AF65-F5344CB8AC3E}">
        <p14:creationId xmlns:p14="http://schemas.microsoft.com/office/powerpoint/2010/main" val="2905062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Existing System vs Proposed System</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Monitoring tools sit beside the request path and report afterwards. Guardrails block in real time, but only on content. Custos gates the decision itself on whether the model still fits its traffic.</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on_path.png"/>
          <p:cNvPicPr>
            <a:picLocks noChangeAspect="1"/>
          </p:cNvPicPr>
          <p:nvPr/>
        </p:nvPicPr>
        <p:blipFill>
          <a:blip r:embed="rId4"/>
          <a:stretch>
            <a:fillRect/>
          </a:stretch>
        </p:blipFill>
        <p:spPr>
          <a:xfrm>
            <a:off x="1249527" y="2514600"/>
            <a:ext cx="9692640" cy="2887232"/>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Objectives, Scope and SDGs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Objectives</a:t>
            </a:r>
          </a:p>
          <a:p>
            <a:pPr marL="285750" indent="-285750" algn="l">
              <a:spcBef>
                <a:spcPts val="12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O1  Put drift on the live request path, inside a 50 ms budget</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O2  Attribute drift to the individual inputs that moved</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O3  Fuse drift, policy and risk into one explainable verdict</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O4  Record every verdict in a tamper-evident chain</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O5  Stay correct under overload — refuse, never queue or change answers  (new)</a:t>
            </a:r>
          </a:p>
          <a:p>
            <a:pPr marL="0" indent="0" algn="l">
              <a:spcBef>
                <a:spcPts val="26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Scope</a:t>
            </a:r>
          </a:p>
          <a:p>
            <a:pPr marL="285750" indent="-285750" algn="l">
              <a:spcBef>
                <a:spcPts val="12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Custos does not train, serve or retrain models. It decides, records and proposes repairs to its own gating; humans approve.</a:t>
            </a:r>
          </a:p>
          <a:p>
            <a:pPr marL="0" indent="0" algn="l">
              <a:spcBef>
                <a:spcPts val="26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SDGs</a:t>
            </a:r>
          </a:p>
          <a:p>
            <a:pPr marL="285750" indent="-285750" algn="l">
              <a:spcBef>
                <a:spcPts val="12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9 — auditable infrastructure  ·  10 — limits systematically unfair credit decisions  ·  16 — verifiable records for regulators</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3231882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Literature Survey</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Eight works, each checked against its published venue. New since Review-1: Paleyes et al. (2022) and Rauba et al. (NeurIPS 2024).</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9" name="Table 9">
            <a:extLst>
              <a:ext uri="{FF2B5EF4-FFF2-40B4-BE49-F238E27FC236}">
                <a16:creationId xmlns:a16="http://schemas.microsoft.com/office/drawing/2014/main" id="{1F0831F2-8306-4C86-91C8-F8915A9B23B3}"/>
              </a:ext>
            </a:extLst>
          </p:cNvPr>
          <p:cNvGraphicFramePr>
            <a:graphicFrameLocks noGrp="1"/>
          </p:cNvGraphicFramePr>
          <p:nvPr/>
        </p:nvGraphicFramePr>
        <p:xfrm>
          <a:off x="960120" y="2240280"/>
          <a:ext cx="10241277" cy="2397760"/>
        </p:xfrm>
        <a:graphic>
          <a:graphicData uri="http://schemas.openxmlformats.org/drawingml/2006/table">
            <a:tbl>
              <a:tblPr firstRow="1" bandRow="1">
                <a:tableStyleId>{5C22544A-7EE6-4342-B048-85BDC9FD1C3A}</a:tableStyleId>
              </a:tblPr>
              <a:tblGrid>
                <a:gridCol w="2457907">
                  <a:extLst>
                    <a:ext uri="{9D8B030D-6E8A-4147-A177-3AD203B41FA5}">
                      <a16:colId xmlns:a16="http://schemas.microsoft.com/office/drawing/2014/main" val="2288673594"/>
                    </a:ext>
                  </a:extLst>
                </a:gridCol>
                <a:gridCol w="1228953">
                  <a:extLst>
                    <a:ext uri="{9D8B030D-6E8A-4147-A177-3AD203B41FA5}">
                      <a16:colId xmlns:a16="http://schemas.microsoft.com/office/drawing/2014/main" val="333199711"/>
                    </a:ext>
                  </a:extLst>
                </a:gridCol>
                <a:gridCol w="614476">
                  <a:extLst>
                    <a:ext uri="{9D8B030D-6E8A-4147-A177-3AD203B41FA5}">
                      <a16:colId xmlns:a16="http://schemas.microsoft.com/office/drawing/2014/main" val="3714884348"/>
                    </a:ext>
                  </a:extLst>
                </a:gridCol>
                <a:gridCol w="2457907">
                  <a:extLst>
                    <a:ext uri="{9D8B030D-6E8A-4147-A177-3AD203B41FA5}">
                      <a16:colId xmlns:a16="http://schemas.microsoft.com/office/drawing/2014/main" val="72185476"/>
                    </a:ext>
                  </a:extLst>
                </a:gridCol>
                <a:gridCol w="1843430">
                  <a:extLst>
                    <a:ext uri="{9D8B030D-6E8A-4147-A177-3AD203B41FA5}">
                      <a16:colId xmlns:a16="http://schemas.microsoft.com/office/drawing/2014/main" val="872815148"/>
                    </a:ext>
                  </a:extLst>
                </a:gridCol>
                <a:gridCol w="1638604">
                  <a:extLst>
                    <a:ext uri="{9D8B030D-6E8A-4147-A177-3AD203B41FA5}">
                      <a16:colId xmlns:a16="http://schemas.microsoft.com/office/drawing/2014/main" val="2673185824"/>
                    </a:ext>
                  </a:extLst>
                </a:gridCol>
              </a:tblGrid>
              <a:tr h="370840">
                <a:tc>
                  <a:txBody>
                    <a:bodyPr/>
                    <a:lstStyle/>
                    <a:p>
                      <a:r>
                        <a:rPr lang="en-US" dirty="0" sz="1000" b="1"/>
                        <a:t>Paper Title </a:t>
                      </a:r>
                      <a:endParaRPr lang="en-IN" dirty="0"/>
                    </a:p>
                  </a:txBody>
                  <a:tcPr/>
                </a:tc>
                <a:tc>
                  <a:txBody>
                    <a:bodyPr/>
                    <a:lstStyle/>
                    <a:p>
                      <a:r>
                        <a:rPr lang="en-US" dirty="0" sz="1000" b="1"/>
                        <a:t>Name of Journal / Conference </a:t>
                      </a:r>
                      <a:endParaRPr lang="en-IN" dirty="0"/>
                    </a:p>
                  </a:txBody>
                  <a:tcPr/>
                </a:tc>
                <a:tc>
                  <a:txBody>
                    <a:bodyPr/>
                    <a:lstStyle/>
                    <a:p>
                      <a:r>
                        <a:rPr lang="en-US" dirty="0" sz="1000" b="1"/>
                        <a:t>Published Year </a:t>
                      </a:r>
                      <a:endParaRPr lang="en-IN" dirty="0"/>
                    </a:p>
                  </a:txBody>
                  <a:tcPr/>
                </a:tc>
                <a:tc>
                  <a:txBody>
                    <a:bodyPr/>
                    <a:lstStyle/>
                    <a:p>
                      <a:r>
                        <a:rPr lang="en-US" dirty="0" sz="1000" b="1"/>
                        <a:t>Novelty / Techniques</a:t>
                      </a:r>
                      <a:endParaRPr lang="en-IN" dirty="0"/>
                    </a:p>
                  </a:txBody>
                  <a:tcPr/>
                </a:tc>
                <a:tc>
                  <a:txBody>
                    <a:bodyPr/>
                    <a:lstStyle/>
                    <a:p>
                      <a:r>
                        <a:rPr lang="en-US" dirty="0" sz="1000" b="1"/>
                        <a:t>Limitations </a:t>
                      </a:r>
                      <a:endParaRPr lang="en-IN" dirty="0"/>
                    </a:p>
                  </a:txBody>
                  <a:tcPr/>
                </a:tc>
                <a:tc>
                  <a:txBody>
                    <a:bodyPr/>
                    <a:lstStyle/>
                    <a:p>
                      <a:r>
                        <a:rPr lang="en-US" dirty="0" sz="1000" b="1"/>
                        <a:t>Gap Identified </a:t>
                      </a:r>
                      <a:endParaRPr lang="en-IN" dirty="0"/>
                    </a:p>
                  </a:txBody>
                  <a:tcPr/>
                </a:tc>
                <a:extLst>
                  <a:ext uri="{0D108BD9-81ED-4DB2-BD59-A6C34878D82A}">
                    <a16:rowId xmlns:a16="http://schemas.microsoft.com/office/drawing/2014/main" val="2567915848"/>
                  </a:ext>
                </a:extLst>
              </a:tr>
              <a:tr h="370840">
                <a:tc>
                  <a:txBody>
                    <a:bodyPr wrap="square"/>
                    <a:lstStyle/>
                    <a:p>
                      <a:r>
                        <a:rPr sz="900" i="0">
                          <a:latin typeface="Calibri"/>
                        </a:rPr>
                        <a:t>Hidden Technical Debt in Machine Learning Systems</a:t>
                      </a:r>
                      <a:endParaRPr lang="en-IN"/>
                    </a:p>
                    <a:p>
                      <a:r>
                        <a:rPr sz="850" i="1">
                          <a:latin typeface="Calibri"/>
                        </a:rPr>
                        <a:t>Sculley et al., Google</a:t>
                      </a:r>
                    </a:p>
                  </a:txBody>
                  <a:tcPr/>
                </a:tc>
                <a:tc>
                  <a:txBody>
                    <a:bodyPr wrap="square"/>
                    <a:lstStyle/>
                    <a:p>
                      <a:r>
                        <a:rPr sz="900" i="0">
                          <a:latin typeface="Calibri"/>
                        </a:rPr>
                        <a:t>NeurIPS</a:t>
                      </a:r>
                      <a:endParaRPr lang="en-IN" dirty="0"/>
                    </a:p>
                  </a:txBody>
                  <a:tcPr/>
                </a:tc>
                <a:tc>
                  <a:txBody>
                    <a:bodyPr wrap="square"/>
                    <a:lstStyle/>
                    <a:p>
                      <a:r>
                        <a:rPr sz="900" i="0">
                          <a:latin typeface="Calibri"/>
                        </a:rPr>
                        <a:t>2015</a:t>
                      </a:r>
                      <a:endParaRPr lang="en-IN" dirty="0"/>
                    </a:p>
                  </a:txBody>
                  <a:tcPr/>
                </a:tc>
                <a:tc>
                  <a:txBody>
                    <a:bodyPr wrap="square"/>
                    <a:lstStyle/>
                    <a:p>
                      <a:r>
                        <a:rPr sz="900" i="0">
                          <a:latin typeface="Calibri"/>
                        </a:rPr>
                        <a:t>ML code is a small part of a real ML system; data dependencies and glue dominate</a:t>
                      </a:r>
                      <a:endParaRPr lang="en-IN" dirty="0"/>
                    </a:p>
                  </a:txBody>
                  <a:tcPr/>
                </a:tc>
                <a:tc>
                  <a:txBody>
                    <a:bodyPr wrap="square"/>
                    <a:lstStyle/>
                    <a:p>
                      <a:r>
                        <a:rPr sz="900" i="0">
                          <a:latin typeface="Calibri"/>
                        </a:rPr>
                        <a:t>Diagnoses the problem; proposes no runtime mechanism</a:t>
                      </a:r>
                      <a:endParaRPr lang="en-IN" dirty="0"/>
                    </a:p>
                  </a:txBody>
                  <a:tcPr/>
                </a:tc>
                <a:tc>
                  <a:txBody>
                    <a:bodyPr wrap="square"/>
                    <a:lstStyle/>
                    <a:p>
                      <a:r>
                        <a:rPr sz="900" i="0">
                          <a:latin typeface="Calibri"/>
                        </a:rPr>
                        <a:t>Names the infrastructure gap but does not close it</a:t>
                      </a:r>
                      <a:endParaRPr lang="en-IN" dirty="0"/>
                    </a:p>
                  </a:txBody>
                  <a:tcPr/>
                </a:tc>
                <a:extLst>
                  <a:ext uri="{0D108BD9-81ED-4DB2-BD59-A6C34878D82A}">
                    <a16:rowId xmlns:a16="http://schemas.microsoft.com/office/drawing/2014/main" val="551672611"/>
                  </a:ext>
                </a:extLst>
              </a:tr>
              <a:tr h="370840">
                <a:tc>
                  <a:txBody>
                    <a:bodyPr wrap="square"/>
                    <a:lstStyle/>
                    <a:p>
                      <a:r>
                        <a:rPr sz="900" i="0">
                          <a:latin typeface="Calibri"/>
                        </a:rPr>
                        <a:t>A Survey on Concept Drift Adaptation</a:t>
                      </a:r>
                      <a:endParaRPr lang="en-IN" dirty="0"/>
                    </a:p>
                    <a:p>
                      <a:r>
                        <a:rPr sz="850" i="1">
                          <a:latin typeface="Calibri"/>
                        </a:rPr>
                        <a:t>Gama, Zliobaite, Bifet et al.</a:t>
                      </a:r>
                    </a:p>
                  </a:txBody>
                  <a:tcPr/>
                </a:tc>
                <a:tc>
                  <a:txBody>
                    <a:bodyPr wrap="square"/>
                    <a:lstStyle/>
                    <a:p>
                      <a:r>
                        <a:rPr sz="900" i="0">
                          <a:latin typeface="Calibri"/>
                        </a:rPr>
                        <a:t>ACM Computing Surveys</a:t>
                      </a:r>
                      <a:endParaRPr lang="en-IN" dirty="0"/>
                    </a:p>
                  </a:txBody>
                  <a:tcPr/>
                </a:tc>
                <a:tc>
                  <a:txBody>
                    <a:bodyPr wrap="square"/>
                    <a:lstStyle/>
                    <a:p>
                      <a:r>
                        <a:rPr sz="900" i="0">
                          <a:latin typeface="Calibri"/>
                        </a:rPr>
                        <a:t>2014</a:t>
                      </a:r>
                      <a:endParaRPr lang="en-IN" dirty="0"/>
                    </a:p>
                  </a:txBody>
                  <a:tcPr/>
                </a:tc>
                <a:tc>
                  <a:txBody>
                    <a:bodyPr wrap="square"/>
                    <a:lstStyle/>
                    <a:p>
                      <a:r>
                        <a:rPr sz="900" i="0">
                          <a:latin typeface="Calibri"/>
                        </a:rPr>
                        <a:t>Canonical taxonomy of drift detectors and adaptation strategies</a:t>
                      </a:r>
                      <a:endParaRPr lang="en-IN" dirty="0"/>
                    </a:p>
                  </a:txBody>
                  <a:tcPr/>
                </a:tc>
                <a:tc>
                  <a:txBody>
                    <a:bodyPr wrap="square"/>
                    <a:lstStyle/>
                    <a:p>
                      <a:r>
                        <a:rPr sz="900" i="0">
                          <a:latin typeface="Calibri"/>
                        </a:rPr>
                        <a:t>Offline / streaming learning; no enforcement step</a:t>
                      </a:r>
                      <a:endParaRPr lang="en-IN" dirty="0"/>
                    </a:p>
                  </a:txBody>
                  <a:tcPr/>
                </a:tc>
                <a:tc>
                  <a:txBody>
                    <a:bodyPr wrap="square"/>
                    <a:lstStyle/>
                    <a:p>
                      <a:r>
                        <a:rPr sz="900" i="0">
                          <a:latin typeface="Calibri"/>
                        </a:rPr>
                        <a:t>Detection decoupled from any decision</a:t>
                      </a:r>
                      <a:endParaRPr lang="en-IN" dirty="0"/>
                    </a:p>
                  </a:txBody>
                  <a:tcPr/>
                </a:tc>
                <a:extLst>
                  <a:ext uri="{0D108BD9-81ED-4DB2-BD59-A6C34878D82A}">
                    <a16:rowId xmlns:a16="http://schemas.microsoft.com/office/drawing/2014/main" val="157528343"/>
                  </a:ext>
                </a:extLst>
              </a:tr>
              <a:tr h="370840">
                <a:tc>
                  <a:txBody>
                    <a:bodyPr wrap="square"/>
                    <a:lstStyle/>
                    <a:p>
                      <a:r>
                        <a:rPr sz="900" i="0">
                          <a:latin typeface="Calibri"/>
                        </a:rPr>
                        <a:t>Learning under Concept Drift: A Review</a:t>
                      </a:r>
                      <a:endParaRPr lang="en-IN" dirty="0"/>
                    </a:p>
                    <a:p>
                      <a:r>
                        <a:rPr sz="850" i="1">
                          <a:latin typeface="Calibri"/>
                        </a:rPr>
                        <a:t>Lu, Liu, Dong, Gu, Gama, Zhang</a:t>
                      </a:r>
                    </a:p>
                  </a:txBody>
                  <a:tcPr/>
                </a:tc>
                <a:tc>
                  <a:txBody>
                    <a:bodyPr wrap="square"/>
                    <a:lstStyle/>
                    <a:p>
                      <a:r>
                        <a:rPr sz="900" i="0">
                          <a:latin typeface="Calibri"/>
                        </a:rPr>
                        <a:t>IEEE TKDE</a:t>
                      </a:r>
                      <a:endParaRPr lang="en-IN" dirty="0"/>
                    </a:p>
                  </a:txBody>
                  <a:tcPr/>
                </a:tc>
                <a:tc>
                  <a:txBody>
                    <a:bodyPr wrap="square"/>
                    <a:lstStyle/>
                    <a:p>
                      <a:r>
                        <a:rPr sz="900" i="0">
                          <a:latin typeface="Calibri"/>
                        </a:rPr>
                        <a:t>2019</a:t>
                      </a:r>
                      <a:endParaRPr lang="en-IN" dirty="0"/>
                    </a:p>
                  </a:txBody>
                  <a:tcPr/>
                </a:tc>
                <a:tc>
                  <a:txBody>
                    <a:bodyPr wrap="square"/>
                    <a:lstStyle/>
                    <a:p>
                      <a:r>
                        <a:rPr sz="900" i="0">
                          <a:latin typeface="Calibri"/>
                        </a:rPr>
                        <a:t>Unifies drift detection, understanding and adaptation</a:t>
                      </a:r>
                      <a:endParaRPr lang="en-IN" dirty="0"/>
                    </a:p>
                  </a:txBody>
                  <a:tcPr/>
                </a:tc>
                <a:tc>
                  <a:txBody>
                    <a:bodyPr wrap="square"/>
                    <a:lstStyle/>
                    <a:p>
                      <a:r>
                        <a:rPr sz="900" i="0">
                          <a:latin typeface="Calibri"/>
                        </a:rPr>
                        <a:t>Assumes labels arrive; evaluated in batch</a:t>
                      </a:r>
                      <a:endParaRPr lang="en-IN" dirty="0"/>
                    </a:p>
                  </a:txBody>
                  <a:tcPr/>
                </a:tc>
                <a:tc>
                  <a:txBody>
                    <a:bodyPr wrap="square"/>
                    <a:lstStyle/>
                    <a:p>
                      <a:r>
                        <a:rPr sz="900" i="0">
                          <a:latin typeface="Calibri"/>
                        </a:rPr>
                        <a:t>Unlabelled live traffic not addressed</a:t>
                      </a:r>
                      <a:endParaRPr lang="en-IN" dirty="0"/>
                    </a:p>
                  </a:txBody>
                  <a:tcPr/>
                </a:tc>
                <a:extLst>
                  <a:ext uri="{0D108BD9-81ED-4DB2-BD59-A6C34878D82A}">
                    <a16:rowId xmlns:a16="http://schemas.microsoft.com/office/drawing/2014/main" val="3961905800"/>
                  </a:ext>
                </a:extLst>
              </a:tr>
              <a:tr h="370840">
                <a:tc>
                  <a:txBody>
                    <a:bodyPr wrap="square"/>
                    <a:lstStyle/>
                    <a:p>
                      <a:r>
                        <a:rPr sz="900" i="0">
                          <a:latin typeface="Calibri"/>
                        </a:rPr>
                        <a:t>Failing Loudly: Detecting Dataset Shift</a:t>
                      </a:r>
                      <a:endParaRPr lang="en-IN" dirty="0"/>
                    </a:p>
                    <a:p>
                      <a:r>
                        <a:rPr sz="850" i="1">
                          <a:latin typeface="Calibri"/>
                        </a:rPr>
                        <a:t>Rabanser, Günnemann, Lipton</a:t>
                      </a:r>
                    </a:p>
                  </a:txBody>
                  <a:tcPr/>
                </a:tc>
                <a:tc>
                  <a:txBody>
                    <a:bodyPr wrap="square"/>
                    <a:lstStyle/>
                    <a:p>
                      <a:r>
                        <a:rPr sz="900" i="0">
                          <a:latin typeface="Calibri"/>
                        </a:rPr>
                        <a:t>NeurIPS</a:t>
                      </a:r>
                      <a:endParaRPr lang="en-IN" dirty="0"/>
                    </a:p>
                  </a:txBody>
                  <a:tcPr/>
                </a:tc>
                <a:tc>
                  <a:txBody>
                    <a:bodyPr wrap="square"/>
                    <a:lstStyle/>
                    <a:p>
                      <a:r>
                        <a:rPr sz="900" i="0">
                          <a:latin typeface="Calibri"/>
                        </a:rPr>
                        <a:t>2019</a:t>
                      </a:r>
                      <a:endParaRPr lang="en-IN" dirty="0"/>
                    </a:p>
                  </a:txBody>
                  <a:tcPr/>
                </a:tc>
                <a:tc>
                  <a:txBody>
                    <a:bodyPr wrap="square"/>
                    <a:lstStyle/>
                    <a:p>
                      <a:r>
                        <a:rPr sz="900" i="0">
                          <a:latin typeface="Calibri"/>
                        </a:rPr>
                        <a:t>Empirical comparison of shift detectors and two-sample tests</a:t>
                      </a:r>
                      <a:endParaRPr lang="en-IN" dirty="0"/>
                    </a:p>
                  </a:txBody>
                  <a:tcPr/>
                </a:tc>
                <a:tc>
                  <a:txBody>
                    <a:bodyPr wrap="square"/>
                    <a:lstStyle/>
                    <a:p>
                      <a:r>
                        <a:rPr sz="900" i="0">
                          <a:latin typeface="Calibri"/>
                        </a:rPr>
                        <a:t>Offline batch study; no latency budget</a:t>
                      </a:r>
                      <a:endParaRPr lang="en-IN" dirty="0"/>
                    </a:p>
                  </a:txBody>
                  <a:tcPr/>
                </a:tc>
                <a:tc>
                  <a:txBody>
                    <a:bodyPr wrap="square"/>
                    <a:lstStyle/>
                    <a:p>
                      <a:r>
                        <a:rPr sz="900" i="0">
                          <a:latin typeface="Calibri"/>
                        </a:rPr>
                        <a:t>Detectors never placed on a request path</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Data Validation for Machine Learning</a:t>
                      </a:r>
                      <a:endParaRPr lang="en-IN" dirty="0"/>
                    </a:p>
                    <a:p>
                      <a:r>
                        <a:rPr sz="850" i="1">
                          <a:latin typeface="Calibri"/>
                        </a:rPr>
                        <a:t>Breck, Polyzotis et al., Google</a:t>
                      </a:r>
                    </a:p>
                  </a:txBody>
                  <a:tcPr/>
                </a:tc>
                <a:tc>
                  <a:txBody>
                    <a:bodyPr wrap="square"/>
                    <a:lstStyle/>
                    <a:p>
                      <a:r>
                        <a:rPr sz="900" i="0">
                          <a:latin typeface="Calibri"/>
                        </a:rPr>
                        <a:t>MLSys</a:t>
                      </a:r>
                      <a:endParaRPr lang="en-IN" dirty="0"/>
                    </a:p>
                  </a:txBody>
                  <a:tcPr/>
                </a:tc>
                <a:tc>
                  <a:txBody>
                    <a:bodyPr wrap="square"/>
                    <a:lstStyle/>
                    <a:p>
                      <a:r>
                        <a:rPr sz="900" i="0">
                          <a:latin typeface="Calibri"/>
                        </a:rPr>
                        <a:t>2019</a:t>
                      </a:r>
                      <a:endParaRPr lang="en-IN" dirty="0"/>
                    </a:p>
                  </a:txBody>
                  <a:tcPr/>
                </a:tc>
                <a:tc>
                  <a:txBody>
                    <a:bodyPr wrap="square"/>
                    <a:lstStyle/>
                    <a:p>
                      <a:r>
                        <a:rPr sz="900" i="0">
                          <a:latin typeface="Calibri"/>
                        </a:rPr>
                        <a:t>Schema-driven validation of training and serving data in TFX</a:t>
                      </a:r>
                      <a:endParaRPr lang="en-IN" dirty="0"/>
                    </a:p>
                  </a:txBody>
                  <a:tcPr/>
                </a:tc>
                <a:tc>
                  <a:txBody>
                    <a:bodyPr wrap="square"/>
                    <a:lstStyle/>
                    <a:p>
                      <a:r>
                        <a:rPr sz="900" i="0">
                          <a:latin typeface="Calibri"/>
                        </a:rPr>
                        <a:t>Validates schema conformance, not distributional trust</a:t>
                      </a:r>
                      <a:endParaRPr lang="en-IN" dirty="0"/>
                    </a:p>
                  </a:txBody>
                  <a:tcPr/>
                </a:tc>
                <a:tc>
                  <a:txBody>
                    <a:bodyPr wrap="square"/>
                    <a:lstStyle/>
                    <a:p>
                      <a:r>
                        <a:rPr sz="900" i="0">
                          <a:latin typeface="Calibri"/>
                        </a:rPr>
                        <a:t>Pipeline-time only; no per-request verdict</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Challenges in Deploying Machine Learning: A Survey of Case Studies</a:t>
                      </a:r>
                      <a:endParaRPr lang="en-IN" dirty="0"/>
                    </a:p>
                    <a:p>
                      <a:r>
                        <a:rPr sz="850" i="1">
                          <a:latin typeface="Calibri"/>
                        </a:rPr>
                        <a:t>Paleyes, Urma, Lawrence</a:t>
                      </a:r>
                    </a:p>
                  </a:txBody>
                  <a:tcPr/>
                </a:tc>
                <a:tc>
                  <a:txBody>
                    <a:bodyPr wrap="square"/>
                    <a:lstStyle/>
                    <a:p>
                      <a:r>
                        <a:rPr sz="900" i="0">
                          <a:latin typeface="Calibri"/>
                        </a:rPr>
                        <a:t>ACM Computing Surveys</a:t>
                      </a:r>
                      <a:endParaRPr lang="en-IN" dirty="0"/>
                    </a:p>
                  </a:txBody>
                  <a:tcPr/>
                </a:tc>
                <a:tc>
                  <a:txBody>
                    <a:bodyPr wrap="square"/>
                    <a:lstStyle/>
                    <a:p>
                      <a:r>
                        <a:rPr sz="900" i="0">
                          <a:latin typeface="Calibri"/>
                        </a:rPr>
                        <a:t>2022</a:t>
                      </a:r>
                      <a:endParaRPr lang="en-IN" dirty="0"/>
                    </a:p>
                  </a:txBody>
                  <a:tcPr/>
                </a:tc>
                <a:tc>
                  <a:txBody>
                    <a:bodyPr wrap="square"/>
                    <a:lstStyle/>
                    <a:p>
                      <a:r>
                        <a:rPr sz="900" i="0">
                          <a:latin typeface="Calibri"/>
                        </a:rPr>
                        <a:t>Maps real deployment failures to each stage of the workflow, incl. monitoring and trust</a:t>
                      </a:r>
                      <a:endParaRPr lang="en-IN" dirty="0"/>
                    </a:p>
                  </a:txBody>
                  <a:tcPr/>
                </a:tc>
                <a:tc>
                  <a:txBody>
                    <a:bodyPr wrap="square"/>
                    <a:lstStyle/>
                    <a:p>
                      <a:r>
                        <a:rPr sz="900" i="0">
                          <a:latin typeface="Calibri"/>
                        </a:rPr>
                        <a:t>Catalogues the problems; proposes no mechanism</a:t>
                      </a:r>
                      <a:endParaRPr lang="en-IN" dirty="0"/>
                    </a:p>
                  </a:txBody>
                  <a:tcPr/>
                </a:tc>
                <a:tc>
                  <a:txBody>
                    <a:bodyPr wrap="square"/>
                    <a:lstStyle/>
                    <a:p>
                      <a:r>
                        <a:rPr sz="900" i="0">
                          <a:latin typeface="Calibri"/>
                        </a:rPr>
                        <a:t>Monitoring named as a gap in practice, left open</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Self-Healing Machine Learning</a:t>
                      </a:r>
                      <a:endParaRPr lang="en-IN" dirty="0"/>
                    </a:p>
                    <a:p>
                      <a:r>
                        <a:rPr sz="850" i="1">
                          <a:latin typeface="Calibri"/>
                        </a:rPr>
                        <a:t>Rauba, Seedat, Kacprzyk, van der Schaar</a:t>
                      </a:r>
                    </a:p>
                  </a:txBody>
                  <a:tcPr/>
                </a:tc>
                <a:tc>
                  <a:txBody>
                    <a:bodyPr wrap="square"/>
                    <a:lstStyle/>
                    <a:p>
                      <a:r>
                        <a:rPr sz="900" i="0">
                          <a:latin typeface="Calibri"/>
                        </a:rPr>
                        <a:t>NeurIPS</a:t>
                      </a:r>
                      <a:endParaRPr lang="en-IN" dirty="0"/>
                    </a:p>
                  </a:txBody>
                  <a:tcPr/>
                </a:tc>
                <a:tc>
                  <a:txBody>
                    <a:bodyPr wrap="square"/>
                    <a:lstStyle/>
                    <a:p>
                      <a:r>
                        <a:rPr sz="900" i="0">
                          <a:latin typeface="Calibri"/>
                        </a:rPr>
                        <a:t>2024</a:t>
                      </a:r>
                      <a:endParaRPr lang="en-IN" dirty="0"/>
                    </a:p>
                  </a:txBody>
                  <a:tcPr/>
                </a:tc>
                <a:tc>
                  <a:txBody>
                    <a:bodyPr wrap="square"/>
                    <a:lstStyle/>
                    <a:p>
                      <a:r>
                        <a:rPr sz="900" i="0">
                          <a:latin typeface="Calibri"/>
                        </a:rPr>
                        <a:t>Monitor → diagnose → adapt → test loop; LLM proposes corrective actions</a:t>
                      </a:r>
                      <a:endParaRPr lang="en-IN" dirty="0"/>
                    </a:p>
                  </a:txBody>
                  <a:tcPr/>
                </a:tc>
                <a:tc>
                  <a:txBody>
                    <a:bodyPr wrap="square"/>
                    <a:lstStyle/>
                    <a:p>
                      <a:r>
                        <a:rPr sz="900" i="0">
                          <a:latin typeface="Calibri"/>
                        </a:rPr>
                        <a:t>Repairs the model autonomously after degradation; no per-decision audit</a:t>
                      </a:r>
                      <a:endParaRPr lang="en-IN" dirty="0"/>
                    </a:p>
                  </a:txBody>
                  <a:tcPr/>
                </a:tc>
                <a:tc>
                  <a:txBody>
                    <a:bodyPr wrap="square"/>
                    <a:lstStyle/>
                    <a:p>
                      <a:r>
                        <a:rPr sz="900" i="0">
                          <a:latin typeface="Calibri"/>
                        </a:rPr>
                        <a:t>Acts on the model, not on the decision in flight; no human checkpoint</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Certificate Transparency</a:t>
                      </a:r>
                      <a:endParaRPr lang="en-IN" dirty="0"/>
                    </a:p>
                    <a:p>
                      <a:r>
                        <a:rPr sz="850" i="1">
                          <a:latin typeface="Calibri"/>
                        </a:rPr>
                        <a:t>Laurie, Langley, Kasper, Google</a:t>
                      </a:r>
                    </a:p>
                  </a:txBody>
                  <a:tcPr/>
                </a:tc>
                <a:tc>
                  <a:txBody>
                    <a:bodyPr wrap="square"/>
                    <a:lstStyle/>
                    <a:p>
                      <a:r>
                        <a:rPr sz="900" i="0">
                          <a:latin typeface="Calibri"/>
                        </a:rPr>
                        <a:t>RFC 6962, IETF</a:t>
                      </a:r>
                      <a:endParaRPr lang="en-IN" dirty="0"/>
                    </a:p>
                  </a:txBody>
                  <a:tcPr/>
                </a:tc>
                <a:tc>
                  <a:txBody>
                    <a:bodyPr wrap="square"/>
                    <a:lstStyle/>
                    <a:p>
                      <a:r>
                        <a:rPr sz="900" i="0">
                          <a:latin typeface="Calibri"/>
                        </a:rPr>
                        <a:t>2013</a:t>
                      </a:r>
                      <a:endParaRPr lang="en-IN" dirty="0"/>
                    </a:p>
                  </a:txBody>
                  <a:tcPr/>
                </a:tc>
                <a:tc>
                  <a:txBody>
                    <a:bodyPr wrap="square"/>
                    <a:lstStyle/>
                    <a:p>
                      <a:r>
                        <a:rPr sz="900" i="0">
                          <a:latin typeface="Calibri"/>
                        </a:rPr>
                        <a:t>Append-only logs that make modification of history detectable</a:t>
                      </a:r>
                      <a:endParaRPr lang="en-IN" dirty="0"/>
                    </a:p>
                  </a:txBody>
                  <a:tcPr/>
                </a:tc>
                <a:tc>
                  <a:txBody>
                    <a:bodyPr wrap="square"/>
                    <a:lstStyle/>
                    <a:p>
                      <a:r>
                        <a:rPr sz="900" i="0">
                          <a:latin typeface="Calibri"/>
                        </a:rPr>
                        <a:t>Built for TLS certificates, not model decisions</a:t>
                      </a:r>
                      <a:endParaRPr lang="en-IN" dirty="0"/>
                    </a:p>
                  </a:txBody>
                  <a:tcPr/>
                </a:tc>
                <a:tc>
                  <a:txBody>
                    <a:bodyPr wrap="square"/>
                    <a:lstStyle/>
                    <a:p>
                      <a:r>
                        <a:rPr sz="900" i="0">
                          <a:latin typeface="Calibri"/>
                        </a:rPr>
                        <a:t>Tamper-evidence never applied to ML decision records</a:t>
                      </a:r>
                      <a:endParaRPr lang="en-IN" dirty="0"/>
                    </a:p>
                  </a:txBody>
                  <a:tcPr/>
                </a:tc>
                <a:extLst>
                  <a:ext uri="{0D108BD9-81ED-4DB2-BD59-A6C34878D82A}">
                    <a16:rowId xmlns:a16="http://schemas.microsoft.com/office/drawing/2014/main" val="357925700"/>
                  </a:ext>
                </a:extLst>
              </a:tr>
            </a:tbl>
          </a:graphicData>
        </a:graphic>
      </p:graphicFrame>
    </p:spTree>
    <p:extLst>
      <p:ext uri="{BB962C8B-B14F-4D97-AF65-F5344CB8AC3E}">
        <p14:creationId xmlns:p14="http://schemas.microsoft.com/office/powerpoint/2010/main" val="2203600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Research Gap and Objectives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Every work stops at detection or repairs the model afterwards. None gates the decision in flight on whether the model still fits its traffic.</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gap_map.png"/>
          <p:cNvPicPr>
            <a:picLocks noChangeAspect="1"/>
          </p:cNvPicPr>
          <p:nvPr/>
        </p:nvPicPr>
        <p:blipFill>
          <a:blip r:embed="rId4"/>
          <a:stretch>
            <a:fillRect/>
          </a:stretch>
        </p:blipFill>
        <p:spPr>
          <a:xfrm>
            <a:off x="1066647" y="2606040"/>
            <a:ext cx="10058400" cy="292608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9991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Requirement Analysis and Specification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Review-1's requirements plus three new ones (marked). NFR7 is what the load test forced: overload must be refused, never queued.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8" cy="330200"/>
        </p:xfrm>
        <a:graphic>
          <a:graphicData uri="http://schemas.openxmlformats.org/drawingml/2006/table">
            <a:tbl>
              <a:tblPr firstRow="1">
                <a:tableStyleId>{5C22544A-7EE6-4342-B048-85BDC9FD1C3A}</a:tableStyleId>
              </a:tblPr>
              <a:tblGrid>
                <a:gridCol w="614476"/>
                <a:gridCol w="4608576"/>
                <a:gridCol w="716889"/>
                <a:gridCol w="4301337"/>
              </a:tblGrid>
              <a:tr h="25400">
                <a:tc>
                  <a:txBody>
                    <a:bodyPr wrap="square"/>
                    <a:lstStyle/>
                    <a:p>
                      <a:r>
                        <a:rPr sz="950" b="1">
                          <a:solidFill>
                            <a:srgbClr val="FFFFFF"/>
                          </a:solidFill>
                          <a:latin typeface="Calibri"/>
                        </a:rPr>
                        <a:t/>
                      </a:r>
                    </a:p>
                  </a:txBody>
                  <a:tcPr marL="63500" marR="63500" marT="38100" marB="38100">
                    <a:solidFill>
                      <a:srgbClr val="1F5CA8"/>
                    </a:solidFill>
                  </a:tcPr>
                </a:tc>
                <a:tc>
                  <a:txBody>
                    <a:bodyPr wrap="square"/>
                    <a:lstStyle/>
                    <a:p>
                      <a:r>
                        <a:rPr sz="950" b="1">
                          <a:solidFill>
                            <a:srgbClr val="FFFFFF"/>
                          </a:solidFill>
                          <a:latin typeface="Calibri"/>
                        </a:rPr>
                        <a:t>Functional</a:t>
                      </a:r>
                    </a:p>
                  </a:txBody>
                  <a:tcPr marL="63500" marR="63500" marT="38100" marB="38100">
                    <a:solidFill>
                      <a:srgbClr val="1F5CA8"/>
                    </a:solidFill>
                  </a:tcPr>
                </a:tc>
                <a:tc>
                  <a:txBody>
                    <a:bodyPr wrap="square"/>
                    <a:lstStyle/>
                    <a:p>
                      <a:r>
                        <a:rPr sz="950" b="1">
                          <a:solidFill>
                            <a:srgbClr val="FFFFFF"/>
                          </a:solidFill>
                          <a:latin typeface="Calibri"/>
                        </a:rPr>
                        <a:t/>
                      </a:r>
                    </a:p>
                  </a:txBody>
                  <a:tcPr marL="63500" marR="63500" marT="38100" marB="38100">
                    <a:solidFill>
                      <a:srgbClr val="1F5CA8"/>
                    </a:solidFill>
                  </a:tcPr>
                </a:tc>
                <a:tc>
                  <a:txBody>
                    <a:bodyPr wrap="square"/>
                    <a:lstStyle/>
                    <a:p>
                      <a:r>
                        <a:rPr sz="950" b="1">
                          <a:solidFill>
                            <a:srgbClr val="FFFFFF"/>
                          </a:solidFill>
                          <a:latin typeface="Calibri"/>
                        </a:rPr>
                        <a:t>Non-functional</a:t>
                      </a:r>
                    </a:p>
                  </a:txBody>
                  <a:tcPr marL="63500" marR="63500" marT="38100" marB="38100">
                    <a:solidFill>
                      <a:srgbClr val="1F5CA8"/>
                    </a:solidFill>
                  </a:tcPr>
                </a:tc>
              </a:tr>
              <a:tr h="25400">
                <a:tc>
                  <a:txBody>
                    <a:bodyPr wrap="square"/>
                    <a:lstStyle/>
                    <a:p>
                      <a:r>
                        <a:rPr sz="950" b="0">
                          <a:latin typeface="Calibri"/>
                        </a:rPr>
                        <a:t>FR1</a:t>
                      </a:r>
                    </a:p>
                  </a:txBody>
                  <a:tcPr marL="63500" marR="63500" marT="38100" marB="38100">
                    <a:noFill/>
                  </a:tcPr>
                </a:tc>
                <a:tc>
                  <a:txBody>
                    <a:bodyPr wrap="square"/>
                    <a:lstStyle/>
                    <a:p>
                      <a:r>
                        <a:rPr sz="950" b="0">
                          <a:latin typeface="Calibri"/>
                        </a:rPr>
                        <a:t>Register models and capture a reference distribution</a:t>
                      </a:r>
                    </a:p>
                  </a:txBody>
                  <a:tcPr marL="63500" marR="63500" marT="38100" marB="38100">
                    <a:noFill/>
                  </a:tcPr>
                </a:tc>
                <a:tc>
                  <a:txBody>
                    <a:bodyPr wrap="square"/>
                    <a:lstStyle/>
                    <a:p>
                      <a:r>
                        <a:rPr sz="950" b="0">
                          <a:latin typeface="Calibri"/>
                        </a:rPr>
                        <a:t>NFR1</a:t>
                      </a:r>
                    </a:p>
                  </a:txBody>
                  <a:tcPr marL="63500" marR="63500" marT="38100" marB="38100">
                    <a:noFill/>
                  </a:tcPr>
                </a:tc>
                <a:tc>
                  <a:txBody>
                    <a:bodyPr wrap="square"/>
                    <a:lstStyle/>
                    <a:p>
                      <a:r>
                        <a:rPr sz="950" b="0">
                          <a:latin typeface="Calibri"/>
                        </a:rPr>
                        <a:t>Gateway p99 &lt;= 50 ms; 20 ms per-engine cap</a:t>
                      </a:r>
                    </a:p>
                  </a:txBody>
                  <a:tcPr marL="63500" marR="63500" marT="38100" marB="38100">
                    <a:noFill/>
                  </a:tcPr>
                </a:tc>
              </a:tr>
              <a:tr h="25400">
                <a:tc>
                  <a:txBody>
                    <a:bodyPr wrap="square"/>
                    <a:lstStyle/>
                    <a:p>
                      <a:r>
                        <a:rPr sz="950" b="0">
                          <a:latin typeface="Calibri"/>
                        </a:rPr>
                        <a:t>FR2</a:t>
                      </a:r>
                    </a:p>
                  </a:txBody>
                  <a:tcPr marL="63500" marR="63500" marT="38100" marB="38100">
                    <a:solidFill>
                      <a:srgbClr val="F4F6F9"/>
                    </a:solidFill>
                  </a:tcPr>
                </a:tc>
                <a:tc>
                  <a:txBody>
                    <a:bodyPr wrap="square"/>
                    <a:lstStyle/>
                    <a:p>
                      <a:r>
                        <a:rPr sz="950" b="0">
                          <a:latin typeface="Calibri"/>
                        </a:rPr>
                        <a:t>Compute PSI and KS per feature, offline</a:t>
                      </a:r>
                    </a:p>
                  </a:txBody>
                  <a:tcPr marL="63500" marR="63500" marT="38100" marB="38100">
                    <a:solidFill>
                      <a:srgbClr val="F4F6F9"/>
                    </a:solidFill>
                  </a:tcPr>
                </a:tc>
                <a:tc>
                  <a:txBody>
                    <a:bodyPr wrap="square"/>
                    <a:lstStyle/>
                    <a:p>
                      <a:r>
                        <a:rPr sz="950" b="0">
                          <a:latin typeface="Calibri"/>
                        </a:rPr>
                        <a:t>NFR2</a:t>
                      </a:r>
                    </a:p>
                  </a:txBody>
                  <a:tcPr marL="63500" marR="63500" marT="38100" marB="38100">
                    <a:solidFill>
                      <a:srgbClr val="F4F6F9"/>
                    </a:solidFill>
                  </a:tcPr>
                </a:tc>
                <a:tc>
                  <a:txBody>
                    <a:bodyPr wrap="square"/>
                    <a:lstStyle/>
                    <a:p>
                      <a:r>
                        <a:rPr sz="950" b="0">
                          <a:latin typeface="Calibri"/>
                        </a:rPr>
                        <a:t>A Custos failure must not fail the caller</a:t>
                      </a:r>
                    </a:p>
                  </a:txBody>
                  <a:tcPr marL="63500" marR="63500" marT="38100" marB="38100">
                    <a:solidFill>
                      <a:srgbClr val="F4F6F9"/>
                    </a:solidFill>
                  </a:tcPr>
                </a:tc>
              </a:tr>
              <a:tr h="25400">
                <a:tc>
                  <a:txBody>
                    <a:bodyPr wrap="square"/>
                    <a:lstStyle/>
                    <a:p>
                      <a:r>
                        <a:rPr sz="950" b="0">
                          <a:latin typeface="Calibri"/>
                        </a:rPr>
                        <a:t>FR3</a:t>
                      </a:r>
                    </a:p>
                  </a:txBody>
                  <a:tcPr marL="63500" marR="63500" marT="38100" marB="38100">
                    <a:noFill/>
                  </a:tcPr>
                </a:tc>
                <a:tc>
                  <a:txBody>
                    <a:bodyPr wrap="square"/>
                    <a:lstStyle/>
                    <a:p>
                      <a:r>
                        <a:rPr sz="950" b="0">
                          <a:latin typeface="Calibri"/>
                        </a:rPr>
                        <a:t>Roll per-feature statistics into one severity</a:t>
                      </a:r>
                    </a:p>
                  </a:txBody>
                  <a:tcPr marL="63500" marR="63500" marT="38100" marB="38100">
                    <a:noFill/>
                  </a:tcPr>
                </a:tc>
                <a:tc>
                  <a:txBody>
                    <a:bodyPr wrap="square"/>
                    <a:lstStyle/>
                    <a:p>
                      <a:r>
                        <a:rPr sz="950" b="0">
                          <a:latin typeface="Calibri"/>
                        </a:rPr>
                        <a:t>NFR3</a:t>
                      </a:r>
                    </a:p>
                  </a:txBody>
                  <a:tcPr marL="63500" marR="63500" marT="38100" marB="38100">
                    <a:noFill/>
                  </a:tcPr>
                </a:tc>
                <a:tc>
                  <a:txBody>
                    <a:bodyPr wrap="square"/>
                    <a:lstStyle/>
                    <a:p>
                      <a:r>
                        <a:rPr sz="950" b="0">
                          <a:latin typeface="Calibri"/>
                        </a:rPr>
                        <a:t>tenant_id on every table and every query</a:t>
                      </a:r>
                    </a:p>
                  </a:txBody>
                  <a:tcPr marL="63500" marR="63500" marT="38100" marB="38100">
                    <a:noFill/>
                  </a:tcPr>
                </a:tc>
              </a:tr>
              <a:tr h="25400">
                <a:tc>
                  <a:txBody>
                    <a:bodyPr wrap="square"/>
                    <a:lstStyle/>
                    <a:p>
                      <a:r>
                        <a:rPr sz="950" b="0">
                          <a:latin typeface="Calibri"/>
                        </a:rPr>
                        <a:t>FR4</a:t>
                      </a:r>
                    </a:p>
                  </a:txBody>
                  <a:tcPr marL="63500" marR="63500" marT="38100" marB="38100">
                    <a:solidFill>
                      <a:srgbClr val="F4F6F9"/>
                    </a:solidFill>
                  </a:tcPr>
                </a:tc>
                <a:tc>
                  <a:txBody>
                    <a:bodyPr wrap="square"/>
                    <a:lstStyle/>
                    <a:p>
                      <a:r>
                        <a:rPr sz="950" b="0">
                          <a:latin typeface="Calibri"/>
                        </a:rPr>
                        <a:t>Evaluate tenant policy rules against request context</a:t>
                      </a:r>
                    </a:p>
                  </a:txBody>
                  <a:tcPr marL="63500" marR="63500" marT="38100" marB="38100">
                    <a:solidFill>
                      <a:srgbClr val="F4F6F9"/>
                    </a:solidFill>
                  </a:tcPr>
                </a:tc>
                <a:tc>
                  <a:txBody>
                    <a:bodyPr wrap="square"/>
                    <a:lstStyle/>
                    <a:p>
                      <a:r>
                        <a:rPr sz="950" b="0">
                          <a:latin typeface="Calibri"/>
                        </a:rPr>
                        <a:t>NFR4</a:t>
                      </a:r>
                    </a:p>
                  </a:txBody>
                  <a:tcPr marL="63500" marR="63500" marT="38100" marB="38100">
                    <a:solidFill>
                      <a:srgbClr val="F4F6F9"/>
                    </a:solidFill>
                  </a:tcPr>
                </a:tc>
                <a:tc>
                  <a:txBody>
                    <a:bodyPr wrap="square"/>
                    <a:lstStyle/>
                    <a:p>
                      <a:r>
                        <a:rPr sz="950" b="0">
                          <a:latin typeface="Calibri"/>
                        </a:rPr>
                        <a:t>Keys stored as SHA-256; rule text parsed, never eval'd</a:t>
                      </a:r>
                    </a:p>
                  </a:txBody>
                  <a:tcPr marL="63500" marR="63500" marT="38100" marB="38100">
                    <a:solidFill>
                      <a:srgbClr val="F4F6F9"/>
                    </a:solidFill>
                  </a:tcPr>
                </a:tc>
              </a:tr>
              <a:tr h="25400">
                <a:tc>
                  <a:txBody>
                    <a:bodyPr wrap="square"/>
                    <a:lstStyle/>
                    <a:p>
                      <a:r>
                        <a:rPr sz="950" b="0">
                          <a:latin typeface="Calibri"/>
                        </a:rPr>
                        <a:t>FR5</a:t>
                      </a:r>
                    </a:p>
                  </a:txBody>
                  <a:tcPr marL="63500" marR="63500" marT="38100" marB="38100">
                    <a:noFill/>
                  </a:tcPr>
                </a:tc>
                <a:tc>
                  <a:txBody>
                    <a:bodyPr wrap="square"/>
                    <a:lstStyle/>
                    <a:p>
                      <a:r>
                        <a:rPr sz="950" b="0">
                          <a:latin typeface="Calibri"/>
                        </a:rPr>
                        <a:t>Fuse signals into a weighted trust score</a:t>
                      </a:r>
                    </a:p>
                  </a:txBody>
                  <a:tcPr marL="63500" marR="63500" marT="38100" marB="38100">
                    <a:noFill/>
                  </a:tcPr>
                </a:tc>
                <a:tc>
                  <a:txBody>
                    <a:bodyPr wrap="square"/>
                    <a:lstStyle/>
                    <a:p>
                      <a:r>
                        <a:rPr sz="950" b="0">
                          <a:latin typeface="Calibri"/>
                        </a:rPr>
                        <a:t>NFR5</a:t>
                      </a:r>
                    </a:p>
                  </a:txBody>
                  <a:tcPr marL="63500" marR="63500" marT="38100" marB="38100">
                    <a:noFill/>
                  </a:tcPr>
                </a:tc>
                <a:tc>
                  <a:txBody>
                    <a:bodyPr wrap="square"/>
                    <a:lstStyle/>
                    <a:p>
                      <a:r>
                        <a:rPr sz="950" b="0">
                          <a:latin typeface="Calibri"/>
                        </a:rPr>
                        <a:t>A new signal must not modify existing code</a:t>
                      </a:r>
                    </a:p>
                  </a:txBody>
                  <a:tcPr marL="63500" marR="63500" marT="38100" marB="38100">
                    <a:noFill/>
                  </a:tcPr>
                </a:tc>
              </a:tr>
              <a:tr h="25400">
                <a:tc>
                  <a:txBody>
                    <a:bodyPr wrap="square"/>
                    <a:lstStyle/>
                    <a:p>
                      <a:r>
                        <a:rPr sz="950" b="0">
                          <a:latin typeface="Calibri"/>
                        </a:rPr>
                        <a:t>FR6</a:t>
                      </a:r>
                    </a:p>
                  </a:txBody>
                  <a:tcPr marL="63500" marR="63500" marT="38100" marB="38100">
                    <a:solidFill>
                      <a:srgbClr val="F4F6F9"/>
                    </a:solidFill>
                  </a:tcPr>
                </a:tc>
                <a:tc>
                  <a:txBody>
                    <a:bodyPr wrap="square"/>
                    <a:lstStyle/>
                    <a:p>
                      <a:r>
                        <a:rPr sz="950" b="0">
                          <a:latin typeface="Calibri"/>
                        </a:rPr>
                        <a:t>Return ALLOW / REVIEW / BLOCK with reasons</a:t>
                      </a:r>
                    </a:p>
                  </a:txBody>
                  <a:tcPr marL="63500" marR="63500" marT="38100" marB="38100">
                    <a:solidFill>
                      <a:srgbClr val="F4F6F9"/>
                    </a:solidFill>
                  </a:tcPr>
                </a:tc>
                <a:tc>
                  <a:txBody>
                    <a:bodyPr wrap="square"/>
                    <a:lstStyle/>
                    <a:p>
                      <a:r>
                        <a:rPr sz="950" b="0">
                          <a:latin typeface="Calibri"/>
                        </a:rPr>
                        <a:t>NFR6</a:t>
                      </a:r>
                    </a:p>
                  </a:txBody>
                  <a:tcPr marL="63500" marR="63500" marT="38100" marB="38100">
                    <a:solidFill>
                      <a:srgbClr val="F4F6F9"/>
                    </a:solidFill>
                  </a:tcPr>
                </a:tc>
                <a:tc>
                  <a:txBody>
                    <a:bodyPr wrap="square"/>
                    <a:lstStyle/>
                    <a:p>
                      <a:r>
                        <a:rPr sz="950" b="0">
                          <a:latin typeface="Calibri"/>
                        </a:rPr>
                        <a:t>Gateway and worker horizontally scalable</a:t>
                      </a:r>
                    </a:p>
                  </a:txBody>
                  <a:tcPr marL="63500" marR="63500" marT="38100" marB="38100">
                    <a:solidFill>
                      <a:srgbClr val="F4F6F9"/>
                    </a:solidFill>
                  </a:tcPr>
                </a:tc>
              </a:tr>
              <a:tr h="25400">
                <a:tc>
                  <a:txBody>
                    <a:bodyPr wrap="square"/>
                    <a:lstStyle/>
                    <a:p>
                      <a:r>
                        <a:rPr sz="950" b="0">
                          <a:latin typeface="Calibri"/>
                        </a:rPr>
                        <a:t>FR7</a:t>
                      </a:r>
                    </a:p>
                  </a:txBody>
                  <a:tcPr marL="63500" marR="63500" marT="38100" marB="38100">
                    <a:noFill/>
                  </a:tcPr>
                </a:tc>
                <a:tc>
                  <a:txBody>
                    <a:bodyPr wrap="square"/>
                    <a:lstStyle/>
                    <a:p>
                      <a:r>
                        <a:rPr sz="950" b="0">
                          <a:latin typeface="Calibri"/>
                        </a:rPr>
                        <a:t>Honour an engine veto over all other signals</a:t>
                      </a:r>
                    </a:p>
                  </a:txBody>
                  <a:tcPr marL="63500" marR="63500" marT="38100" marB="38100">
                    <a:noFill/>
                  </a:tcPr>
                </a:tc>
                <a:tc>
                  <a:txBody>
                    <a:bodyPr wrap="square"/>
                    <a:lstStyle/>
                    <a:p>
                      <a:r>
                        <a:rPr sz="950" b="0">
                          <a:latin typeface="Calibri"/>
                        </a:rPr>
                        <a:t>NFR7</a:t>
                      </a:r>
                    </a:p>
                  </a:txBody>
                  <a:tcPr marL="63500" marR="63500" marT="38100" marB="38100">
                    <a:noFill/>
                  </a:tcPr>
                </a:tc>
                <a:tc>
                  <a:txBody>
                    <a:bodyPr wrap="square"/>
                    <a:lstStyle/>
                    <a:p>
                      <a:r>
                        <a:rPr sz="950" b="0">
                          <a:latin typeface="Calibri"/>
                        </a:rPr>
                        <a:t>new — Overload is refused, never queued (bounded in-flight)</a:t>
                      </a:r>
                    </a:p>
                  </a:txBody>
                  <a:tcPr marL="63500" marR="63500" marT="38100" marB="38100">
                    <a:noFill/>
                  </a:tcPr>
                </a:tc>
              </a:tr>
              <a:tr h="25400">
                <a:tc>
                  <a:txBody>
                    <a:bodyPr wrap="square"/>
                    <a:lstStyle/>
                    <a:p>
                      <a:r>
                        <a:rPr sz="950" b="0">
                          <a:latin typeface="Calibri"/>
                        </a:rPr>
                        <a:t>FR8</a:t>
                      </a:r>
                    </a:p>
                  </a:txBody>
                  <a:tcPr marL="63500" marR="63500" marT="38100" marB="38100">
                    <a:solidFill>
                      <a:srgbClr val="F4F6F9"/>
                    </a:solidFill>
                  </a:tcPr>
                </a:tc>
                <a:tc>
                  <a:txBody>
                    <a:bodyPr wrap="square"/>
                    <a:lstStyle/>
                    <a:p>
                      <a:r>
                        <a:rPr sz="950" b="0">
                          <a:latin typeface="Calibri"/>
                        </a:rPr>
                        <a:t>Append every decision to a tamper-evident chain</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c>
                  <a:txBody>
                    <a:bodyPr wrap="square"/>
                    <a:lstStyle/>
                    <a:p>
                      <a:r>
                        <a:rPr sz="950" b="0">
                          <a:latin typeface="Calibri"/>
                        </a:rPr>
                        <a:t>Python 3.11, FastAPI, SQLAlchemy 2, Celery</a:t>
                      </a:r>
                    </a:p>
                  </a:txBody>
                  <a:tcPr marL="63500" marR="63500" marT="38100" marB="38100">
                    <a:solidFill>
                      <a:srgbClr val="F4F6F9"/>
                    </a:solidFill>
                  </a:tcPr>
                </a:tc>
              </a:tr>
              <a:tr h="25400">
                <a:tc>
                  <a:txBody>
                    <a:bodyPr wrap="square"/>
                    <a:lstStyle/>
                    <a:p>
                      <a:r>
                        <a:rPr sz="950" b="0">
                          <a:latin typeface="Calibri"/>
                        </a:rPr>
                        <a:t>FR9</a:t>
                      </a:r>
                    </a:p>
                  </a:txBody>
                  <a:tcPr marL="63500" marR="63500" marT="38100" marB="38100">
                    <a:noFill/>
                  </a:tcPr>
                </a:tc>
                <a:tc>
                  <a:txBody>
                    <a:bodyPr wrap="square"/>
                    <a:lstStyle/>
                    <a:p>
                      <a:r>
                        <a:rPr sz="950" b="0">
                          <a:latin typeface="Calibri"/>
                        </a:rPr>
                        <a:t>Verify a chain and report the first modified entry</a:t>
                      </a:r>
                    </a:p>
                  </a:txBody>
                  <a:tcPr marL="63500" marR="63500" marT="38100" marB="38100">
                    <a:noFill/>
                  </a:tcPr>
                </a:tc>
                <a:tc>
                  <a:txBody>
                    <a:bodyPr wrap="square"/>
                    <a:lstStyle/>
                    <a:p>
                      <a:r>
                        <a:rPr sz="950" b="0">
                          <a:latin typeface="Calibri"/>
                        </a:rPr>
                        <a:t/>
                      </a:r>
                    </a:p>
                  </a:txBody>
                  <a:tcPr marL="63500" marR="63500" marT="38100" marB="38100">
                    <a:noFill/>
                  </a:tcPr>
                </a:tc>
                <a:tc>
                  <a:txBody>
                    <a:bodyPr wrap="square"/>
                    <a:lstStyle/>
                    <a:p>
                      <a:r>
                        <a:rPr sz="950" b="0">
                          <a:latin typeface="Calibri"/>
                        </a:rPr>
                        <a:t>React 18 + TypeScript 5, Vite</a:t>
                      </a:r>
                    </a:p>
                  </a:txBody>
                  <a:tcPr marL="63500" marR="63500" marT="38100" marB="38100">
                    <a:noFill/>
                  </a:tcPr>
                </a:tc>
              </a:tr>
              <a:tr h="25400">
                <a:tc>
                  <a:txBody>
                    <a:bodyPr wrap="square"/>
                    <a:lstStyle/>
                    <a:p>
                      <a:r>
                        <a:rPr sz="950" b="0">
                          <a:latin typeface="Calibri"/>
                        </a:rPr>
                        <a:t>FR10</a:t>
                      </a:r>
                    </a:p>
                  </a:txBody>
                  <a:tcPr marL="63500" marR="63500" marT="38100" marB="38100">
                    <a:solidFill>
                      <a:srgbClr val="F4F6F9"/>
                    </a:solidFill>
                  </a:tcPr>
                </a:tc>
                <a:tc>
                  <a:txBody>
                    <a:bodyPr wrap="square"/>
                    <a:lstStyle/>
                    <a:p>
                      <a:r>
                        <a:rPr sz="950" b="0">
                          <a:latin typeface="Calibri"/>
                        </a:rPr>
                        <a:t>Route unregistered models to REVIEW</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c>
                  <a:txBody>
                    <a:bodyPr wrap="square"/>
                    <a:lstStyle/>
                    <a:p>
                      <a:r>
                        <a:rPr sz="950" b="0">
                          <a:latin typeface="Calibri"/>
                        </a:rPr>
                        <a:t>PostgreSQL 16 + Redis 7; SQLite on one node</a:t>
                      </a:r>
                    </a:p>
                  </a:txBody>
                  <a:tcPr marL="63500" marR="63500" marT="38100" marB="38100">
                    <a:solidFill>
                      <a:srgbClr val="F4F6F9"/>
                    </a:solidFill>
                  </a:tcPr>
                </a:tc>
              </a:tr>
              <a:tr h="25400">
                <a:tc>
                  <a:txBody>
                    <a:bodyPr wrap="square"/>
                    <a:lstStyle/>
                    <a:p>
                      <a:r>
                        <a:rPr sz="950" b="0">
                          <a:latin typeface="Calibri"/>
                        </a:rPr>
                        <a:t>FR11</a:t>
                      </a:r>
                    </a:p>
                  </a:txBody>
                  <a:tcPr marL="63500" marR="63500" marT="38100" marB="38100">
                    <a:noFill/>
                  </a:tcPr>
                </a:tc>
                <a:tc>
                  <a:txBody>
                    <a:bodyPr wrap="square"/>
                    <a:lstStyle/>
                    <a:p>
                      <a:r>
                        <a:rPr sz="950" b="0">
                          <a:latin typeface="Calibri"/>
                        </a:rPr>
                        <a:t>new — Score per-request risk: unusual amount, request velocity</a:t>
                      </a:r>
                    </a:p>
                  </a:txBody>
                  <a:tcPr marL="63500" marR="63500" marT="38100" marB="38100">
                    <a:noFill/>
                  </a:tcPr>
                </a:tc>
                <a:tc>
                  <a:txBody>
                    <a:bodyPr wrap="square"/>
                    <a:lstStyle/>
                    <a:p>
                      <a:r>
                        <a:rPr sz="950" b="0">
                          <a:latin typeface="Calibri"/>
                        </a:rPr>
                        <a:t/>
                      </a:r>
                    </a:p>
                  </a:txBody>
                  <a:tcPr marL="63500" marR="63500" marT="38100" marB="38100">
                    <a:noFill/>
                  </a:tcPr>
                </a:tc>
                <a:tc>
                  <a:txBody>
                    <a:bodyPr wrap="square"/>
                    <a:lstStyle/>
                    <a:p>
                      <a:r>
                        <a:rPr sz="950" b="0">
                          <a:latin typeface="Calibri"/>
                        </a:rPr>
                        <a:t/>
                      </a:r>
                    </a:p>
                  </a:txBody>
                  <a:tcPr marL="63500" marR="63500" marT="38100" marB="38100">
                    <a:noFill/>
                  </a:tcPr>
                </a:tc>
              </a:tr>
              <a:tr h="25400">
                <a:tc>
                  <a:txBody>
                    <a:bodyPr wrap="square"/>
                    <a:lstStyle/>
                    <a:p>
                      <a:r>
                        <a:rPr sz="950" b="0">
                          <a:latin typeface="Calibri"/>
                        </a:rPr>
                        <a:t>FR12</a:t>
                      </a:r>
                    </a:p>
                  </a:txBody>
                  <a:tcPr marL="63500" marR="63500" marT="38100" marB="38100">
                    <a:solidFill>
                      <a:srgbClr val="F4F6F9"/>
                    </a:solidFill>
                  </a:tcPr>
                </a:tc>
                <a:tc>
                  <a:txBody>
                    <a:bodyPr wrap="square"/>
                    <a:lstStyle/>
                    <a:p>
                      <a:r>
                        <a:rPr sz="950" b="0">
                          <a:latin typeface="Calibri"/>
                        </a:rPr>
                        <a:t>new — Never auto-approve a model in the significant drift band</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r>
            </a:tbl>
          </a:graphicData>
        </a:graphic>
      </p:graphicFrame>
    </p:spTree>
    <p:extLst>
      <p:ext uri="{BB962C8B-B14F-4D97-AF65-F5344CB8AC3E}">
        <p14:creationId xmlns:p14="http://schemas.microsoft.com/office/powerpoint/2010/main" val="402940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System Design — Architecture</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Two planes: the request path does the minimum, statistics run offline. New: all three engines are live — risk is no longer a stub.</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architecture.png"/>
          <p:cNvPicPr>
            <a:picLocks noChangeAspect="1"/>
          </p:cNvPicPr>
          <p:nvPr/>
        </p:nvPicPr>
        <p:blipFill>
          <a:blip r:embed="rId4"/>
          <a:stretch>
            <a:fillRect/>
          </a:stretch>
        </p:blipFill>
        <p:spPr>
          <a:xfrm>
            <a:off x="1066647" y="2697480"/>
            <a:ext cx="10058400" cy="3108960"/>
          </a:xfrm>
          <a:prstGeom prst="rect">
            <a:avLst/>
          </a:prstGeom>
        </p:spPr>
      </p:pic>
    </p:spTree>
    <p:extLst>
      <p:ext uri="{BB962C8B-B14F-4D97-AF65-F5344CB8AC3E}">
        <p14:creationId xmlns:p14="http://schemas.microsoft.com/office/powerpoint/2010/main" val="123800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System Design — Decision Logic</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Seven rules, evaluated in order. New: the drift floor — a significantly drifted model is never auto-approved. Slide 20 tests it on real data.</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decision_flow.png"/>
          <p:cNvPicPr>
            <a:picLocks noChangeAspect="1"/>
          </p:cNvPicPr>
          <p:nvPr/>
        </p:nvPicPr>
        <p:blipFill>
          <a:blip r:embed="rId4"/>
          <a:stretch>
            <a:fillRect/>
          </a:stretch>
        </p:blipFill>
        <p:spPr>
          <a:xfrm>
            <a:off x="1066647" y="2743200"/>
            <a:ext cx="10058400" cy="251460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Implementation — Status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Eleven of twelve components complete. New since Review-1 are marked.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240280"/>
          <a:ext cx="10241278" cy="355600"/>
        </p:xfrm>
        <a:graphic>
          <a:graphicData uri="http://schemas.openxmlformats.org/drawingml/2006/table">
            <a:tbl>
              <a:tblPr firstRow="1">
                <a:tableStyleId>{5C22544A-7EE6-4342-B048-85BDC9FD1C3A}</a:tableStyleId>
              </a:tblPr>
              <a:tblGrid>
                <a:gridCol w="2150668"/>
                <a:gridCol w="6759244"/>
                <a:gridCol w="1331366"/>
              </a:tblGrid>
              <a:tr h="25400">
                <a:tc>
                  <a:txBody>
                    <a:bodyPr wrap="square"/>
                    <a:lstStyle/>
                    <a:p>
                      <a:r>
                        <a:rPr sz="950" b="1">
                          <a:solidFill>
                            <a:srgbClr val="FFFFFF"/>
                          </a:solidFill>
                          <a:latin typeface="Calibri"/>
                        </a:rPr>
                        <a:t>Component</a:t>
                      </a:r>
                    </a:p>
                  </a:txBody>
                  <a:tcPr marL="63500" marR="63500" marT="38100" marB="38100">
                    <a:solidFill>
                      <a:srgbClr val="1F5CA8"/>
                    </a:solidFill>
                  </a:tcPr>
                </a:tc>
                <a:tc>
                  <a:txBody>
                    <a:bodyPr wrap="square"/>
                    <a:lstStyle/>
                    <a:p>
                      <a:r>
                        <a:rPr sz="950" b="1">
                          <a:solidFill>
                            <a:srgbClr val="FFFFFF"/>
                          </a:solidFill>
                          <a:latin typeface="Calibri"/>
                        </a:rPr>
                        <a:t>What was built</a:t>
                      </a:r>
                    </a:p>
                  </a:txBody>
                  <a:tcPr marL="63500" marR="63500" marT="38100" marB="38100">
                    <a:solidFill>
                      <a:srgbClr val="1F5CA8"/>
                    </a:solidFill>
                  </a:tcPr>
                </a:tc>
                <a:tc>
                  <a:txBody>
                    <a:bodyPr wrap="square"/>
                    <a:lstStyle/>
                    <a:p>
                      <a:r>
                        <a:rPr sz="950" b="1">
                          <a:solidFill>
                            <a:srgbClr val="FFFFFF"/>
                          </a:solidFill>
                          <a:latin typeface="Calibri"/>
                        </a:rPr>
                        <a:t>Status</a:t>
                      </a:r>
                    </a:p>
                  </a:txBody>
                  <a:tcPr marL="63500" marR="63500" marT="38100" marB="38100">
                    <a:solidFill>
                      <a:srgbClr val="1F5CA8"/>
                    </a:solidFill>
                  </a:tcPr>
                </a:tc>
              </a:tr>
              <a:tr h="25400">
                <a:tc>
                  <a:txBody>
                    <a:bodyPr wrap="square"/>
                    <a:lstStyle/>
                    <a:p>
                      <a:r>
                        <a:rPr sz="950" b="0">
                          <a:latin typeface="Calibri"/>
                        </a:rPr>
                        <a:t>Drift engine</a:t>
                      </a:r>
                    </a:p>
                  </a:txBody>
                  <a:tcPr marL="63500" marR="63500" marT="38100" marB="38100">
                    <a:noFill/>
                  </a:tcPr>
                </a:tc>
                <a:tc>
                  <a:txBody>
                    <a:bodyPr wrap="square"/>
                    <a:lstStyle/>
                    <a:p>
                      <a:r>
                        <a:rPr sz="950" b="0">
                          <a:latin typeface="Calibri"/>
                        </a:rPr>
                        <a:t>PSI and KS in pure Python, monotone severity roll-up, offline worker, cached hot-path read</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Policy engine</a:t>
                      </a:r>
                    </a:p>
                  </a:txBody>
                  <a:tcPr marL="63500" marR="63500" marT="38100" marB="38100">
                    <a:solidFill>
                      <a:srgbClr val="F4F6F9"/>
                    </a:solidFill>
                  </a:tcPr>
                </a:tc>
                <a:tc>
                  <a:txBody>
                    <a:bodyPr wrap="square"/>
                    <a:lstStyle/>
                    <a:p>
                      <a:r>
                        <a:rPr sz="950" b="0">
                          <a:latin typeface="Calibri"/>
                        </a:rPr>
                        <a:t>Tokeniser, recursive-descent parser, AST evaluator, veto — no eval anywhere</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Risk engine</a:t>
                      </a:r>
                    </a:p>
                  </a:txBody>
                  <a:tcPr marL="63500" marR="63500" marT="38100" marB="38100">
                    <a:noFill/>
                  </a:tcPr>
                </a:tc>
                <a:tc>
                  <a:txBody>
                    <a:bodyPr wrap="square"/>
                    <a:lstStyle/>
                    <a:p>
                      <a:r>
                        <a:rPr sz="950" b="0">
                          <a:latin typeface="Calibri"/>
                        </a:rPr>
                        <a:t>new — robust amount anomaly (median / MAD) + per-customer velocity, per tenant</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Trust engine</a:t>
                      </a:r>
                    </a:p>
                  </a:txBody>
                  <a:tcPr marL="63500" marR="63500" marT="38100" marB="38100">
                    <a:solidFill>
                      <a:srgbClr val="F4F6F9"/>
                    </a:solidFill>
                  </a:tcPr>
                </a:tc>
                <a:tc>
                  <a:txBody>
                    <a:bodyPr wrap="square"/>
                    <a:lstStyle/>
                    <a:p>
                      <a:r>
                        <a:rPr sz="950" b="0">
                          <a:latin typeface="Calibri"/>
                        </a:rPr>
                        <a:t>Concurrent fan-out, per-engine timeouts, weighted fusion, 8-rule decision cascade</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Admission control</a:t>
                      </a:r>
                    </a:p>
                  </a:txBody>
                  <a:tcPr marL="63500" marR="63500" marT="38100" marB="38100">
                    <a:noFill/>
                  </a:tcPr>
                </a:tc>
                <a:tc>
                  <a:txBody>
                    <a:bodyPr wrap="square"/>
                    <a:lstStyle/>
                    <a:p>
                      <a:r>
                        <a:rPr sz="950" b="0">
                          <a:latin typeface="Calibri"/>
                        </a:rPr>
                        <a:t>new — bounded in-flight gate, 503 shed, audit write moved to a dedicated thread</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Audit chain</a:t>
                      </a:r>
                    </a:p>
                  </a:txBody>
                  <a:tcPr marL="63500" marR="63500" marT="38100" marB="38100">
                    <a:solidFill>
                      <a:srgbClr val="F4F6F9"/>
                    </a:solidFill>
                  </a:tcPr>
                </a:tc>
                <a:tc>
                  <a:txBody>
                    <a:bodyPr wrap="square"/>
                    <a:lstStyle/>
                    <a:p>
                      <a:r>
                        <a:rPr sz="950" b="0">
                          <a:latin typeface="Calibri"/>
                        </a:rPr>
                        <a:t>SHA-256 hash chain, race-safe append, verification and evidence export</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Gateway + control plane</a:t>
                      </a:r>
                    </a:p>
                  </a:txBody>
                  <a:tcPr marL="63500" marR="63500" marT="38100" marB="38100">
                    <a:noFill/>
                  </a:tcPr>
                </a:tc>
                <a:tc>
                  <a:txBody>
                    <a:bodyPr wrap="square"/>
                    <a:lstStyle/>
                    <a:p>
                      <a:r>
                        <a:rPr sz="950" b="0">
                          <a:latin typeface="Calibri"/>
                        </a:rPr>
                        <a:t>/v1/evaluate, /health, /metrics and 23 control-plane endpoints</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Python SDK</a:t>
                      </a:r>
                    </a:p>
                  </a:txBody>
                  <a:tcPr marL="63500" marR="63500" marT="38100" marB="38100">
                    <a:solidFill>
                      <a:srgbClr val="F4F6F9"/>
                    </a:solidFill>
                  </a:tcPr>
                </a:tc>
                <a:tc>
                  <a:txBody>
                    <a:bodyPr wrap="square"/>
                    <a:lstStyle/>
                    <a:p>
                      <a:r>
                        <a:rPr sz="950" b="0">
                          <a:latin typeface="Calibri"/>
                        </a:rPr>
                        <a:t>@guard decorator, fail-open client — standard library only</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Dashboard</a:t>
                      </a:r>
                    </a:p>
                  </a:txBody>
                  <a:tcPr marL="63500" marR="63500" marT="38100" marB="38100">
                    <a:noFill/>
                  </a:tcPr>
                </a:tc>
                <a:tc>
                  <a:txBody>
                    <a:bodyPr wrap="square"/>
                    <a:lstStyle/>
                    <a:p>
                      <a:r>
                        <a:rPr sz="950" b="0">
                          <a:latin typeface="Calibri"/>
                        </a:rPr>
                        <a:t>React + TypeScript operator console: models, drift, decisions, audit</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Replay harness</a:t>
                      </a:r>
                    </a:p>
                  </a:txBody>
                  <a:tcPr marL="63500" marR="63500" marT="38100" marB="38100">
                    <a:solidFill>
                      <a:srgbClr val="F4F6F9"/>
                    </a:solidFill>
                  </a:tcPr>
                </a:tc>
                <a:tc>
                  <a:txBody>
                    <a:bodyPr wrap="square"/>
                    <a:lstStyle/>
                    <a:p>
                      <a:r>
                        <a:rPr sz="950" b="0">
                          <a:latin typeface="Calibri"/>
                        </a:rPr>
                        <a:t>Real-data drift replay; date-order bug fixed; calibrated on a planted shift</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Lending Club study</a:t>
                      </a:r>
                    </a:p>
                  </a:txBody>
                  <a:tcPr marL="63500" marR="63500" marT="38100" marB="38100">
                    <a:noFill/>
                  </a:tcPr>
                </a:tc>
                <a:tc>
                  <a:txBody>
                    <a:bodyPr wrap="square"/>
                    <a:lstStyle/>
                    <a:p>
                      <a:r>
                        <a:rPr sz="950" b="0">
                          <a:latin typeface="Calibri"/>
                        </a:rPr>
                        <a:t>new — pre-registered field study on 589,186 matured loans; results committed</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Governed self-healing</a:t>
                      </a:r>
                    </a:p>
                  </a:txBody>
                  <a:tcPr marL="63500" marR="63500" marT="38100" marB="38100">
                    <a:solidFill>
                      <a:srgbClr val="F4F6F9"/>
                    </a:solidFill>
                  </a:tcPr>
                </a:tc>
                <a:tc>
                  <a:txBody>
                    <a:bodyPr wrap="square"/>
                    <a:lstStyle/>
                    <a:p>
                      <a:r>
                        <a:rPr sz="950" b="0">
                          <a:latin typeface="Calibri"/>
                        </a:rPr>
                        <a:t>new — feed-vs-shift diagnosis, shadow-tested repairs, named approval, audited</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Versioning + retraining</a:t>
                      </a:r>
                    </a:p>
                  </a:txBody>
                  <a:tcPr marL="63500" marR="63500" marT="38100" marB="38100">
                    <a:noFill/>
                  </a:tcPr>
                </a:tc>
                <a:tc>
                  <a:txBody>
                    <a:bodyPr wrap="square"/>
                    <a:lstStyle/>
                    <a:p>
                      <a:r>
                        <a:rPr sz="950" b="0">
                          <a:latin typeface="Calibri"/>
                        </a:rPr>
                        <a:t>Model / data version tracking and a drift-driven retrain signal</a:t>
                      </a:r>
                    </a:p>
                  </a:txBody>
                  <a:tcPr marL="63500" marR="63500" marT="38100" marB="38100">
                    <a:noFill/>
                  </a:tcPr>
                </a:tc>
                <a:tc>
                  <a:txBody>
                    <a:bodyPr wrap="square"/>
                    <a:lstStyle/>
                    <a:p>
                      <a:r>
                        <a:rPr sz="950" b="0">
                          <a:latin typeface="Calibri"/>
                        </a:rPr>
                        <a:t>Final review</a:t>
                      </a:r>
                    </a:p>
                  </a:txBody>
                  <a:tcPr marL="63500" marR="63500" marT="38100" marB="38100">
                    <a:noFill/>
                  </a:tcPr>
                </a:tc>
              </a:tr>
            </a:tbl>
          </a:graphicData>
        </a:graphic>
      </p:graphicFrame>
    </p:spTree>
    <p:extLst>
      <p:ext uri="{BB962C8B-B14F-4D97-AF65-F5344CB8AC3E}">
        <p14:creationId xmlns:p14="http://schemas.microsoft.com/office/powerpoint/2010/main" val="606800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Implementation — Risk Engine (new)</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Drift asks whether the model still fits. Policy asks whether the action is allowed. Risk asks whether this one request is unusual — and abstains rather than guess when it cannot tell.</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514600"/>
          <a:ext cx="10241279" cy="101600"/>
        </p:xfrm>
        <a:graphic>
          <a:graphicData uri="http://schemas.openxmlformats.org/drawingml/2006/table">
            <a:tbl>
              <a:tblPr firstRow="1">
                <a:tableStyleId>{5C22544A-7EE6-4342-B048-85BDC9FD1C3A}</a:tableStyleId>
              </a:tblPr>
              <a:tblGrid>
                <a:gridCol w="1228953"/>
                <a:gridCol w="2457907"/>
                <a:gridCol w="4096512"/>
                <a:gridCol w="2457907"/>
              </a:tblGrid>
              <a:tr h="25400">
                <a:tc>
                  <a:txBody>
                    <a:bodyPr wrap="square"/>
                    <a:lstStyle/>
                    <a:p>
                      <a:r>
                        <a:rPr sz="1100" b="1">
                          <a:solidFill>
                            <a:srgbClr val="FFFFFF"/>
                          </a:solidFill>
                          <a:latin typeface="Calibri"/>
                        </a:rPr>
                        <a:t>Component</a:t>
                      </a:r>
                    </a:p>
                  </a:txBody>
                  <a:tcPr marL="63500" marR="63500" marT="38100" marB="38100">
                    <a:solidFill>
                      <a:srgbClr val="1F5CA8"/>
                    </a:solidFill>
                  </a:tcPr>
                </a:tc>
                <a:tc>
                  <a:txBody>
                    <a:bodyPr wrap="square"/>
                    <a:lstStyle/>
                    <a:p>
                      <a:r>
                        <a:rPr sz="1100" b="1">
                          <a:solidFill>
                            <a:srgbClr val="FFFFFF"/>
                          </a:solidFill>
                          <a:latin typeface="Calibri"/>
                        </a:rPr>
                        <a:t>What it measures</a:t>
                      </a:r>
                    </a:p>
                  </a:txBody>
                  <a:tcPr marL="63500" marR="63500" marT="38100" marB="38100">
                    <a:solidFill>
                      <a:srgbClr val="1F5CA8"/>
                    </a:solidFill>
                  </a:tcPr>
                </a:tc>
                <a:tc>
                  <a:txBody>
                    <a:bodyPr wrap="square"/>
                    <a:lstStyle/>
                    <a:p>
                      <a:r>
                        <a:rPr sz="1100" b="1">
                          <a:solidFill>
                            <a:srgbClr val="FFFFFF"/>
                          </a:solidFill>
                          <a:latin typeface="Calibri"/>
                        </a:rPr>
                        <a:t>How</a:t>
                      </a:r>
                    </a:p>
                  </a:txBody>
                  <a:tcPr marL="63500" marR="63500" marT="38100" marB="38100">
                    <a:solidFill>
                      <a:srgbClr val="1F5CA8"/>
                    </a:solidFill>
                  </a:tcPr>
                </a:tc>
                <a:tc>
                  <a:txBody>
                    <a:bodyPr wrap="square"/>
                    <a:lstStyle/>
                    <a:p>
                      <a:r>
                        <a:rPr sz="1100" b="1">
                          <a:solidFill>
                            <a:srgbClr val="FFFFFF"/>
                          </a:solidFill>
                          <a:latin typeface="Calibri"/>
                        </a:rPr>
                        <a:t>When it abstains</a:t>
                      </a:r>
                    </a:p>
                  </a:txBody>
                  <a:tcPr marL="63500" marR="63500" marT="38100" marB="38100">
                    <a:solidFill>
                      <a:srgbClr val="1F5CA8"/>
                    </a:solidFill>
                  </a:tcPr>
                </a:tc>
              </a:tr>
              <a:tr h="25400">
                <a:tc>
                  <a:txBody>
                    <a:bodyPr wrap="square"/>
                    <a:lstStyle/>
                    <a:p>
                      <a:r>
                        <a:rPr sz="1100" b="0">
                          <a:latin typeface="Calibri"/>
                        </a:rPr>
                        <a:t>Amount</a:t>
                      </a:r>
                    </a:p>
                  </a:txBody>
                  <a:tcPr marL="63500" marR="63500" marT="38100" marB="38100">
                    <a:noFill/>
                  </a:tcPr>
                </a:tc>
                <a:tc>
                  <a:txBody>
                    <a:bodyPr wrap="square"/>
                    <a:lstStyle/>
                    <a:p>
                      <a:r>
                        <a:rPr sz="1100" b="0">
                          <a:latin typeface="Calibri"/>
                        </a:rPr>
                        <a:t>Is this amount unusual for this tenant and model?</a:t>
                      </a:r>
                    </a:p>
                  </a:txBody>
                  <a:tcPr marL="63500" marR="63500" marT="38100" marB="38100">
                    <a:noFill/>
                  </a:tcPr>
                </a:tc>
                <a:tc>
                  <a:txBody>
                    <a:bodyPr wrap="square"/>
                    <a:lstStyle/>
                    <a:p>
                      <a:r>
                        <a:rPr sz="1100" b="0">
                          <a:latin typeface="Calibri"/>
                        </a:rPr>
                        <a:t>Robust z-score against the last 2,000 amounts — median and MAD, so outliers cannot drag the baseline. No risk at z ≤ 3, full risk at z ≥ 10</a:t>
                      </a:r>
                    </a:p>
                  </a:txBody>
                  <a:tcPr marL="63500" marR="63500" marT="38100" marB="38100">
                    <a:noFill/>
                  </a:tcPr>
                </a:tc>
                <a:tc>
                  <a:txBody>
                    <a:bodyPr wrap="square"/>
                    <a:lstStyle/>
                    <a:p>
                      <a:r>
                        <a:rPr sz="1100" b="0">
                          <a:latin typeface="Calibri"/>
                        </a:rPr>
                        <a:t>Fewer than 50 amounts seen: “normal” is not yet known</a:t>
                      </a:r>
                    </a:p>
                  </a:txBody>
                  <a:tcPr marL="63500" marR="63500" marT="38100" marB="38100">
                    <a:noFill/>
                  </a:tcPr>
                </a:tc>
              </a:tr>
              <a:tr h="25400">
                <a:tc>
                  <a:txBody>
                    <a:bodyPr wrap="square"/>
                    <a:lstStyle/>
                    <a:p>
                      <a:r>
                        <a:rPr sz="1100" b="0">
                          <a:latin typeface="Calibri"/>
                        </a:rPr>
                        <a:t>Velocity</a:t>
                      </a:r>
                    </a:p>
                  </a:txBody>
                  <a:tcPr marL="63500" marR="63500" marT="38100" marB="38100">
                    <a:solidFill>
                      <a:srgbClr val="F4F6F9"/>
                    </a:solidFill>
                  </a:tcPr>
                </a:tc>
                <a:tc>
                  <a:txBody>
                    <a:bodyPr wrap="square"/>
                    <a:lstStyle/>
                    <a:p>
                      <a:r>
                        <a:rPr sz="1100" b="0">
                          <a:latin typeface="Calibri"/>
                        </a:rPr>
                        <a:t>Is one customer firing requests in a burst?</a:t>
                      </a:r>
                    </a:p>
                  </a:txBody>
                  <a:tcPr marL="63500" marR="63500" marT="38100" marB="38100">
                    <a:solidFill>
                      <a:srgbClr val="F4F6F9"/>
                    </a:solidFill>
                  </a:tcPr>
                </a:tc>
                <a:tc>
                  <a:txBody>
                    <a:bodyPr wrap="square"/>
                    <a:lstStyle/>
                    <a:p>
                      <a:r>
                        <a:rPr sz="1100" b="0">
                          <a:latin typeface="Calibri"/>
                        </a:rPr>
                        <a:t>Requests by the same customer_id in the last 60 s. No risk at ≤ 3, full risk at ≥ 10</a:t>
                      </a:r>
                    </a:p>
                  </a:txBody>
                  <a:tcPr marL="63500" marR="63500" marT="38100" marB="38100">
                    <a:solidFill>
                      <a:srgbClr val="F4F6F9"/>
                    </a:solidFill>
                  </a:tcPr>
                </a:tc>
                <a:tc>
                  <a:txBody>
                    <a:bodyPr wrap="square"/>
                    <a:lstStyle/>
                    <a:p>
                      <a:r>
                        <a:rPr sz="1100" b="0">
                          <a:latin typeface="Calibri"/>
                        </a:rPr>
                        <a:t>No customer / account / subject id in the request</a:t>
                      </a:r>
                    </a:p>
                  </a:txBody>
                  <a:tcPr marL="63500" marR="63500" marT="38100" marB="38100">
                    <a:solidFill>
                      <a:srgbClr val="F4F6F9"/>
                    </a:solidFill>
                  </a:tcPr>
                </a:tc>
              </a:tr>
              <a:tr h="25400">
                <a:tc>
                  <a:txBody>
                    <a:bodyPr wrap="square"/>
                    <a:lstStyle/>
                    <a:p>
                      <a:r>
                        <a:rPr sz="1100" b="0">
                          <a:latin typeface="Calibri"/>
                        </a:rPr>
                        <a:t>Combined</a:t>
                      </a:r>
                    </a:p>
                  </a:txBody>
                  <a:tcPr marL="63500" marR="63500" marT="38100" marB="38100">
                    <a:noFill/>
                  </a:tcPr>
                </a:tc>
                <a:tc>
                  <a:txBody>
                    <a:bodyPr wrap="square"/>
                    <a:lstStyle/>
                    <a:p>
                      <a:r>
                        <a:rPr sz="1100" b="0">
                          <a:latin typeface="Calibri"/>
                        </a:rPr>
                        <a:t>Engine score = 1 − worst component</a:t>
                      </a:r>
                    </a:p>
                  </a:txBody>
                  <a:tcPr marL="63500" marR="63500" marT="38100" marB="38100">
                    <a:noFill/>
                  </a:tcPr>
                </a:tc>
                <a:tc>
                  <a:txBody>
                    <a:bodyPr wrap="square"/>
                    <a:lstStyle/>
                    <a:p>
                      <a:r>
                        <a:rPr sz="1100" b="0">
                          <a:latin typeface="Calibri"/>
                        </a:rPr>
                        <a:t>Worst, not average: one red flag is enough</a:t>
                      </a:r>
                    </a:p>
                  </a:txBody>
                  <a:tcPr marL="63500" marR="63500" marT="38100" marB="38100">
                    <a:noFill/>
                  </a:tcPr>
                </a:tc>
                <a:tc>
                  <a:txBody>
                    <a:bodyPr wrap="square"/>
                    <a:lstStyle/>
                    <a:p>
                      <a:r>
                        <a:rPr sz="1100" b="0">
                          <a:latin typeface="Calibri"/>
                        </a:rPr>
                        <a:t>No component can vote → degraded, excluded from fusion</a:t>
                      </a:r>
                    </a:p>
                  </a:txBody>
                  <a:tcPr marL="63500" marR="63500" marT="38100" marB="38100">
                    <a:no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Implementation — Admission Control (new)</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At Review-1, overload made the gateway queue, collapse and change its answers. It now refuses what it cannot serve, and under overload zero verdicts change (was up to 985 per phase).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load_before_after.png"/>
          <p:cNvPicPr>
            <a:picLocks noChangeAspect="1"/>
          </p:cNvPicPr>
          <p:nvPr/>
        </p:nvPicPr>
        <p:blipFill>
          <a:blip r:embed="rId4"/>
          <a:stretch>
            <a:fillRect/>
          </a:stretch>
        </p:blipFill>
        <p:spPr>
          <a:xfrm>
            <a:off x="1066647" y="2514600"/>
            <a:ext cx="10058400" cy="310896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Results — Live Demonstration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Same five acts as Review-1, all three signals live. Act 4 is now held by the drift floor, with the reason stated in plain language.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demo_trajectory.png"/>
          <p:cNvPicPr>
            <a:picLocks noChangeAspect="1"/>
          </p:cNvPicPr>
          <p:nvPr/>
        </p:nvPicPr>
        <p:blipFill>
          <a:blip r:embed="rId4"/>
          <a:stretch>
            <a:fillRect/>
          </a:stretch>
        </p:blipFill>
        <p:spPr>
          <a:xfrm>
            <a:off x="1066647" y="2560320"/>
            <a:ext cx="10058400" cy="310896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Results — Drift Attribution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Severity says the model moved; attribution says which input moved — the difference between a population shift and a broken upstream feed.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drift_attribution.png"/>
          <p:cNvPicPr>
            <a:picLocks noChangeAspect="1"/>
          </p:cNvPicPr>
          <p:nvPr/>
        </p:nvPicPr>
        <p:blipFill>
          <a:blip r:embed="rId4"/>
          <a:stretch>
            <a:fillRect/>
          </a:stretch>
        </p:blipFill>
        <p:spPr>
          <a:xfrm>
            <a:off x="1066647" y="2651760"/>
            <a:ext cx="10058400" cy="288036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Validation — Calibration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Custos is a measuring instrument, so it is validated like one: shifts of a known size in, readings checked against the known answer.</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calibration_curve.png"/>
          <p:cNvPicPr>
            <a:picLocks noChangeAspect="1"/>
          </p:cNvPicPr>
          <p:nvPr/>
        </p:nvPicPr>
        <p:blipFill>
          <a:blip r:embed="rId4"/>
          <a:stretch>
            <a:fillRect/>
          </a:stretch>
        </p:blipFill>
        <p:spPr>
          <a:xfrm>
            <a:off x="1066647" y="2514600"/>
            <a:ext cx="10058400" cy="315468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Validation — Field Study: How It Was Run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Calibration proves the detector is correct. A field study tests whether gating on drift actually helps: 2.26 million real Lending Club loans, of which 589,186 matured loans from 2012–2015 were evaluated against a model trained on 2007–2011.</a:t>
            </a:r>
          </a:p>
          <a:p>
            <a:pPr marL="285750" indent="-285750" algn="l">
              <a:spcBef>
                <a:spcPts val="30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Pre-registered — hypotheses, metrics and what each outcome would mean were committed and pushed before the dataset was even downloaded.</a:t>
            </a:r>
          </a:p>
          <a:p>
            <a:pPr marL="285750" indent="-285750" algn="l">
              <a:spcBef>
                <a:spcPts val="16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Leakage and censoring enforced in code — only fields known when the loan was made, and only loans whose term had ended, so outcomes are real.</a:t>
            </a:r>
          </a:p>
          <a:p>
            <a:pPr marL="285750" indent="-285750" algn="l">
              <a:spcBef>
                <a:spcPts val="16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Seven review strategies compared at the same review budget, from random review to the model's own risk score to Custos's drift gating.</a:t>
            </a:r>
          </a:p>
          <a:p>
            <a:pPr marL="285750" indent="-285750" algn="l">
              <a:spcBef>
                <a:spcPts val="16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Two bugs caught before the real run — dates sorted as text, and a harm measure that could not see miscalibration. Both fixed, both recorded.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3231882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Field Result — Our Core Assumption Failed</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Asked to pick 5% of 589,186 real loans for human review, gating on population drift — how Custos works today — caught fewer defaults than picking at random. The model's own risk score caught 2.1× random.</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gating_results.png"/>
          <p:cNvPicPr>
            <a:picLocks noChangeAspect="1"/>
          </p:cNvPicPr>
          <p:nvPr/>
        </p:nvPicPr>
        <p:blipFill>
          <a:blip r:embed="rId4"/>
          <a:stretch>
            <a:fillRect/>
          </a:stretch>
        </p:blipFill>
        <p:spPr>
          <a:xfrm>
            <a:off x="1066647" y="2514600"/>
            <a:ext cx="10058400" cy="301752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Engineering Rigour — Problems We Found in Our Own System</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Seven problems, found by our own tooling. The largest: real data contradicted the assumption the gating was built 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9" cy="203200"/>
        </p:xfrm>
        <a:graphic>
          <a:graphicData uri="http://schemas.openxmlformats.org/drawingml/2006/table">
            <a:tbl>
              <a:tblPr firstRow="1">
                <a:tableStyleId>{5C22544A-7EE6-4342-B048-85BDC9FD1C3A}</a:tableStyleId>
              </a:tblPr>
              <a:tblGrid>
                <a:gridCol w="1741017"/>
                <a:gridCol w="4915814"/>
                <a:gridCol w="3584448"/>
              </a:tblGrid>
              <a:tr h="25400">
                <a:tc>
                  <a:txBody>
                    <a:bodyPr wrap="square"/>
                    <a:lstStyle/>
                    <a:p>
                      <a:r>
                        <a:rPr sz="1100" b="1">
                          <a:solidFill>
                            <a:srgbClr val="FFFFFF"/>
                          </a:solidFill>
                          <a:latin typeface="Calibri"/>
                        </a:rPr>
                        <a:t>Found by</a:t>
                      </a:r>
                    </a:p>
                  </a:txBody>
                  <a:tcPr marL="63500" marR="63500" marT="38100" marB="38100">
                    <a:solidFill>
                      <a:srgbClr val="1F5CA8"/>
                    </a:solidFill>
                  </a:tcPr>
                </a:tc>
                <a:tc>
                  <a:txBody>
                    <a:bodyPr wrap="square"/>
                    <a:lstStyle/>
                    <a:p>
                      <a:r>
                        <a:rPr sz="1100" b="1">
                          <a:solidFill>
                            <a:srgbClr val="FFFFFF"/>
                          </a:solidFill>
                          <a:latin typeface="Calibri"/>
                        </a:rPr>
                        <a:t>Defect</a:t>
                      </a:r>
                    </a:p>
                  </a:txBody>
                  <a:tcPr marL="63500" marR="63500" marT="38100" marB="38100">
                    <a:solidFill>
                      <a:srgbClr val="1F5CA8"/>
                    </a:solidFill>
                  </a:tcPr>
                </a:tc>
                <a:tc>
                  <a:txBody>
                    <a:bodyPr wrap="square"/>
                    <a:lstStyle/>
                    <a:p>
                      <a:r>
                        <a:rPr sz="1100" b="1">
                          <a:solidFill>
                            <a:srgbClr val="FFFFFF"/>
                          </a:solidFill>
                          <a:latin typeface="Calibri"/>
                        </a:rPr>
                        <a:t>Fix</a:t>
                      </a:r>
                    </a:p>
                  </a:txBody>
                  <a:tcPr marL="63500" marR="63500" marT="38100" marB="38100">
                    <a:solidFill>
                      <a:srgbClr val="1F5CA8"/>
                    </a:solidFill>
                  </a:tcPr>
                </a:tc>
              </a:tr>
              <a:tr h="25400">
                <a:tc>
                  <a:txBody>
                    <a:bodyPr wrap="square"/>
                    <a:lstStyle/>
                    <a:p>
                      <a:r>
                        <a:rPr sz="1100" b="0">
                          <a:latin typeface="Calibri"/>
                        </a:rPr>
                        <a:t>Load harness (R1)</a:t>
                      </a:r>
                    </a:p>
                  </a:txBody>
                  <a:tcPr marL="63500" marR="63500" marT="38100" marB="38100">
                    <a:noFill/>
                  </a:tcPr>
                </a:tc>
                <a:tc>
                  <a:txBody>
                    <a:bodyPr wrap="square"/>
                    <a:lstStyle/>
                    <a:p>
                      <a:r>
                        <a:rPr sz="1100" b="0">
                          <a:latin typeface="Calibri"/>
                        </a:rPr>
                        <a:t>Published p99 of 0.5 ms measured a timer that stops before the audit write; real figure was 49 ms</a:t>
                      </a:r>
                    </a:p>
                  </a:txBody>
                  <a:tcPr marL="63500" marR="63500" marT="38100" marB="38100">
                    <a:noFill/>
                  </a:tcPr>
                </a:tc>
                <a:tc>
                  <a:txBody>
                    <a:bodyPr wrap="square"/>
                    <a:lstStyle/>
                    <a:p>
                      <a:r>
                        <a:rPr sz="1100" b="0">
                          <a:latin typeface="Calibri"/>
                        </a:rPr>
                        <a:t>Report client-observed latency; now 9 ms at the same rate</a:t>
                      </a:r>
                    </a:p>
                  </a:txBody>
                  <a:tcPr marL="63500" marR="63500" marT="38100" marB="38100">
                    <a:noFill/>
                  </a:tcPr>
                </a:tc>
              </a:tr>
              <a:tr h="25400">
                <a:tc>
                  <a:txBody>
                    <a:bodyPr wrap="square"/>
                    <a:lstStyle/>
                    <a:p>
                      <a:r>
                        <a:rPr sz="1100" b="0">
                          <a:latin typeface="Calibri"/>
                        </a:rPr>
                        <a:t>Load harness (R1)</a:t>
                      </a:r>
                    </a:p>
                  </a:txBody>
                  <a:tcPr marL="63500" marR="63500" marT="38100" marB="38100">
                    <a:solidFill>
                      <a:srgbClr val="F4F6F9"/>
                    </a:solidFill>
                  </a:tcPr>
                </a:tc>
                <a:tc>
                  <a:txBody>
                    <a:bodyPr wrap="square"/>
                    <a:lstStyle/>
                    <a:p>
                      <a:r>
                        <a:rPr sz="1100" b="0">
                          <a:latin typeface="Calibri"/>
                        </a:rPr>
                        <a:t>Audit chain dropped entries under concurrency and still verified as intact</a:t>
                      </a:r>
                    </a:p>
                  </a:txBody>
                  <a:tcPr marL="63500" marR="63500" marT="38100" marB="38100">
                    <a:solidFill>
                      <a:srgbClr val="F4F6F9"/>
                    </a:solidFill>
                  </a:tcPr>
                </a:tc>
                <a:tc>
                  <a:txBody>
                    <a:bodyPr wrap="square"/>
                    <a:lstStyle/>
                    <a:p>
                      <a:r>
                        <a:rPr sz="1100" b="0">
                          <a:latin typeface="Calibri"/>
                        </a:rPr>
                        <a:t>Advisory lock + jittered backoff; 0 lost from 2 to 48 writers</a:t>
                      </a:r>
                    </a:p>
                  </a:txBody>
                  <a:tcPr marL="63500" marR="63500" marT="38100" marB="38100">
                    <a:solidFill>
                      <a:srgbClr val="F4F6F9"/>
                    </a:solidFill>
                  </a:tcPr>
                </a:tc>
              </a:tr>
              <a:tr h="25400">
                <a:tc>
                  <a:txBody>
                    <a:bodyPr wrap="square"/>
                    <a:lstStyle/>
                    <a:p>
                      <a:r>
                        <a:rPr sz="1100" b="0">
                          <a:latin typeface="Calibri"/>
                        </a:rPr>
                        <a:t>Load harness (R1)</a:t>
                      </a:r>
                    </a:p>
                  </a:txBody>
                  <a:tcPr marL="63500" marR="63500" marT="38100" marB="38100">
                    <a:noFill/>
                  </a:tcPr>
                </a:tc>
                <a:tc>
                  <a:txBody>
                    <a:bodyPr wrap="square"/>
                    <a:lstStyle/>
                    <a:p>
                      <a:r>
                        <a:rPr sz="1100" b="0">
                          <a:latin typeface="Calibri"/>
                        </a:rPr>
                        <a:t>Overload changed verdicts: ~13% flipped ALLOW → REVIEW</a:t>
                      </a:r>
                    </a:p>
                  </a:txBody>
                  <a:tcPr marL="63500" marR="63500" marT="38100" marB="38100">
                    <a:noFill/>
                  </a:tcPr>
                </a:tc>
                <a:tc>
                  <a:txBody>
                    <a:bodyPr wrap="square"/>
                    <a:lstStyle/>
                    <a:p>
                      <a:r>
                        <a:rPr sz="1100" b="0">
                          <a:latin typeface="Calibri"/>
                        </a:rPr>
                        <a:t>Event loop unblocked + admission control: 0 flips under overload</a:t>
                      </a:r>
                    </a:p>
                  </a:txBody>
                  <a:tcPr marL="63500" marR="63500" marT="38100" marB="38100">
                    <a:noFill/>
                  </a:tcPr>
                </a:tc>
              </a:tr>
              <a:tr h="25400">
                <a:tc>
                  <a:txBody>
                    <a:bodyPr wrap="square"/>
                    <a:lstStyle/>
                    <a:p>
                      <a:r>
                        <a:rPr sz="1100" b="0">
                          <a:latin typeface="Calibri"/>
                        </a:rPr>
                        <a:t>Unit test (R2)</a:t>
                      </a:r>
                    </a:p>
                  </a:txBody>
                  <a:tcPr marL="63500" marR="63500" marT="38100" marB="38100">
                    <a:solidFill>
                      <a:srgbClr val="F4F6F9"/>
                    </a:solidFill>
                  </a:tcPr>
                </a:tc>
                <a:tc>
                  <a:txBody>
                    <a:bodyPr wrap="square"/>
                    <a:lstStyle/>
                    <a:p>
                      <a:r>
                        <a:rPr sz="1100" b="0">
                          <a:latin typeface="Calibri"/>
                        </a:rPr>
                        <a:t>Replay harness sorted dates as text — “Aug-2018” became the 2007 baseline</a:t>
                      </a:r>
                    </a:p>
                  </a:txBody>
                  <a:tcPr marL="63500" marR="63500" marT="38100" marB="38100">
                    <a:solidFill>
                      <a:srgbClr val="F4F6F9"/>
                    </a:solidFill>
                  </a:tcPr>
                </a:tc>
                <a:tc>
                  <a:txBody>
                    <a:bodyPr wrap="square"/>
                    <a:lstStyle/>
                    <a:p>
                      <a:r>
                        <a:rPr sz="1100" b="0">
                          <a:latin typeface="Calibri"/>
                        </a:rPr>
                        <a:t>Parse dates; regression test on Lending Club's own date format</a:t>
                      </a:r>
                    </a:p>
                  </a:txBody>
                  <a:tcPr marL="63500" marR="63500" marT="38100" marB="38100">
                    <a:solidFill>
                      <a:srgbClr val="F4F6F9"/>
                    </a:solidFill>
                  </a:tcPr>
                </a:tc>
              </a:tr>
              <a:tr h="25400">
                <a:tc>
                  <a:txBody>
                    <a:bodyPr wrap="square"/>
                    <a:lstStyle/>
                    <a:p>
                      <a:r>
                        <a:rPr sz="1100" b="0">
                          <a:latin typeface="Calibri"/>
                        </a:rPr>
                        <a:t>Fusion arithmetic (R2)</a:t>
                      </a:r>
                    </a:p>
                  </a:txBody>
                  <a:tcPr marL="63500" marR="63500" marT="38100" marB="38100">
                    <a:noFill/>
                  </a:tcPr>
                </a:tc>
                <a:tc>
                  <a:txBody>
                    <a:bodyPr wrap="square"/>
                    <a:lstStyle/>
                    <a:p>
                      <a:r>
                        <a:rPr sz="1100" b="0">
                          <a:latin typeface="Calibri"/>
                        </a:rPr>
                        <a:t>Adding a live risk signal let a significantly drifted model reach ALLOW</a:t>
                      </a:r>
                    </a:p>
                  </a:txBody>
                  <a:tcPr marL="63500" marR="63500" marT="38100" marB="38100">
                    <a:noFill/>
                  </a:tcPr>
                </a:tc>
                <a:tc>
                  <a:txBody>
                    <a:bodyPr wrap="square"/>
                    <a:lstStyle/>
                    <a:p>
                      <a:r>
                        <a:rPr sz="1100" b="0">
                          <a:latin typeface="Calibri"/>
                        </a:rPr>
                        <a:t>Explicit drift-floor rule in the decision cascade, pinned by tests</a:t>
                      </a:r>
                    </a:p>
                  </a:txBody>
                  <a:tcPr marL="63500" marR="63500" marT="38100" marB="38100">
                    <a:noFill/>
                  </a:tcPr>
                </a:tc>
              </a:tr>
              <a:tr h="25400">
                <a:tc>
                  <a:txBody>
                    <a:bodyPr wrap="square"/>
                    <a:lstStyle/>
                    <a:p>
                      <a:r>
                        <a:rPr sz="1100" b="0">
                          <a:latin typeface="Calibri"/>
                        </a:rPr>
                        <a:t>Pre-registered study (R2)</a:t>
                      </a:r>
                    </a:p>
                  </a:txBody>
                  <a:tcPr marL="63500" marR="63500" marT="38100" marB="38100">
                    <a:solidFill>
                      <a:srgbClr val="F4F6F9"/>
                    </a:solidFill>
                  </a:tcPr>
                </a:tc>
                <a:tc>
                  <a:txBody>
                    <a:bodyPr wrap="square"/>
                    <a:lstStyle/>
                    <a:p>
                      <a:r>
                        <a:rPr sz="1100" b="0">
                          <a:latin typeface="Calibri"/>
                        </a:rPr>
                        <a:t>On real loans, drift gating caught fewer defaults than random; the drift floor would escalate 92% of decisions for no gain</a:t>
                      </a:r>
                    </a:p>
                  </a:txBody>
                  <a:tcPr marL="63500" marR="63500" marT="38100" marB="38100">
                    <a:solidFill>
                      <a:srgbClr val="F4F6F9"/>
                    </a:solidFill>
                  </a:tcPr>
                </a:tc>
                <a:tc>
                  <a:txBody>
                    <a:bodyPr wrap="square"/>
                    <a:lstStyle/>
                    <a:p>
                      <a:r>
                        <a:rPr sz="1100" b="0">
                          <a:latin typeface="Calibri"/>
                        </a:rPr>
                        <a:t>Not yet fixed — gating to be rebuilt around risk-ranked review</a:t>
                      </a:r>
                    </a:p>
                  </a:txBody>
                  <a:tcPr marL="63500" marR="63500" marT="38100" marB="38100">
                    <a:solidFill>
                      <a:srgbClr val="F4F6F9"/>
                    </a:solidFill>
                  </a:tcPr>
                </a:tc>
              </a:tr>
              <a:tr h="25400">
                <a:tc>
                  <a:txBody>
                    <a:bodyPr wrap="square"/>
                    <a:lstStyle/>
                    <a:p>
                      <a:r>
                        <a:rPr sz="1100" b="0">
                          <a:latin typeface="Calibri"/>
                        </a:rPr>
                        <a:t>Self-healing (R2+)</a:t>
                      </a:r>
                    </a:p>
                  </a:txBody>
                  <a:tcPr marL="63500" marR="63500" marT="38100" marB="38100">
                    <a:noFill/>
                  </a:tcPr>
                </a:tc>
                <a:tc>
                  <a:txBody>
                    <a:bodyPr wrap="square"/>
                    <a:lstStyle/>
                    <a:p>
                      <a:r>
                        <a:rPr sz="1100" b="0">
                          <a:latin typeface="Calibri"/>
                        </a:rPr>
                        <a:t>Drift window scored the baseline's own rows as live traffic: healthy drift read 0.02, honestly 0.18</a:t>
                      </a:r>
                    </a:p>
                  </a:txBody>
                  <a:tcPr marL="63500" marR="63500" marT="38100" marB="38100">
                    <a:noFill/>
                  </a:tcPr>
                </a:tc>
                <a:tc>
                  <a:txBody>
                    <a:bodyPr wrap="square"/>
                    <a:lstStyle/>
                    <a:p>
                      <a:r>
                        <a:rPr sz="1100" b="0">
                          <a:latin typeface="Calibri"/>
                        </a:rPr>
                        <a:t>Window starts at the current baseline; regression test</a:t>
                      </a:r>
                    </a:p>
                  </a:txBody>
                  <a:tcPr marL="63500" marR="63500" marT="38100" marB="38100">
                    <a:no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Governed Self-Healing — Built</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Drift is a poor per-decision gate but a strong alarm, so Custos now acts on it: it tells a broken data feed from a real population shift, proposes a repair, shadow-tests it on real decisions, and applies it only when a named person approves. Domain-agnostic — any model whose output triggers an action.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self_healing_loop.png"/>
          <p:cNvPicPr>
            <a:picLocks noChangeAspect="1"/>
          </p:cNvPicPr>
          <p:nvPr/>
        </p:nvPicPr>
        <p:blipFill>
          <a:blip r:embed="rId4"/>
          <a:stretch>
            <a:fillRect/>
          </a:stretch>
        </p:blipFill>
        <p:spPr>
          <a:xfrm>
            <a:off x="1066647" y="2606040"/>
            <a:ext cx="10058400" cy="201168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Work Plan to the Final Review</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What remains, and what each item depends 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194560"/>
          <a:ext cx="10241279" cy="203200"/>
        </p:xfrm>
        <a:graphic>
          <a:graphicData uri="http://schemas.openxmlformats.org/drawingml/2006/table">
            <a:tbl>
              <a:tblPr firstRow="1">
                <a:tableStyleId>{5C22544A-7EE6-4342-B048-85BDC9FD1C3A}</a:tableStyleId>
              </a:tblPr>
              <a:tblGrid>
                <a:gridCol w="3072384"/>
                <a:gridCol w="4915814"/>
                <a:gridCol w="2253081"/>
              </a:tblGrid>
              <a:tr h="25400">
                <a:tc>
                  <a:txBody>
                    <a:bodyPr wrap="square"/>
                    <a:lstStyle/>
                    <a:p>
                      <a:r>
                        <a:rPr sz="1100" b="1">
                          <a:solidFill>
                            <a:srgbClr val="FFFFFF"/>
                          </a:solidFill>
                          <a:latin typeface="Calibri"/>
                        </a:rPr>
                        <a:t>Item</a:t>
                      </a:r>
                    </a:p>
                  </a:txBody>
                  <a:tcPr marL="63500" marR="63500" marT="38100" marB="38100">
                    <a:solidFill>
                      <a:srgbClr val="1F5CA8"/>
                    </a:solidFill>
                  </a:tcPr>
                </a:tc>
                <a:tc>
                  <a:txBody>
                    <a:bodyPr wrap="square"/>
                    <a:lstStyle/>
                    <a:p>
                      <a:r>
                        <a:rPr sz="1100" b="1">
                          <a:solidFill>
                            <a:srgbClr val="FFFFFF"/>
                          </a:solidFill>
                          <a:latin typeface="Calibri"/>
                        </a:rPr>
                        <a:t>Why it matters</a:t>
                      </a:r>
                    </a:p>
                  </a:txBody>
                  <a:tcPr marL="63500" marR="63500" marT="38100" marB="38100">
                    <a:solidFill>
                      <a:srgbClr val="1F5CA8"/>
                    </a:solidFill>
                  </a:tcPr>
                </a:tc>
                <a:tc>
                  <a:txBody>
                    <a:bodyPr wrap="square"/>
                    <a:lstStyle/>
                    <a:p>
                      <a:r>
                        <a:rPr sz="1100" b="1">
                          <a:solidFill>
                            <a:srgbClr val="FFFFFF"/>
                          </a:solidFill>
                          <a:latin typeface="Calibri"/>
                        </a:rPr>
                        <a:t>Depends on</a:t>
                      </a:r>
                    </a:p>
                  </a:txBody>
                  <a:tcPr marL="63500" marR="63500" marT="38100" marB="38100">
                    <a:solidFill>
                      <a:srgbClr val="1F5CA8"/>
                    </a:solidFill>
                  </a:tcPr>
                </a:tc>
              </a:tr>
              <a:tr h="25400">
                <a:tc>
                  <a:txBody>
                    <a:bodyPr wrap="square"/>
                    <a:lstStyle/>
                    <a:p>
                      <a:r>
                        <a:rPr sz="1100" b="0">
                          <a:latin typeface="Calibri"/>
                        </a:rPr>
                        <a:t>Rebuild gating around risk-ranked review</a:t>
                      </a:r>
                    </a:p>
                  </a:txBody>
                  <a:tcPr marL="63500" marR="63500" marT="38100" marB="38100">
                    <a:noFill/>
                  </a:tcPr>
                </a:tc>
                <a:tc>
                  <a:txBody>
                    <a:bodyPr wrap="square"/>
                    <a:lstStyle/>
                    <a:p>
                      <a:r>
                        <a:rPr sz="1100" b="0">
                          <a:latin typeface="Calibri"/>
                        </a:rPr>
                        <a:t>On real loans the model's risk ranking caught 2.1× random; drift gating caught less than random</a:t>
                      </a:r>
                    </a:p>
                  </a:txBody>
                  <a:tcPr marL="63500" marR="63500" marT="38100" marB="38100">
                    <a:noFill/>
                  </a:tcPr>
                </a:tc>
                <a:tc>
                  <a:txBody>
                    <a:bodyPr wrap="square"/>
                    <a:lstStyle/>
                    <a:p>
                      <a:r>
                        <a:rPr sz="1100" b="0">
                          <a:latin typeface="Calibri"/>
                        </a:rPr>
                        <a:t>—</a:t>
                      </a:r>
                    </a:p>
                  </a:txBody>
                  <a:tcPr marL="63500" marR="63500" marT="38100" marB="38100">
                    <a:noFill/>
                  </a:tcPr>
                </a:tc>
              </a:tr>
              <a:tr h="25400">
                <a:tc>
                  <a:txBody>
                    <a:bodyPr wrap="square"/>
                    <a:lstStyle/>
                    <a:p>
                      <a:r>
                        <a:rPr sz="1100" b="0">
                          <a:latin typeface="Calibri"/>
                        </a:rPr>
                        <a:t>Replicate on a second credit dataset</a:t>
                      </a:r>
                    </a:p>
                  </a:txBody>
                  <a:tcPr marL="63500" marR="63500" marT="38100" marB="38100">
                    <a:solidFill>
                      <a:srgbClr val="F4F6F9"/>
                    </a:solidFill>
                  </a:tcPr>
                </a:tc>
                <a:tc>
                  <a:txBody>
                    <a:bodyPr wrap="square"/>
                    <a:lstStyle/>
                    <a:p>
                      <a:r>
                        <a:rPr sz="1100" b="0">
                          <a:latin typeface="Calibri"/>
                        </a:rPr>
                        <a:t>One dataset cannot support a general claim</a:t>
                      </a:r>
                    </a:p>
                  </a:txBody>
                  <a:tcPr marL="63500" marR="63500" marT="38100" marB="38100">
                    <a:solidFill>
                      <a:srgbClr val="F4F6F9"/>
                    </a:solidFill>
                  </a:tcPr>
                </a:tc>
                <a:tc>
                  <a:txBody>
                    <a:bodyPr wrap="square"/>
                    <a:lstStyle/>
                    <a:p>
                      <a:r>
                        <a:rPr sz="1100" b="0">
                          <a:latin typeface="Calibri"/>
                        </a:rPr>
                        <a:t>Dataset access</a:t>
                      </a:r>
                    </a:p>
                  </a:txBody>
                  <a:tcPr marL="63500" marR="63500" marT="38100" marB="38100">
                    <a:solidFill>
                      <a:srgbClr val="F4F6F9"/>
                    </a:solidFill>
                  </a:tcPr>
                </a:tc>
              </a:tr>
              <a:tr h="25400">
                <a:tc>
                  <a:txBody>
                    <a:bodyPr wrap="square"/>
                    <a:lstStyle/>
                    <a:p>
                      <a:r>
                        <a:rPr sz="1100" b="0">
                          <a:latin typeface="Calibri"/>
                        </a:rPr>
                        <a:t>Scale-out: multiple gateway workers</a:t>
                      </a:r>
                    </a:p>
                  </a:txBody>
                  <a:tcPr marL="63500" marR="63500" marT="38100" marB="38100">
                    <a:noFill/>
                  </a:tcPr>
                </a:tc>
                <a:tc>
                  <a:txBody>
                    <a:bodyPr wrap="square"/>
                    <a:lstStyle/>
                    <a:p>
                      <a:r>
                        <a:rPr sz="1100" b="0">
                          <a:latin typeface="Calibri"/>
                        </a:rPr>
                        <a:t>One process saturates near 300 req/s; past that, requests queue before the gate can see them</a:t>
                      </a:r>
                    </a:p>
                  </a:txBody>
                  <a:tcPr marL="63500" marR="63500" marT="38100" marB="38100">
                    <a:noFill/>
                  </a:tcPr>
                </a:tc>
                <a:tc>
                  <a:txBody>
                    <a:bodyPr wrap="square"/>
                    <a:lstStyle/>
                    <a:p>
                      <a:r>
                        <a:rPr sz="1100" b="0">
                          <a:latin typeface="Calibri"/>
                        </a:rPr>
                        <a:t>Postgres for shared state</a:t>
                      </a:r>
                    </a:p>
                  </a:txBody>
                  <a:tcPr marL="63500" marR="63500" marT="38100" marB="38100">
                    <a:noFill/>
                  </a:tcPr>
                </a:tc>
              </a:tr>
              <a:tr h="25400">
                <a:tc>
                  <a:txBody>
                    <a:bodyPr wrap="square"/>
                    <a:lstStyle/>
                    <a:p>
                      <a:r>
                        <a:rPr sz="1100" b="0">
                          <a:latin typeface="Calibri"/>
                        </a:rPr>
                        <a:t>Postgres load measurement</a:t>
                      </a:r>
                    </a:p>
                  </a:txBody>
                  <a:tcPr marL="63500" marR="63500" marT="38100" marB="38100">
                    <a:solidFill>
                      <a:srgbClr val="F4F6F9"/>
                    </a:solidFill>
                  </a:tcPr>
                </a:tc>
                <a:tc>
                  <a:txBody>
                    <a:bodyPr wrap="square"/>
                    <a:lstStyle/>
                    <a:p>
                      <a:r>
                        <a:rPr sz="1100" b="0">
                          <a:latin typeface="Calibri"/>
                        </a:rPr>
                        <a:t>SQLite is the pessimistic floor; production runs Postgres</a:t>
                      </a:r>
                    </a:p>
                  </a:txBody>
                  <a:tcPr marL="63500" marR="63500" marT="38100" marB="38100">
                    <a:solidFill>
                      <a:srgbClr val="F4F6F9"/>
                    </a:solidFill>
                  </a:tcPr>
                </a:tc>
                <a:tc>
                  <a:txBody>
                    <a:bodyPr wrap="square"/>
                    <a:lstStyle/>
                    <a:p>
                      <a:r>
                        <a:rPr sz="1100" b="0">
                          <a:latin typeface="Calibri"/>
                        </a:rPr>
                        <a:t>Docker</a:t>
                      </a:r>
                    </a:p>
                  </a:txBody>
                  <a:tcPr marL="63500" marR="63500" marT="38100" marB="38100">
                    <a:solidFill>
                      <a:srgbClr val="F4F6F9"/>
                    </a:solidFill>
                  </a:tcPr>
                </a:tc>
              </a:tr>
              <a:tr h="25400">
                <a:tc>
                  <a:txBody>
                    <a:bodyPr wrap="square"/>
                    <a:lstStyle/>
                    <a:p>
                      <a:r>
                        <a:rPr sz="1100" b="0">
                          <a:latin typeface="Calibri"/>
                        </a:rPr>
                        <a:t>Self-healing: more fault signatures (unit change, partial outage)</a:t>
                      </a:r>
                    </a:p>
                  </a:txBody>
                  <a:tcPr marL="63500" marR="63500" marT="38100" marB="38100">
                    <a:noFill/>
                  </a:tcPr>
                </a:tc>
                <a:tc>
                  <a:txBody>
                    <a:bodyPr wrap="square"/>
                    <a:lstStyle/>
                    <a:p>
                      <a:r>
                        <a:rPr sz="1100" b="0">
                          <a:latin typeface="Calibri"/>
                        </a:rPr>
                        <a:t>Today only stuck and missing feeds are diagnosed; a feed that is wrong but still varies reads as a shift</a:t>
                      </a:r>
                    </a:p>
                  </a:txBody>
                  <a:tcPr marL="63500" marR="63500" marT="38100" marB="38100">
                    <a:noFill/>
                  </a:tcPr>
                </a:tc>
                <a:tc>
                  <a:txBody>
                    <a:bodyPr wrap="square"/>
                    <a:lstStyle/>
                    <a:p>
                      <a:r>
                        <a:rPr sz="1100" b="0">
                          <a:latin typeface="Calibri"/>
                        </a:rPr>
                        <a:t>—</a:t>
                      </a:r>
                    </a:p>
                  </a:txBody>
                  <a:tcPr marL="63500" marR="63500" marT="38100" marB="38100">
                    <a:noFill/>
                  </a:tcPr>
                </a:tc>
              </a:tr>
              <a:tr h="25400">
                <a:tc>
                  <a:txBody>
                    <a:bodyPr wrap="square"/>
                    <a:lstStyle/>
                    <a:p>
                      <a:r>
                        <a:rPr sz="1100" b="0">
                          <a:latin typeface="Calibri"/>
                        </a:rPr>
                        <a:t>Per-user sign-in for approvers</a:t>
                      </a:r>
                    </a:p>
                  </a:txBody>
                  <a:tcPr marL="63500" marR="63500" marT="38100" marB="38100">
                    <a:solidFill>
                      <a:srgbClr val="F4F6F9"/>
                    </a:solidFill>
                  </a:tcPr>
                </a:tc>
                <a:tc>
                  <a:txBody>
                    <a:bodyPr wrap="square"/>
                    <a:lstStyle/>
                    <a:p>
                      <a:r>
                        <a:rPr sz="1100" b="0">
                          <a:latin typeface="Calibri"/>
                        </a:rPr>
                        <a:t>Approvers are named, not authenticated — Custos has tenant keys, not user accounts</a:t>
                      </a:r>
                    </a:p>
                  </a:txBody>
                  <a:tcPr marL="63500" marR="63500" marT="38100" marB="38100">
                    <a:solidFill>
                      <a:srgbClr val="F4F6F9"/>
                    </a:solidFill>
                  </a:tcPr>
                </a:tc>
                <a:tc>
                  <a:txBody>
                    <a:bodyPr wrap="square"/>
                    <a:lstStyle/>
                    <a:p>
                      <a:r>
                        <a:rPr sz="1100" b="0">
                          <a:latin typeface="Calibri"/>
                        </a:rPr>
                        <a:t>—</a:t>
                      </a:r>
                    </a:p>
                  </a:txBody>
                  <a:tcPr marL="63500" marR="63500" marT="38100" marB="38100">
                    <a:solidFill>
                      <a:srgbClr val="F4F6F9"/>
                    </a:solidFill>
                  </a:tcPr>
                </a:tc>
              </a:tr>
              <a:tr h="25400">
                <a:tc>
                  <a:txBody>
                    <a:bodyPr wrap="square"/>
                    <a:lstStyle/>
                    <a:p>
                      <a:r>
                        <a:rPr sz="1100" b="0">
                          <a:latin typeface="Calibri"/>
                        </a:rPr>
                        <a:t>Final report and paper draft</a:t>
                      </a:r>
                    </a:p>
                  </a:txBody>
                  <a:tcPr marL="63500" marR="63500" marT="38100" marB="38100">
                    <a:noFill/>
                  </a:tcPr>
                </a:tc>
                <a:tc>
                  <a:txBody>
                    <a:bodyPr wrap="square"/>
                    <a:lstStyle/>
                    <a:p>
                      <a:r>
                        <a:rPr sz="1100" b="0">
                          <a:latin typeface="Calibri"/>
                        </a:rPr>
                        <a:t>Department submission</a:t>
                      </a:r>
                    </a:p>
                  </a:txBody>
                  <a:tcPr marL="63500" marR="63500" marT="38100" marB="38100">
                    <a:noFill/>
                  </a:tcPr>
                </a:tc>
                <a:tc>
                  <a:txBody>
                    <a:bodyPr wrap="square"/>
                    <a:lstStyle/>
                    <a:p>
                      <a:r>
                        <a:rPr sz="1100" b="0">
                          <a:latin typeface="Calibri"/>
                        </a:rPr>
                        <a:t>All of the above</a:t>
                      </a:r>
                    </a:p>
                  </a:txBody>
                  <a:tcPr marL="63500" marR="63500" marT="38100" marB="38100">
                    <a:no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1" i="0" dirty="0">
                <a:latin typeface="Calibri" panose="020F0502020204030204" pitchFamily="34" charset="0"/>
                <a:ea typeface="Calibri" panose="020F0502020204030204" pitchFamily="34" charset="0"/>
                <a:cs typeface="Calibri" panose="020F0502020204030204" pitchFamily="34" charset="0"/>
              </a:rPr>
              <a:t>397 tests passing · latency budget holds to 200 req/s, double Review-1 · overload no longer changes verdicts · all three trust signals live · governed self-healing built.</a:t>
            </a:r>
          </a:p>
          <a:p>
            <a:pPr marL="0" indent="0" algn="l">
              <a:spcBef>
                <a:spcPts val="20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And the hardest result: on 589,186 real loans, gating on drift did worse than random review. Pre-registered, reported as measured — and it now decides what we build next.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834640"/>
          <a:ext cx="10241279" cy="101600"/>
        </p:xfrm>
        <a:graphic>
          <a:graphicData uri="http://schemas.openxmlformats.org/drawingml/2006/table">
            <a:tbl>
              <a:tblPr firstRow="1">
                <a:tableStyleId>{5C22544A-7EE6-4342-B048-85BDC9FD1C3A}</a:tableStyleId>
              </a:tblPr>
              <a:tblGrid>
                <a:gridCol w="2048256"/>
                <a:gridCol w="1433779"/>
                <a:gridCol w="6759244"/>
              </a:tblGrid>
              <a:tr h="25400">
                <a:tc>
                  <a:txBody>
                    <a:bodyPr wrap="square"/>
                    <a:lstStyle/>
                    <a:p>
                      <a:r>
                        <a:rPr sz="1100" b="1">
                          <a:solidFill>
                            <a:srgbClr val="FFFFFF"/>
                          </a:solidFill>
                          <a:latin typeface="Calibri"/>
                        </a:rPr>
                        <a:t>Team member</a:t>
                      </a:r>
                    </a:p>
                  </a:txBody>
                  <a:tcPr marL="63500" marR="63500" marT="38100" marB="38100">
                    <a:solidFill>
                      <a:srgbClr val="1F5CA8"/>
                    </a:solidFill>
                  </a:tcPr>
                </a:tc>
                <a:tc>
                  <a:txBody>
                    <a:bodyPr wrap="square"/>
                    <a:lstStyle/>
                    <a:p>
                      <a:r>
                        <a:rPr sz="1100" b="1">
                          <a:solidFill>
                            <a:srgbClr val="FFFFFF"/>
                          </a:solidFill>
                          <a:latin typeface="Calibri"/>
                        </a:rPr>
                        <a:t>USN</a:t>
                      </a:r>
                    </a:p>
                  </a:txBody>
                  <a:tcPr marL="63500" marR="63500" marT="38100" marB="38100">
                    <a:solidFill>
                      <a:srgbClr val="1F5CA8"/>
                    </a:solidFill>
                  </a:tcPr>
                </a:tc>
                <a:tc>
                  <a:txBody>
                    <a:bodyPr wrap="square"/>
                    <a:lstStyle/>
                    <a:p>
                      <a:r>
                        <a:rPr sz="1100" b="1">
                          <a:solidFill>
                            <a:srgbClr val="FFFFFF"/>
                          </a:solidFill>
                          <a:latin typeface="Calibri"/>
                        </a:rPr>
                        <a:t>Modules owned</a:t>
                      </a:r>
                    </a:p>
                  </a:txBody>
                  <a:tcPr marL="63500" marR="63500" marT="38100" marB="38100">
                    <a:solidFill>
                      <a:srgbClr val="1F5CA8"/>
                    </a:solidFill>
                  </a:tcPr>
                </a:tc>
              </a:tr>
              <a:tr h="25400">
                <a:tc>
                  <a:txBody>
                    <a:bodyPr wrap="square"/>
                    <a:lstStyle/>
                    <a:p>
                      <a:r>
                        <a:rPr sz="1100" b="0">
                          <a:latin typeface="Calibri"/>
                        </a:rPr>
                        <a:t>AYUSH PANDEY</a:t>
                      </a:r>
                    </a:p>
                  </a:txBody>
                  <a:tcPr marL="63500" marR="63500" marT="38100" marB="38100">
                    <a:noFill/>
                  </a:tcPr>
                </a:tc>
                <a:tc>
                  <a:txBody>
                    <a:bodyPr wrap="square"/>
                    <a:lstStyle/>
                    <a:p>
                      <a:r>
                        <a:rPr sz="1100" b="0">
                          <a:latin typeface="Calibri"/>
                        </a:rPr>
                        <a:t>1BM23AD074</a:t>
                      </a:r>
                    </a:p>
                  </a:txBody>
                  <a:tcPr marL="63500" marR="63500" marT="38100" marB="38100">
                    <a:noFill/>
                  </a:tcPr>
                </a:tc>
                <a:tc>
                  <a:txBody>
                    <a:bodyPr wrap="square"/>
                    <a:lstStyle/>
                    <a:p>
                      <a:r>
                        <a:rPr sz="1100" b="0">
                          <a:latin typeface="Calibri"/>
                        </a:rPr>
                        <a:t>Architecture and ADRs · drift engine (PSI/KS detectors, severity roll-up, offline worker) · trust engine fusion and decision matrix</a:t>
                      </a:r>
                    </a:p>
                  </a:txBody>
                  <a:tcPr marL="63500" marR="63500" marT="38100" marB="38100">
                    <a:noFill/>
                  </a:tcPr>
                </a:tc>
              </a:tr>
              <a:tr h="25400">
                <a:tc>
                  <a:txBody>
                    <a:bodyPr wrap="square"/>
                    <a:lstStyle/>
                    <a:p>
                      <a:r>
                        <a:rPr sz="1100" b="0">
                          <a:latin typeface="Calibri"/>
                        </a:rPr>
                        <a:t>VIVEK BOORA</a:t>
                      </a:r>
                    </a:p>
                  </a:txBody>
                  <a:tcPr marL="63500" marR="63500" marT="38100" marB="38100">
                    <a:solidFill>
                      <a:srgbClr val="F4F6F9"/>
                    </a:solidFill>
                  </a:tcPr>
                </a:tc>
                <a:tc>
                  <a:txBody>
                    <a:bodyPr wrap="square"/>
                    <a:lstStyle/>
                    <a:p>
                      <a:r>
                        <a:rPr sz="1100" b="0">
                          <a:latin typeface="Calibri"/>
                        </a:rPr>
                        <a:t>1BM23AD073</a:t>
                      </a:r>
                    </a:p>
                  </a:txBody>
                  <a:tcPr marL="63500" marR="63500" marT="38100" marB="38100">
                    <a:solidFill>
                      <a:srgbClr val="F4F6F9"/>
                    </a:solidFill>
                  </a:tcPr>
                </a:tc>
                <a:tc>
                  <a:txBody>
                    <a:bodyPr wrap="square"/>
                    <a:lstStyle/>
                    <a:p>
                      <a:r>
                        <a:rPr sz="1100" b="0">
                          <a:latin typeface="Calibri"/>
                        </a:rPr>
                        <a:t>Gateway and control-plane APIs · policy engine and rule grammar · tamper-evident audit chain and evidence export</a:t>
                      </a:r>
                    </a:p>
                  </a:txBody>
                  <a:tcPr marL="63500" marR="63500" marT="38100" marB="38100">
                    <a:solidFill>
                      <a:srgbClr val="F4F6F9"/>
                    </a:solidFill>
                  </a:tcPr>
                </a:tc>
              </a:tr>
              <a:tr h="25400">
                <a:tc>
                  <a:txBody>
                    <a:bodyPr wrap="square"/>
                    <a:lstStyle/>
                    <a:p>
                      <a:r>
                        <a:rPr sz="1100" b="0">
                          <a:latin typeface="Calibri"/>
                        </a:rPr>
                        <a:t>NITIN</a:t>
                      </a:r>
                    </a:p>
                  </a:txBody>
                  <a:tcPr marL="63500" marR="63500" marT="38100" marB="38100">
                    <a:noFill/>
                  </a:tcPr>
                </a:tc>
                <a:tc>
                  <a:txBody>
                    <a:bodyPr wrap="square"/>
                    <a:lstStyle/>
                    <a:p>
                      <a:r>
                        <a:rPr sz="1100" b="0">
                          <a:latin typeface="Calibri"/>
                        </a:rPr>
                        <a:t>1BM24AD404</a:t>
                      </a:r>
                    </a:p>
                  </a:txBody>
                  <a:tcPr marL="63500" marR="63500" marT="38100" marB="38100">
                    <a:noFill/>
                  </a:tcPr>
                </a:tc>
                <a:tc>
                  <a:txBody>
                    <a:bodyPr wrap="square"/>
                    <a:lstStyle/>
                    <a:p>
                      <a:r>
                        <a:rPr sz="1100" b="0">
                          <a:latin typeface="Calibri"/>
                        </a:rPr>
                        <a:t>Python SDK · React operator dashboard · fintech demonstration · 397-test suite across unit, integration and end-to-end</a:t>
                      </a:r>
                    </a:p>
                  </a:txBody>
                  <a:tcPr marL="63500" marR="63500" marT="38100" marB="38100">
                    <a:noFill/>
                  </a:tcPr>
                </a:tc>
              </a:tr>
            </a:tbl>
          </a:graphicData>
        </a:graphic>
      </p:graphicFrame>
    </p:spTree>
    <p:extLst>
      <p:ext uri="{BB962C8B-B14F-4D97-AF65-F5344CB8AC3E}">
        <p14:creationId xmlns:p14="http://schemas.microsoft.com/office/powerpoint/2010/main" val="68599917"/>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194</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BMS College of Engineering (Autonomous College under VTU) Department of Artificial Intelligence and Data Science   Project Work Phase-II(23AI7PWPP1) Review-1 Presentation on   Project Title </vt:lpstr>
      <vt:lpstr>Table of Contents </vt:lpstr>
      <vt:lpstr>Abstract </vt:lpstr>
      <vt:lpstr>Introduction</vt:lpstr>
      <vt:lpstr>Literature Survey</vt:lpstr>
      <vt:lpstr>Requirement Analysis and Specification</vt:lpstr>
      <vt:lpstr>System Design</vt:lpstr>
      <vt:lpstr>Implementation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BMS College of Engineering  Department of Artificial Intelligence and Data Science    Project Title</dc:title>
  <dc:creator>Admin</dc:creator>
  <cp:lastModifiedBy>Admin</cp:lastModifiedBy>
  <cp:revision>12</cp:revision>
  <dcterms:created xsi:type="dcterms:W3CDTF">2025-03-11T07:28:48Z</dcterms:created>
  <dcterms:modified xsi:type="dcterms:W3CDTF">2026-09-03T11:48:10Z</dcterms:modified>
</cp:coreProperties>
</file>