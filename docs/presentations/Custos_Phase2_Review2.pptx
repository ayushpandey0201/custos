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media/image2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59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17"/>
    <p:sldId id="261" r:id="rId18"/>
    <p:sldId id="262" r:id="rId6"/>
    <p:sldId id="263" r:id="rId19"/>
    <p:sldId id="264" r:id="rId7"/>
    <p:sldId id="265" r:id="rId8"/>
    <p:sldId id="266" r:id="rId20"/>
    <p:sldId id="267" r:id="rId9"/>
    <p:sldId id="268" r:id="rId21"/>
    <p:sldId id="269" r:id="rId22"/>
    <p:sldId id="270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dmin" initials="A" lastIdx="1" clrIdx="0">
    <p:extLst>
      <p:ext uri="{19B8F6BF-5375-455C-9EA6-DF929625EA0E}">
        <p15:presenceInfo xmlns:p15="http://schemas.microsoft.com/office/powerpoint/2012/main" userId="Admin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7.xml"/><Relationship Id="rId7" Type="http://schemas.openxmlformats.org/officeDocument/2006/relationships/slide" Target="slides/slide9.xml"/><Relationship Id="rId8" Type="http://schemas.openxmlformats.org/officeDocument/2006/relationships/slide" Target="slides/slide10.xml"/><Relationship Id="rId9" Type="http://schemas.openxmlformats.org/officeDocument/2006/relationships/slide" Target="slides/slide12.xml"/><Relationship Id="rId10" Type="http://schemas.openxmlformats.org/officeDocument/2006/relationships/slide" Target="slides/slide15.xml"/><Relationship Id="rId11" Type="http://schemas.openxmlformats.org/officeDocument/2006/relationships/notesMaster" Target="notesMasters/notesMaster1.xml"/><Relationship Id="rId12" Type="http://schemas.openxmlformats.org/officeDocument/2006/relationships/commentAuthors" Target="commentAuthors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8.xml"/><Relationship Id="rId20" Type="http://schemas.openxmlformats.org/officeDocument/2006/relationships/slide" Target="slides/slide11.xml"/><Relationship Id="rId21" Type="http://schemas.openxmlformats.org/officeDocument/2006/relationships/slide" Target="slides/slide13.xml"/><Relationship Id="rId22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BE64CC-FAEA-419F-85AD-198B850C8D23}" type="datetimeFigureOut">
              <a:rPr lang="en-IN" smtClean="0"/>
              <a:t>03-09-2026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C8047E-ABDD-4AF6-BACE-9BE3DC3E46C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324219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848DC7-A1AF-454D-8F51-1EED3626D6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55B11F-023F-4919-AB4A-585D993C1A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51392C-B085-4A0C-835C-887FE05E4D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6B690A-2018-4C35-84C1-074B36A8631B}" type="datetime3">
              <a:rPr lang="en-US" smtClean="0"/>
              <a:t>3 September 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216E43-37A0-4A7C-8D2E-D56ED0504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D48056-AE10-4E2D-836A-8FE0A2148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50150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CCB72E-9EB0-4D5C-9212-928BA26806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C7BAEB-BDDE-4D24-8B52-E7DA57FB6D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263259-5941-4A24-9144-10E25DA07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D5C25-6344-4FCC-B0C5-B8E7C09A7920}" type="datetime3">
              <a:rPr lang="en-US" smtClean="0"/>
              <a:t>3 September 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462CA2-E8B4-4C80-8E31-44F6F336A4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FCB4F3-0B0C-45B4-8CD2-8CEA99260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799C9-84D9-46D2-A11E-BCF8A720529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68490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7C05A-F84C-46F4-AA53-E5BD71E6C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758BEB-486A-40BF-BFA4-AAC41F702A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E777AD-1E4A-49AD-B010-4B5F40947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63C459-52BE-4A7F-8B66-B0BDD5930200}" type="datetime3">
              <a:rPr lang="en-US" smtClean="0"/>
              <a:t>3 September 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639839-E3C8-4668-B4BB-8F9AA9CFDB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23822D-B98B-437B-820A-234A63679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28956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D45003-09BE-47AD-ABD9-CF3855D76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64CB74-49D3-41E8-95EE-82990C4440D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EFC566-6024-497C-BE11-8D0352BC35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C4B89F-D41B-462A-A991-2D4B63239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00D5F-C7D7-4DA9-8ED1-6A26ED488053}" type="datetime3">
              <a:rPr lang="en-US" smtClean="0"/>
              <a:t>3 September 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B69D38-E1C2-4933-BBFE-F57C39178E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D9292E-2746-4501-ADF7-C4F14A8DB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4065D-F351-4B03-BD91-D8A6B8D4B36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06180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20879-8E62-45BC-AF8C-25286B3B2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483ABB-CE83-403E-8621-103F660E8A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2C4F16-181B-418B-8C33-53BD349A33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54CB22-06EF-4C53-97AD-6005175A88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1EDC58C-36E6-4ED2-A747-8257F32B099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D59A9E8-C2BF-4670-8445-296C9B2889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619B0-41D6-4259-BDD5-5E4016DE45FE}" type="datetime3">
              <a:rPr lang="en-US" smtClean="0"/>
              <a:t>3 September 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029DB8-1E8B-4256-906C-E498D14E7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3F8EAA8-29C1-4CB8-9FB3-CA8AC6ADF6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57385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C2AEF7-FFC2-4F73-B673-20FA77FA56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2BD792-97FD-4783-B155-DCBBCEC69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B6B39-79AD-49CF-9581-BBED8573797D}" type="datetime3">
              <a:rPr lang="en-US" smtClean="0"/>
              <a:t>3 September 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0E01A47-5CA7-49DD-B220-7036801F4C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3A02EB-4172-4384-8A07-825746F55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57371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05F028B-BC35-4777-8DA5-349770F4D7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4D09DC-397F-4C90-BEF8-1B27AE70C1B8}" type="datetime3">
              <a:rPr lang="en-US" smtClean="0"/>
              <a:t>3 September 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781F0F5-4C14-4F89-807A-BAFA18E6D7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1ECB63-3832-410F-B52B-EA5059FB4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19201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F265A5-589F-436F-B963-51B674C2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5C5788-6A11-41D3-AFA3-9AEA251F63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DCE902-1E56-451A-B337-0A06E5A5F0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5E3FBC-6860-44C4-AA13-71D32C829D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CD71C-7E0D-4C06-BD4A-154CEF952E54}" type="datetime3">
              <a:rPr lang="en-US" smtClean="0"/>
              <a:t>3 September 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717787-1889-4CB9-A6B6-0B536CE46F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1C5F25-288D-4C05-A2D0-34DF85E3C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84739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DD07F-8DC5-4B8C-9A7F-3DCCA66B92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A75A51A-5EDE-4327-972A-56F8AD07C2A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C9361E-CE10-493C-AEDB-CA7DA6A2E7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BCDBE5-0868-41ED-B735-08360E9266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48FDE7-01DF-4ABF-99D1-733E01D15C4D}" type="datetime3">
              <a:rPr lang="en-US" smtClean="0"/>
              <a:t>3 September 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18971D-9DD4-4EF2-9CE0-1E2EA1EF7C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6E5A19-0667-4C50-872A-ADBEF04AF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39921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7A367-7B98-4B2A-AD6F-870DCECC2A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C2F63E8-4F90-40DC-B1B5-8723F4D226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44E234-4D4A-47CB-BF9E-3E0A5A2E10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C4DF75-2FED-488D-BFD6-8E71635C4D39}" type="datetime3">
              <a:rPr lang="en-US" smtClean="0"/>
              <a:t>3 September 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F46CE3-AF2A-4CBF-AA79-BFBF38FF4A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BFBBF8-FA99-4380-AC6E-975D048364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70131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C161571-5B71-44C5-B8A1-03F5C543A6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12296D-5675-43B3-A998-5E03CAB29D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87514F-7C52-405E-9731-6E25A1D84D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25C36C-502D-4ECE-A30C-9E599D171CDD}" type="datetime3">
              <a:rPr lang="en-US" smtClean="0"/>
              <a:t>3 September 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A16880-27F0-438E-8025-61DE8779EF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EC0B98-06B8-4EC1-9657-61C66E3F32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909565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FC45A6E-8825-46BC-99DE-D500EC37E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BCE6DD-1CF5-45D9-A60F-1126C62EE2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8227C5-F783-4179-A852-7DEB6E167D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C68655-725C-4355-803F-4C179E033006}" type="datetime3">
              <a:rPr lang="en-US" smtClean="0"/>
              <a:t>3 September 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C64982-03A8-46F2-A6BE-9F377DEF7A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Dept of AI &amp; DS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2755F6-3403-4B19-B155-5ED22F4EAD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08216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63" r:id="rId4"/>
    <p:sldLayoutId id="2147483764" r:id="rId5"/>
    <p:sldLayoutId id="2147483765" r:id="rId6"/>
    <p:sldLayoutId id="2147483766" r:id="rId7"/>
    <p:sldLayoutId id="2147483767" r:id="rId8"/>
    <p:sldLayoutId id="2147483768" r:id="rId9"/>
    <p:sldLayoutId id="2147483769" r:id="rId10"/>
    <p:sldLayoutId id="2147483770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198" y="0"/>
            <a:ext cx="8365069" cy="2658535"/>
          </a:xfrm>
        </p:spPr>
        <p:txBody>
          <a:bodyPr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28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BMS College of Engineering</a:t>
            </a:r>
          </a:p>
          <a:p>
            <a:pPr marL="0" indent="0" algn="ctr">
              <a:spcBef>
                <a:spcPts val="100"/>
              </a:spcBef>
              <a:buNone/>
            </a:pPr>
            <a:r>
              <a:rPr lang="en-US" sz="14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(Autonomous College under VTU)</a:t>
            </a:r>
          </a:p>
          <a:p>
            <a:pPr marL="0" indent="0" algn="ctr">
              <a:spcBef>
                <a:spcPts val="250"/>
              </a:spcBef>
              <a:buNone/>
            </a:pPr>
            <a:r>
              <a:rPr lang="en-US" sz="16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Department of Artificial Intelligence and Data Science</a:t>
            </a:r>
          </a:p>
          <a:p>
            <a:pPr marL="0" indent="0" algn="ctr">
              <a:spcBef>
                <a:spcPts val="350"/>
              </a:spcBef>
              <a:buNone/>
            </a:pPr>
            <a:r>
              <a:rPr lang="en-US" sz="14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Work Phase-II (23AI7PWPP1) — Review-2</a:t>
            </a:r>
          </a:p>
          <a:p>
            <a:pPr marL="0" indent="0" algn="ctr">
              <a:spcBef>
                <a:spcPts val="35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CUSTOS</a:t>
            </a:r>
          </a:p>
          <a:p>
            <a:pPr marL="0" indent="0" algn="ctr">
              <a:spcBef>
                <a:spcPts val="120"/>
              </a:spcBef>
              <a:buNone/>
            </a:pPr>
            <a:r>
              <a:rPr lang="en-US" sz="18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Runtime Drift Enforcement for Production ML Models</a:t>
            </a:r>
          </a:p>
          <a:p>
            <a:pPr marL="0" indent="0" algn="ctr">
              <a:spcBef>
                <a:spcPts val="120"/>
              </a:spcBef>
              <a:buNone/>
            </a:pPr>
            <a:r>
              <a:rPr lang="en-US" sz="1500" b="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Decide  ·  Explain  ·  Record  ·  Heal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3657597"/>
            <a:ext cx="8957733" cy="2531536"/>
          </a:xfrm>
        </p:spPr>
        <p:txBody>
          <a:bodyPr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300" b="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Presented by</a:t>
            </a:r>
          </a:p>
          <a:p>
            <a:pPr marL="0" indent="0" algn="ctr">
              <a:spcBef>
                <a:spcPts val="200"/>
              </a:spcBef>
              <a:buNone/>
            </a:pPr>
            <a:r>
              <a:rPr lang="en-US" sz="16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AYUSH PANDEY		1BM23AD074</a:t>
            </a:r>
          </a:p>
          <a:p>
            <a:pPr marL="0" indent="0" algn="ctr">
              <a:spcBef>
                <a:spcPts val="120"/>
              </a:spcBef>
              <a:buNone/>
            </a:pPr>
            <a:r>
              <a:rPr lang="en-US" sz="16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VIVEK BOORA		1BM23AD073</a:t>
            </a:r>
          </a:p>
          <a:p>
            <a:pPr marL="0" indent="0" algn="ctr">
              <a:spcBef>
                <a:spcPts val="120"/>
              </a:spcBef>
              <a:buNone/>
            </a:pPr>
            <a:r>
              <a:rPr lang="en-US" sz="16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NITIN		1BM24AD404</a:t>
            </a:r>
          </a:p>
          <a:p>
            <a:pPr marL="0" indent="0" algn="ctr">
              <a:spcBef>
                <a:spcPts val="400"/>
              </a:spcBef>
              <a:buNone/>
            </a:pPr>
            <a:r>
              <a:rPr lang="en-US" sz="1300" b="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Under the guidance of</a:t>
            </a:r>
          </a:p>
          <a:p>
            <a:pPr marL="0" indent="0" algn="ctr">
              <a:spcBef>
                <a:spcPts val="150"/>
              </a:spcBef>
              <a:buNone/>
            </a:pPr>
            <a:r>
              <a:rPr lang="en-US" sz="17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Dr. Seemanthini K G</a:t>
            </a:r>
          </a:p>
          <a:p>
            <a:pPr marL="0" indent="0" algn="ctr">
              <a:spcBef>
                <a:spcPts val="60"/>
              </a:spcBef>
              <a:buNone/>
            </a:pPr>
            <a:r>
              <a:rPr lang="en-US" sz="14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HOD, Dept. of AI &amp; DS, BMSCE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1240E3-26F4-4429-8843-A286E3DCB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4AD60-7A91-4584-9CFF-40792E6A86E8}" type="datetime3">
              <a:rPr lang="en-US" smtClean="0"/>
              <a:t>17 October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5B91F5-5ED3-4E5D-840C-40EC0896D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6A3399C-E55B-4351-BDB5-EC39B3EC36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70805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6943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Table of Contents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1574800"/>
            <a:ext cx="9694333" cy="4614333"/>
          </a:xfrm>
        </p:spPr>
        <p:txBody>
          <a:bodyPr>
            <a:normAutofit/>
          </a:bodyPr>
          <a:lstStyle/>
          <a:p>
            <a:pPr marL="285750" indent="-285750" algn="l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17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Abstract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7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Introduction — motivation, existing vs proposed, objectives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7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Literature survey and research gap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7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Requirement analysis and specification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7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System design — architecture and decision logic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7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Implementation and results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7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Governed self-healing and other domains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7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Conclusion and work plan  ·  then a live demo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9101FD2-598A-4BE2-AC54-854A97F64A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9FD98-5FDC-4CCE-BD5A-59D793565931}" type="datetime3">
              <a:rPr lang="en-US" smtClean="0"/>
              <a:t>17 October 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034A87-4A6E-4927-B895-60B8978B0D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0EDBAA-3DAF-4A0B-ADCD-B56430B133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69957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6943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Abstract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1574800"/>
            <a:ext cx="9694333" cy="4614333"/>
          </a:xfrm>
        </p:spPr>
        <p:txBody>
          <a:bodyPr>
            <a:normAutofit/>
          </a:bodyPr>
          <a:lstStyle/>
          <a:p>
            <a:pPr marL="285750" indent="-285750" algn="l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17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Models are validated once, then trusted forever — and fail quietly.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7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Custos checks every model-driven action before it runs: ALLOW, REVIEW or BLOCK.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7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 fuses policy rules, request risk and model drift — in under 50 ms.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7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Every verdict is explained, and hash-chained so it can't be quietly edited.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7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 repairs a broken data feed — only after a person approves.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7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Validated: 397 tests, load-tested, a pre-registered study on 589,186 real loans.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32362-C5A5-4DBF-AD79-DE6FB7439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96E34-94C0-49E4-A53B-4A44141FD3C8}" type="datetime3">
              <a:rPr lang="en-US" smtClean="0"/>
              <a:t>17 October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AAB64-5B51-4B5A-B69E-D96362CE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683C6DF-27D9-468B-A1AB-FE568488F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18824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6943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Introduction — Overview and Motivation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59467" y="1600200"/>
            <a:ext cx="9694333" cy="4614333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500" b="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Models don't crash. They go quietly wrong — Zillow wrote off $304M in one quarter.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32362-C5A5-4DBF-AD79-DE6FB7439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96E34-94C0-49E4-A53B-4A44141FD3C8}" type="datetime3">
              <a:rPr lang="en-US" smtClean="0"/>
              <a:t>17 October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AAB64-5B51-4B5A-B69E-D96362CE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683C6DF-27D9-468B-A1AB-FE568488F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pic>
        <p:nvPicPr>
          <p:cNvPr id="8" name="Picture 7" descr="problem_time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647" y="2240280"/>
            <a:ext cx="10058400" cy="251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50627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6943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Existing System vs Proposed System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1574800"/>
            <a:ext cx="9694333" cy="4614333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500" b="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Monitoring reports after the fact. Custos decides before the action.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32362-C5A5-4DBF-AD79-DE6FB7439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96E34-94C0-49E4-A53B-4A44141FD3C8}" type="datetime3">
              <a:rPr lang="en-US" smtClean="0"/>
              <a:t>17 October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AAB64-5B51-4B5A-B69E-D96362CE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683C6DF-27D9-468B-A1AB-FE568488F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pic>
        <p:nvPicPr>
          <p:cNvPr id="8" name="Picture 7" descr="on_pat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9527" y="2194560"/>
            <a:ext cx="9692640" cy="2887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18824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6943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Objectives, Scope and SDGs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1574800"/>
            <a:ext cx="9694333" cy="4614333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7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Objectives</a:t>
            </a:r>
          </a:p>
          <a:p>
            <a:pPr marL="285750" indent="-285750" algn="l"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15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Check drift on the live request path, within 50 ms</a:t>
            </a:r>
          </a:p>
          <a:p>
            <a:pPr marL="285750" indent="-285750" algn="l">
              <a:spcBef>
                <a:spcPts val="60"/>
              </a:spcBef>
              <a:buFont typeface="Arial" panose="020B0604020202020204" pitchFamily="34" charset="0"/>
              <a:buChar char="•"/>
            </a:pPr>
            <a:r>
              <a:rPr lang="en-US" sz="15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Name the inputs that moved</a:t>
            </a:r>
          </a:p>
          <a:p>
            <a:pPr marL="285750" indent="-285750" algn="l">
              <a:spcBef>
                <a:spcPts val="60"/>
              </a:spcBef>
              <a:buFont typeface="Arial" panose="020B0604020202020204" pitchFamily="34" charset="0"/>
              <a:buChar char="•"/>
            </a:pPr>
            <a:r>
              <a:rPr lang="en-US" sz="15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One explainable verdict from policy, risk and drift</a:t>
            </a:r>
          </a:p>
          <a:p>
            <a:pPr marL="285750" indent="-285750" algn="l">
              <a:spcBef>
                <a:spcPts val="60"/>
              </a:spcBef>
              <a:buFont typeface="Arial" panose="020B0604020202020204" pitchFamily="34" charset="0"/>
              <a:buChar char="•"/>
            </a:pPr>
            <a:r>
              <a:rPr lang="en-US" sz="15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tamper-evident record of every verdict</a:t>
            </a:r>
          </a:p>
          <a:p>
            <a:pPr marL="285750" indent="-285750" algn="l">
              <a:spcBef>
                <a:spcPts val="60"/>
              </a:spcBef>
              <a:buFont typeface="Arial" panose="020B0604020202020204" pitchFamily="34" charset="0"/>
              <a:buChar char="•"/>
            </a:pPr>
            <a:r>
              <a:rPr lang="en-US" sz="15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Correct under overload; repairs only with human approval</a:t>
            </a:r>
          </a:p>
          <a:p>
            <a:pPr marL="0" indent="0" algn="l">
              <a:spcBef>
                <a:spcPts val="240"/>
              </a:spcBef>
              <a:buNone/>
            </a:pPr>
            <a:r>
              <a:rPr lang="en-US" sz="17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Scope</a:t>
            </a:r>
          </a:p>
          <a:p>
            <a:pPr marL="285750" indent="-285750" algn="l"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15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Gates any model-driven action. Never trains or retrains models.</a:t>
            </a:r>
          </a:p>
          <a:p>
            <a:pPr marL="0" indent="0" algn="l">
              <a:spcBef>
                <a:spcPts val="240"/>
              </a:spcBef>
              <a:buNone/>
            </a:pPr>
            <a:r>
              <a:rPr lang="en-US" sz="17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SDGs</a:t>
            </a:r>
          </a:p>
          <a:p>
            <a:pPr marL="285750" indent="-285750" algn="l"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15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9 Industry &amp; innovation  ·  10 Fairer credit  ·  16 Accountable institutions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32362-C5A5-4DBF-AD79-DE6FB7439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96E34-94C0-49E4-A53B-4A44141FD3C8}" type="datetime3">
              <a:rPr lang="en-US" smtClean="0"/>
              <a:t>17 October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AAB64-5B51-4B5A-B69E-D96362CE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683C6DF-27D9-468B-A1AB-FE568488F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18824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6943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Literature Survey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1574800"/>
            <a:ext cx="9694333" cy="4614333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500" b="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Every paper detects or diagnoses. None acts on the decision in flight.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32362-C5A5-4DBF-AD79-DE6FB7439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96E34-94C0-49E4-A53B-4A44141FD3C8}" type="datetime3">
              <a:rPr lang="en-US" smtClean="0"/>
              <a:t>17 October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AAB64-5B51-4B5A-B69E-D96362CE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683C6DF-27D9-468B-A1AB-FE568488F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1F0831F2-8306-4C86-91C8-F8915A9B23B3}"/>
              </a:ext>
            </a:extLst>
          </p:cNvPr>
          <p:cNvGraphicFramePr>
            <a:graphicFrameLocks noGrp="1"/>
          </p:cNvGraphicFramePr>
          <p:nvPr/>
        </p:nvGraphicFramePr>
        <p:xfrm>
          <a:off x="960120" y="2240280"/>
          <a:ext cx="10241277" cy="239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57907">
                  <a:extLst>
                    <a:ext uri="{9D8B030D-6E8A-4147-A177-3AD203B41FA5}">
                      <a16:colId xmlns:a16="http://schemas.microsoft.com/office/drawing/2014/main" val="2288673594"/>
                    </a:ext>
                  </a:extLst>
                </a:gridCol>
                <a:gridCol w="1228953">
                  <a:extLst>
                    <a:ext uri="{9D8B030D-6E8A-4147-A177-3AD203B41FA5}">
                      <a16:colId xmlns:a16="http://schemas.microsoft.com/office/drawing/2014/main" val="333199711"/>
                    </a:ext>
                  </a:extLst>
                </a:gridCol>
                <a:gridCol w="614476">
                  <a:extLst>
                    <a:ext uri="{9D8B030D-6E8A-4147-A177-3AD203B41FA5}">
                      <a16:colId xmlns:a16="http://schemas.microsoft.com/office/drawing/2014/main" val="3714884348"/>
                    </a:ext>
                  </a:extLst>
                </a:gridCol>
                <a:gridCol w="2457907">
                  <a:extLst>
                    <a:ext uri="{9D8B030D-6E8A-4147-A177-3AD203B41FA5}">
                      <a16:colId xmlns:a16="http://schemas.microsoft.com/office/drawing/2014/main" val="72185476"/>
                    </a:ext>
                  </a:extLst>
                </a:gridCol>
                <a:gridCol w="1843430">
                  <a:extLst>
                    <a:ext uri="{9D8B030D-6E8A-4147-A177-3AD203B41FA5}">
                      <a16:colId xmlns:a16="http://schemas.microsoft.com/office/drawing/2014/main" val="872815148"/>
                    </a:ext>
                  </a:extLst>
                </a:gridCol>
                <a:gridCol w="1638604">
                  <a:extLst>
                    <a:ext uri="{9D8B030D-6E8A-4147-A177-3AD203B41FA5}">
                      <a16:colId xmlns:a16="http://schemas.microsoft.com/office/drawing/2014/main" val="26731858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z="1000" b="1"/>
                        <a:t>Paper Title 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000" b="1"/>
                        <a:t>Name of Journal / Conference 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000" b="1"/>
                        <a:t>Published Year 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000" b="1"/>
                        <a:t>Novelty / Techniques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000" b="1"/>
                        <a:t>Limitations 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000" b="1"/>
                        <a:t>Gap Identified 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7915848"/>
                  </a:ext>
                </a:extLst>
              </a:tr>
              <a:tr h="370840"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Hidden Technical Debt in Machine Learning Systems</a:t>
                      </a:r>
                      <a:endParaRPr lang="en-IN"/>
                    </a:p>
                    <a:p>
                      <a:r>
                        <a:rPr sz="850" i="1">
                          <a:latin typeface="Calibri"/>
                        </a:rPr>
                        <a:t>Sculley et al., Google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NeurIPS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2015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ML code is a small part of a real ML system; data dependencies and glue dominate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Diagnoses the problem; proposes no runtime mechanism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Names the infrastructure gap but does not close it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1672611"/>
                  </a:ext>
                </a:extLst>
              </a:tr>
              <a:tr h="370840"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A Survey on Concept Drift Adaptation</a:t>
                      </a:r>
                      <a:endParaRPr lang="en-IN" dirty="0"/>
                    </a:p>
                    <a:p>
                      <a:r>
                        <a:rPr sz="850" i="1">
                          <a:latin typeface="Calibri"/>
                        </a:rPr>
                        <a:t>Gama, Zliobaite, Bifet et al.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ACM Computing Surveys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2014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Canonical taxonomy of drift detectors and adaptation strategies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Offline / streaming learning; no enforcement step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Detection decoupled from any decision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528343"/>
                  </a:ext>
                </a:extLst>
              </a:tr>
              <a:tr h="370840"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Failing Loudly: Detecting Dataset Shift</a:t>
                      </a:r>
                      <a:endParaRPr lang="en-IN" dirty="0"/>
                    </a:p>
                    <a:p>
                      <a:r>
                        <a:rPr sz="850" i="1">
                          <a:latin typeface="Calibri"/>
                        </a:rPr>
                        <a:t>Rabanser, Günnemann, Lipton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NeurIPS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2019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Empirical comparison of shift detectors and two-sample tests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Offline batch study; no latency budget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Detectors never placed on a request path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1905800"/>
                  </a:ext>
                </a:extLst>
              </a:tr>
              <a:tr h="370840"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Challenges in Deploying Machine Learning: A Survey of Case Studies</a:t>
                      </a:r>
                      <a:endParaRPr lang="en-IN" dirty="0"/>
                    </a:p>
                    <a:p>
                      <a:r>
                        <a:rPr sz="850" i="1">
                          <a:latin typeface="Calibri"/>
                        </a:rPr>
                        <a:t>Paleyes, Urma, Lawrence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ACM Computing Surveys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2022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Maps real deployment failures to each stage of the workflow, incl. monitoring and trust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Catalogues the problems; proposes no mechanism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Monitoring named as a gap in practice, left open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925700"/>
                  </a:ext>
                </a:extLst>
              </a:tr>
              <a:tr h="370840"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Self-Healing Machine Learning</a:t>
                      </a:r>
                      <a:endParaRPr lang="en-IN" dirty="0"/>
                    </a:p>
                    <a:p>
                      <a:r>
                        <a:rPr sz="850" i="1">
                          <a:latin typeface="Calibri"/>
                        </a:rPr>
                        <a:t>Rauba, Seedat, Kacprzyk, van der Schaar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NeurIPS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2024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Monitor → diagnose → adapt → test loop; LLM proposes corrective actions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Repairs the model autonomously after degradation; no per-decision audit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Acts on the model, not on the decision in flight; no human checkpoint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925700"/>
                  </a:ext>
                </a:extLst>
              </a:tr>
              <a:tr h="370840"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Certificate Transparency</a:t>
                      </a:r>
                      <a:endParaRPr lang="en-IN" dirty="0"/>
                    </a:p>
                    <a:p>
                      <a:r>
                        <a:rPr sz="850" i="1">
                          <a:latin typeface="Calibri"/>
                        </a:rPr>
                        <a:t>Laurie, Langley, Kasper, Google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RFC 6962, IETF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2013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Append-only logs that make modification of history detectable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Built for TLS certificates, not model decisions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Tamper-evidence never applied to ML decision records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9257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36005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6943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Research Gap → Objectives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1574800"/>
            <a:ext cx="9694333" cy="4614333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500" b="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Each gap the survey found maps to one objective.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32362-C5A5-4DBF-AD79-DE6FB7439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96E34-94C0-49E4-A53B-4A44141FD3C8}" type="datetime3">
              <a:rPr lang="en-US" smtClean="0"/>
              <a:t>17 October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AAB64-5B51-4B5A-B69E-D96362CE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683C6DF-27D9-468B-A1AB-FE568488F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pic>
        <p:nvPicPr>
          <p:cNvPr id="8" name="Picture 7" descr="gap_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647" y="2240280"/>
            <a:ext cx="10058400" cy="2926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18824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9991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Requirement Analysis and Specification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1574800"/>
            <a:ext cx="9694333" cy="4614333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500" b="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What Custos must do — and the guarantees it must keep while doing it.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32362-C5A5-4DBF-AD79-DE6FB7439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96E34-94C0-49E4-A53B-4A44141FD3C8}" type="datetime3">
              <a:rPr lang="en-US" smtClean="0"/>
              <a:t>17 October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AAB64-5B51-4B5A-B69E-D96362CE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683C6DF-27D9-468B-A1AB-FE568488F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60120" y="2103120"/>
          <a:ext cx="10241280" cy="2032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120640"/>
                <a:gridCol w="5120640"/>
              </a:tblGrid>
              <a:tr h="254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Functional</a:t>
                      </a:r>
                    </a:p>
                  </a:txBody>
                  <a:tcPr marL="63500" marR="63500" marT="38100" marB="38100">
                    <a:solidFill>
                      <a:srgbClr val="1F5C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Non-functional</a:t>
                      </a:r>
                    </a:p>
                  </a:txBody>
                  <a:tcPr marL="63500" marR="63500" marT="38100" marB="38100">
                    <a:solidFill>
                      <a:srgbClr val="1F5CA8"/>
                    </a:solidFill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Register models and a reference baseline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p99 decision latency ≤ 50 ms</a:t>
                      </a:r>
                    </a:p>
                  </a:txBody>
                  <a:tcPr marL="63500" marR="63500" marT="38100" marB="38100">
                    <a:noFill/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Per-input drift: PSI and KS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A Custos failure never fails the caller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Policy rules that can veto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Overload is refused, never queued</a:t>
                      </a:r>
                    </a:p>
                  </a:txBody>
                  <a:tcPr marL="63500" marR="63500" marT="38100" marB="38100">
                    <a:noFill/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Per-request risk: unusual amount, bursts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Every query scoped by tenant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ALLOW / REVIEW / BLOCK, with reasons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Keys hashed; rules parsed, never eval'd</a:t>
                      </a:r>
                    </a:p>
                  </a:txBody>
                  <a:tcPr marL="63500" marR="63500" marT="38100" marB="38100">
                    <a:noFill/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Tamper-evident audit, with verification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A new signal is a new file, not a refactor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Self-healing, applied only on human approval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Python · FastAPI · PostgreSQL · Redis · React</a:t>
                      </a:r>
                    </a:p>
                  </a:txBody>
                  <a:tcPr marL="63500" marR="63500" marT="38100" marB="38100"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29405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6943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System Design — Architecture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1574800"/>
            <a:ext cx="9694333" cy="4614333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500" b="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hot path answers every request; slow work runs offline. Full design: “Inside Custos”.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32362-C5A5-4DBF-AD79-DE6FB7439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96E34-94C0-49E4-A53B-4A44141FD3C8}" type="datetime3">
              <a:rPr lang="en-US" smtClean="0"/>
              <a:t>17 October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AAB64-5B51-4B5A-B69E-D96362CE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683C6DF-27D9-468B-A1AB-FE568488F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pic>
        <p:nvPicPr>
          <p:cNvPr id="8" name="Picture 7" descr="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647" y="2240280"/>
            <a:ext cx="10058400" cy="3108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0044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6943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System Design — Decision Logic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1574800"/>
            <a:ext cx="9694333" cy="4614333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500" b="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Rules before score: a veto always wins; a drifted model never auto-approves.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32362-C5A5-4DBF-AD79-DE6FB7439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96E34-94C0-49E4-A53B-4A44141FD3C8}" type="datetime3">
              <a:rPr lang="en-US" smtClean="0"/>
              <a:t>17 October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AAB64-5B51-4B5A-B69E-D96362CE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683C6DF-27D9-468B-A1AB-FE568488F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pic>
        <p:nvPicPr>
          <p:cNvPr id="8" name="Picture 7" descr="decision_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647" y="2377440"/>
            <a:ext cx="10058400" cy="251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18824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6943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Implementation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1574800"/>
            <a:ext cx="9694333" cy="4614333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500" b="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397 tests  ·  p99 31 ms at 200 req/s  ·  0 verdicts changed by overload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32362-C5A5-4DBF-AD79-DE6FB7439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96E34-94C0-49E4-A53B-4A44141FD3C8}" type="datetime3">
              <a:rPr lang="en-US" smtClean="0"/>
              <a:t>17 October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AAB64-5B51-4B5A-B69E-D96362CE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683C6DF-27D9-468B-A1AB-FE568488F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60120" y="2103120"/>
          <a:ext cx="10241279" cy="254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457907"/>
                <a:gridCol w="5735116"/>
                <a:gridCol w="2048256"/>
              </a:tblGrid>
              <a:tr h="254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63500" marR="63500" marT="38100" marB="38100">
                    <a:solidFill>
                      <a:srgbClr val="1F5C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was built</a:t>
                      </a:r>
                    </a:p>
                  </a:txBody>
                  <a:tcPr marL="63500" marR="63500" marT="38100" marB="38100">
                    <a:solidFill>
                      <a:srgbClr val="1F5C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63500" marR="63500" marT="38100" marB="38100">
                    <a:solidFill>
                      <a:srgbClr val="1F5CA8"/>
                    </a:solidFill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Drift engine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PSI · KS · offline worker · cached hot-path read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Complete</a:t>
                      </a:r>
                    </a:p>
                  </a:txBody>
                  <a:tcPr marL="63500" marR="63500" marT="38100" marB="38100">
                    <a:noFill/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Policy engine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Rule grammar and parser · veto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Complete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Risk engine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Amount anomaly · per-customer velocity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Complete · new</a:t>
                      </a:r>
                    </a:p>
                  </a:txBody>
                  <a:tcPr marL="63500" marR="63500" marT="38100" marB="38100">
                    <a:noFill/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Gateway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Fan-out · fusion · 8-rule cascade · admission control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Complete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Audit chain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SHA-256 hash chain · verify · export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Complete</a:t>
                      </a:r>
                    </a:p>
                  </a:txBody>
                  <a:tcPr marL="63500" marR="63500" marT="38100" marB="38100">
                    <a:noFill/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Self-healing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Diagnose · shadow test · human approval · verify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Complete · new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SDK + dashboard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Python SDK · 3 live demos · console · page guides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Complete</a:t>
                      </a:r>
                    </a:p>
                  </a:txBody>
                  <a:tcPr marL="63500" marR="63500" marT="38100" marB="38100">
                    <a:noFill/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Field study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Pre-registered · 589,186 Lending Club loans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Complete · new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Versioning + retraining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Model / data versions · retrain request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Final review</a:t>
                      </a:r>
                    </a:p>
                  </a:txBody>
                  <a:tcPr marL="63500" marR="63500" marT="38100" marB="38100"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068002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6943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Results — Field Study on Real Loans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1574800"/>
            <a:ext cx="9694333" cy="4614333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500" b="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Pre-registered. Drift gating lost to random review — so the next gate ranks by risk.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32362-C5A5-4DBF-AD79-DE6FB7439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96E34-94C0-49E4-A53B-4A44141FD3C8}" type="datetime3">
              <a:rPr lang="en-US" smtClean="0"/>
              <a:t>17 October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AAB64-5B51-4B5A-B69E-D96362CE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683C6DF-27D9-468B-A1AB-FE568488F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pic>
        <p:nvPicPr>
          <p:cNvPr id="8" name="Picture 7" descr="gating_resul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647" y="2194560"/>
            <a:ext cx="10058400" cy="3017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18824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6943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Governed Self-Healing — and Beyond Lending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1574800"/>
            <a:ext cx="9694333" cy="4614333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500" b="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Same engine, any domain: AI agents · pricing · triage · hiring · claims.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32362-C5A5-4DBF-AD79-DE6FB7439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96E34-94C0-49E4-A53B-4A44141FD3C8}" type="datetime3">
              <a:rPr lang="en-US" smtClean="0"/>
              <a:t>17 October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AAB64-5B51-4B5A-B69E-D96362CE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683C6DF-27D9-468B-A1AB-FE568488F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pic>
        <p:nvPicPr>
          <p:cNvPr id="8" name="Picture 7" descr="self_healing_lo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647" y="2560320"/>
            <a:ext cx="10058400" cy="201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18824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6943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Conclusion and Work Plan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1574800"/>
            <a:ext cx="9694333" cy="4614333"/>
          </a:xfrm>
        </p:spPr>
        <p:txBody>
          <a:bodyPr>
            <a:normAutofit/>
          </a:bodyPr>
          <a:lstStyle/>
          <a:p>
            <a:pPr marL="285750" indent="-285750" algn="l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16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Custos gates any model-driven action — decides, explains, records, heals.</a:t>
            </a:r>
          </a:p>
          <a:p>
            <a:pPr marL="285750" indent="-285750" algn="l">
              <a:spcBef>
                <a:spcPts val="120"/>
              </a:spcBef>
              <a:buFont typeface="Arial" panose="020B0604020202020204" pitchFamily="34" charset="0"/>
              <a:buChar char="•"/>
            </a:pPr>
            <a:r>
              <a:rPr lang="en-US" sz="16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Next: risk-ranked review · a second dataset · scale-out on PostgreSQL.</a:t>
            </a:r>
          </a:p>
          <a:p>
            <a:pPr marL="285750" indent="-285750" algn="l">
              <a:spcBef>
                <a:spcPts val="120"/>
              </a:spcBef>
              <a:buFont typeface="Arial" panose="020B0604020202020204" pitchFamily="34" charset="0"/>
              <a:buChar char="•"/>
            </a:pPr>
            <a:r>
              <a:rPr lang="en-US" sz="16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Now: a live demo — three scenarios, two domains.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32362-C5A5-4DBF-AD79-DE6FB7439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96E34-94C0-49E4-A53B-4A44141FD3C8}" type="datetime3">
              <a:rPr lang="en-US" smtClean="0"/>
              <a:t>17 October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AAB64-5B51-4B5A-B69E-D96362CE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683C6DF-27D9-468B-A1AB-FE568488F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60120" y="3291840"/>
          <a:ext cx="10241279" cy="101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48256"/>
                <a:gridCol w="1638604"/>
                <a:gridCol w="6554419"/>
              </a:tblGrid>
              <a:tr h="254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Team member</a:t>
                      </a:r>
                    </a:p>
                  </a:txBody>
                  <a:tcPr marL="63500" marR="63500" marT="38100" marB="38100">
                    <a:solidFill>
                      <a:srgbClr val="1F5C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USN</a:t>
                      </a:r>
                    </a:p>
                  </a:txBody>
                  <a:tcPr marL="63500" marR="63500" marT="38100" marB="38100">
                    <a:solidFill>
                      <a:srgbClr val="1F5C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Modules owned (Review-1)</a:t>
                      </a:r>
                    </a:p>
                  </a:txBody>
                  <a:tcPr marL="63500" marR="63500" marT="38100" marB="38100">
                    <a:solidFill>
                      <a:srgbClr val="1F5CA8"/>
                    </a:solidFill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1300" b="0">
                          <a:latin typeface="Calibri"/>
                        </a:rPr>
                        <a:t>AYUSH PANDEY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latin typeface="Calibri"/>
                        </a:rPr>
                        <a:t>1BM23AD074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latin typeface="Calibri"/>
                        </a:rPr>
                        <a:t>Architecture · drift engine · trust fusion and decision logic</a:t>
                      </a:r>
                    </a:p>
                  </a:txBody>
                  <a:tcPr marL="63500" marR="63500" marT="38100" marB="38100">
                    <a:noFill/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1300" b="0">
                          <a:latin typeface="Calibri"/>
                        </a:rPr>
                        <a:t>VIVEK BOORA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latin typeface="Calibri"/>
                        </a:rPr>
                        <a:t>1BM23AD073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latin typeface="Calibri"/>
                        </a:rPr>
                        <a:t>Gateway and control plane · policy engine · audit chain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1300" b="0">
                          <a:latin typeface="Calibri"/>
                        </a:rPr>
                        <a:t>NITIN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latin typeface="Calibri"/>
                        </a:rPr>
                        <a:t>1BM24AD404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latin typeface="Calibri"/>
                        </a:rPr>
                        <a:t>Python SDK · operator dashboard · demo · test suite</a:t>
                      </a:r>
                    </a:p>
                  </a:txBody>
                  <a:tcPr marL="63500" marR="63500" marT="38100" marB="38100"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5999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73</TotalTime>
  <Words>194</Words>
  <Application>Microsoft Office PowerPoint</Application>
  <PresentationFormat>Widescreen</PresentationFormat>
  <Paragraphs>56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Calibri Light</vt:lpstr>
      <vt:lpstr>Times New Roman</vt:lpstr>
      <vt:lpstr>Office Theme</vt:lpstr>
      <vt:lpstr>BMS College of Engineering (Autonomous College under VTU) Department of Artificial Intelligence and Data Science   Project Work Phase-II(23AI7PWPP1) Review-1 Presentation on   Project Title </vt:lpstr>
      <vt:lpstr>Table of Contents </vt:lpstr>
      <vt:lpstr>Abstract </vt:lpstr>
      <vt:lpstr>Introduction</vt:lpstr>
      <vt:lpstr>Literature Survey</vt:lpstr>
      <vt:lpstr>Requirement Analysis and Specification</vt:lpstr>
      <vt:lpstr>System Design</vt:lpstr>
      <vt:lpstr>Implementation</vt:lpstr>
      <vt:lpstr>Conclusion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BMS College of Engineering  Department of Artificial Intelligence and Data Science    Project Title</dc:title>
  <dc:creator>Admin</dc:creator>
  <cp:lastModifiedBy>Admin</cp:lastModifiedBy>
  <cp:revision>12</cp:revision>
  <dcterms:created xsi:type="dcterms:W3CDTF">2025-03-11T07:28:48Z</dcterms:created>
  <dcterms:modified xsi:type="dcterms:W3CDTF">2026-09-03T11:48:10Z</dcterms:modified>
</cp:coreProperties>
</file>