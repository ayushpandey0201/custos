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Montserrat SemiBold"/>
      <p:regular r:id="rId29"/>
      <p:bold r:id="rId30"/>
      <p:italic r:id="rId31"/>
      <p:boldItalic r:id="rId32"/>
    </p:embeddedFont>
    <p:embeddedFont>
      <p:font typeface="Montserrat"/>
      <p:bold r:id="rId33"/>
      <p:boldItalic r:id="rId34"/>
    </p:embeddedFont>
    <p:embeddedFont>
      <p:font typeface="Montserrat Black"/>
      <p:bold r:id="rId35"/>
      <p:boldItalic r:id="rId36"/>
    </p:embeddedFont>
    <p:embeddedFont>
      <p:font typeface="Inter"/>
      <p:bold r:id="rId37"/>
      <p:boldItalic r:id="rId38"/>
    </p:embeddedFont>
    <p:embeddedFont>
      <p:font typeface="Montserrat Medium"/>
      <p:regular r:id="rId39"/>
      <p:bold r:id="rId40"/>
      <p:italic r:id="rId41"/>
      <p:boldItalic r:id="rId42"/>
    </p:embeddedFont>
    <p:embeddedFont>
      <p:font typeface="Inter ExtraBold"/>
      <p:bold r:id="rId43"/>
      <p:boldItalic r:id="rId44"/>
    </p:embeddedFont>
    <p:embeddedFont>
      <p:font typeface="Montserrat ExtraBold"/>
      <p:bold r:id="rId45"/>
      <p:boldItalic r:id="rId46"/>
    </p:embeddedFont>
    <p:embeddedFont>
      <p:font typeface="Inter Medium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153738A-5B41-497C-A225-D786135C6D59}">
  <a:tblStyle styleId="{5153738A-5B41-497C-A225-D786135C6D5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1FA"/>
          </a:solidFill>
        </a:fill>
      </a:tcStyle>
    </a:wholeTbl>
    <a:band1H>
      <a:tcTxStyle/>
      <a:tcStyle>
        <a:fill>
          <a:solidFill>
            <a:srgbClr val="CBE2F5"/>
          </a:solidFill>
        </a:fill>
      </a:tcStyle>
    </a:band1H>
    <a:band2H>
      <a:tcTxStyle/>
    </a:band2H>
    <a:band1V>
      <a:tcTxStyle/>
      <a:tcStyle>
        <a:fill>
          <a:solidFill>
            <a:srgbClr val="CBE2F5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Medium-bold.fntdata"/><Relationship Id="rId42" Type="http://schemas.openxmlformats.org/officeDocument/2006/relationships/font" Target="fonts/MontserratMedium-boldItalic.fntdata"/><Relationship Id="rId41" Type="http://schemas.openxmlformats.org/officeDocument/2006/relationships/font" Target="fonts/MontserratMedium-italic.fntdata"/><Relationship Id="rId44" Type="http://schemas.openxmlformats.org/officeDocument/2006/relationships/font" Target="fonts/InterExtraBold-boldItalic.fntdata"/><Relationship Id="rId43" Type="http://schemas.openxmlformats.org/officeDocument/2006/relationships/font" Target="fonts/InterExtraBold-bold.fntdata"/><Relationship Id="rId46" Type="http://schemas.openxmlformats.org/officeDocument/2006/relationships/font" Target="fonts/MontserratExtraBold-boldItalic.fntdata"/><Relationship Id="rId45" Type="http://schemas.openxmlformats.org/officeDocument/2006/relationships/font" Target="fonts/MontserratExtra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InterMedium-bold.fntdata"/><Relationship Id="rId47" Type="http://schemas.openxmlformats.org/officeDocument/2006/relationships/font" Target="fonts/InterMedium-regular.fntdata"/><Relationship Id="rId49" Type="http://schemas.openxmlformats.org/officeDocument/2006/relationships/font" Target="fonts/InterMedium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SemiBold-italic.fntdata"/><Relationship Id="rId30" Type="http://schemas.openxmlformats.org/officeDocument/2006/relationships/font" Target="fonts/MontserratSemiBold-bold.fntdata"/><Relationship Id="rId33" Type="http://schemas.openxmlformats.org/officeDocument/2006/relationships/font" Target="fonts/Montserrat-bold.fntdata"/><Relationship Id="rId32" Type="http://schemas.openxmlformats.org/officeDocument/2006/relationships/font" Target="fonts/MontserratSemiBold-boldItalic.fntdata"/><Relationship Id="rId35" Type="http://schemas.openxmlformats.org/officeDocument/2006/relationships/font" Target="fonts/MontserratBlack-bold.fntdata"/><Relationship Id="rId34" Type="http://schemas.openxmlformats.org/officeDocument/2006/relationships/font" Target="fonts/Montserrat-boldItalic.fntdata"/><Relationship Id="rId37" Type="http://schemas.openxmlformats.org/officeDocument/2006/relationships/font" Target="fonts/Inter-bold.fntdata"/><Relationship Id="rId36" Type="http://schemas.openxmlformats.org/officeDocument/2006/relationships/font" Target="fonts/MontserratBlack-boldItalic.fntdata"/><Relationship Id="rId39" Type="http://schemas.openxmlformats.org/officeDocument/2006/relationships/font" Target="fonts/MontserratMedium-regular.fntdata"/><Relationship Id="rId38" Type="http://schemas.openxmlformats.org/officeDocument/2006/relationships/font" Target="fonts/Inter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font" Target="fonts/MontserratSemiBold-regular.fntdata"/><Relationship Id="rId50" Type="http://schemas.openxmlformats.org/officeDocument/2006/relationships/font" Target="fonts/InterMedium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a1b74be80_3_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fa1b74be80_3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a1b74be80_3_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fa1b74be80_3_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a1b74be80_3_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fa1b74be80_3_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a1b74be80_3_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fa1b74be80_3_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a1b74be80_3_1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fa1b74be80_3_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a1b74be80_3_1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fa1b74be80_3_1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a1b74be80_3_1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fa1b74be80_3_1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a1b74be80_3_1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fa1b74be80_3_1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a1b74be80_3_1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fa1b74be80_3_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a1b74be80_3_1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fa1b74be80_3_1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a1b74be80_3_1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fa1b74be80_3_1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a1b74be80_3_1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fa1b74be80_3_1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a1b74be80_3_1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fa1b74be80_3_1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a1b74be80_3_2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fa1b74be80_3_2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fa1b74be80_3_2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fa1b74be80_3_2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b34dd9214_0_1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fb34dd9214_0_1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fb34dd9214_0_1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fb34dd9214_0_1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b34dd9214_0_2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fb34dd9214_0_2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b34dd9214_0_2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fb34dd9214_0_2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b34dd9214_0_3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fb34dd9214_0_3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fb34dd9214_0_3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fb34dd9214_0_3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fa1b74be80_3_2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fa1b74be80_3_2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50" y="190500"/>
            <a:ext cx="809700" cy="8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238250" y="190500"/>
            <a:ext cx="7620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0056B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BMS College of Engineering</a:t>
            </a:r>
            <a:endParaRPr b="0" sz="1800">
              <a:solidFill>
                <a:srgbClr val="0056B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ctr">
              <a:spcBef>
                <a:spcPts val="150"/>
              </a:spcBef>
              <a:spcAft>
                <a:spcPts val="0"/>
              </a:spcAft>
              <a:buNone/>
            </a:pPr>
            <a:r>
              <a:rPr b="0" lang="en-GB" sz="1100">
                <a:solidFill>
                  <a:srgbClr val="47556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(Autonomous College under VTU)</a:t>
            </a:r>
            <a:endParaRPr b="0" sz="1100">
              <a:solidFill>
                <a:srgbClr val="47556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15803D"/>
                </a:solidFill>
                <a:latin typeface="Montserrat"/>
                <a:ea typeface="Montserrat"/>
                <a:cs typeface="Montserrat"/>
                <a:sym typeface="Montserrat"/>
              </a:rPr>
              <a:t>Department of Artificial Intelligence and Data Science</a:t>
            </a:r>
            <a:endParaRPr b="1" sz="1300">
              <a:solidFill>
                <a:srgbClr val="15803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85750" y="1238250"/>
            <a:ext cx="8572500" cy="14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100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Project Work Phase-II (23AI7PWPP1) Review-1 Presentation on</a:t>
            </a:r>
            <a:endParaRPr b="0" sz="1100">
              <a:solidFill>
                <a:srgbClr val="64748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GB" sz="3200">
                <a:solidFill>
                  <a:srgbClr val="0F172A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CUSTOS</a:t>
            </a:r>
            <a:endParaRPr b="0" sz="3200">
              <a:solidFill>
                <a:srgbClr val="0F172A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rtl="0" algn="ctr">
              <a:spcBef>
                <a:spcPts val="15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284C7"/>
                </a:solidFill>
                <a:latin typeface="Montserrat"/>
                <a:ea typeface="Montserrat"/>
                <a:cs typeface="Montserrat"/>
                <a:sym typeface="Montserrat"/>
              </a:rPr>
              <a:t>Runtime Drift Enforcement for Production ML Models</a:t>
            </a:r>
            <a:endParaRPr b="1" sz="1600">
              <a:solidFill>
                <a:srgbClr val="0284C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88" name="Google Shape;88;p13"/>
          <p:cNvGrpSpPr/>
          <p:nvPr/>
        </p:nvGrpSpPr>
        <p:grpSpPr>
          <a:xfrm>
            <a:off x="952500" y="2905125"/>
            <a:ext cx="3429000" cy="1619100"/>
            <a:chOff x="952500" y="2905125"/>
            <a:chExt cx="3429000" cy="1619100"/>
          </a:xfrm>
        </p:grpSpPr>
        <p:sp>
          <p:nvSpPr>
            <p:cNvPr id="89" name="Google Shape;89;p13"/>
            <p:cNvSpPr/>
            <p:nvPr/>
          </p:nvSpPr>
          <p:spPr>
            <a:xfrm>
              <a:off x="952500" y="2905125"/>
              <a:ext cx="3429000" cy="1619100"/>
            </a:xfrm>
            <a:prstGeom prst="roundRect">
              <a:avLst>
                <a:gd fmla="val 7058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3"/>
            <p:cNvSpPr txBox="1"/>
            <p:nvPr/>
          </p:nvSpPr>
          <p:spPr>
            <a:xfrm>
              <a:off x="1143000" y="3048000"/>
              <a:ext cx="3048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Presented by</a:t>
              </a:r>
              <a:endParaRPr b="1"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AYUSH PANDEY</a:t>
              </a:r>
              <a:r>
                <a:rPr b="0" lang="en-GB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1BM23AD074</a:t>
              </a:r>
              <a:endParaRPr b="0" sz="110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VIVEK BOORA</a:t>
              </a:r>
              <a:r>
                <a:rPr b="0" lang="en-GB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1BM23AD073</a:t>
              </a:r>
              <a:endParaRPr b="0" sz="110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NITIN</a:t>
              </a:r>
              <a:r>
                <a:rPr b="0" lang="en-GB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1BM24AD404</a:t>
              </a:r>
              <a:endParaRPr b="0" sz="110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91" name="Google Shape;91;p13"/>
          <p:cNvGrpSpPr/>
          <p:nvPr/>
        </p:nvGrpSpPr>
        <p:grpSpPr>
          <a:xfrm>
            <a:off x="4762500" y="2905125"/>
            <a:ext cx="3429000" cy="1619100"/>
            <a:chOff x="4762500" y="2905125"/>
            <a:chExt cx="3429000" cy="1619100"/>
          </a:xfrm>
        </p:grpSpPr>
        <p:sp>
          <p:nvSpPr>
            <p:cNvPr id="92" name="Google Shape;92;p13"/>
            <p:cNvSpPr/>
            <p:nvPr/>
          </p:nvSpPr>
          <p:spPr>
            <a:xfrm>
              <a:off x="4762500" y="2905125"/>
              <a:ext cx="3429000" cy="1619100"/>
            </a:xfrm>
            <a:prstGeom prst="roundRect">
              <a:avLst>
                <a:gd fmla="val 7058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3"/>
            <p:cNvSpPr txBox="1"/>
            <p:nvPr/>
          </p:nvSpPr>
          <p:spPr>
            <a:xfrm>
              <a:off x="4953000" y="3048000"/>
              <a:ext cx="3048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Under the guidance of</a:t>
              </a:r>
              <a:endParaRPr b="1"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Dr. Shruthi K R</a:t>
              </a:r>
              <a:endParaRPr b="0" sz="1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Dept. of AI &amp; DS</a:t>
              </a:r>
              <a:endParaRPr b="0" sz="11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BMSCE</a:t>
              </a:r>
              <a:endParaRPr b="0" sz="11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94" name="Google Shape;94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6857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12 September 2026</a:t>
            </a:r>
            <a:endParaRPr b="0" i="0" sz="95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95" name="Google Shape;95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5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Dept of AI &amp; DS</a:t>
            </a:r>
            <a:endParaRPr b="0" i="0" sz="95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>
            <p:ph type="ctrTitle"/>
          </p:nvPr>
        </p:nvSpPr>
        <p:spPr>
          <a:xfrm>
            <a:off x="1263651" y="152399"/>
            <a:ext cx="7270749" cy="66040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GB" sz="3600"/>
              <a:t>Table of Contents 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b="1" sz="2400"/>
          </a:p>
        </p:txBody>
      </p:sp>
      <p:sp>
        <p:nvSpPr>
          <p:cNvPr id="101" name="Google Shape;101;p14"/>
          <p:cNvSpPr txBox="1"/>
          <p:nvPr>
            <p:ph idx="1" type="subTitle"/>
          </p:nvPr>
        </p:nvSpPr>
        <p:spPr>
          <a:xfrm>
            <a:off x="1263650" y="1181100"/>
            <a:ext cx="7270750" cy="3460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88900" lvl="0" marL="0" rtl="0" algn="l">
              <a:spcBef>
                <a:spcPts val="300"/>
              </a:spcBef>
              <a:spcAft>
                <a:spcPts val="0"/>
              </a:spcAft>
              <a:buSzPts val="1400"/>
              <a:buChar char="•"/>
            </a:pPr>
            <a:r>
              <a:rPr lang="en-GB" sz="1400"/>
              <a:t>The problem — and why existing tooling does not close it</a:t>
            </a:r>
            <a:endParaRPr sz="1400"/>
          </a:p>
          <a:p>
            <a:pPr indent="-88900" lvl="0" marL="0" rtl="0" algn="l">
              <a:spcBef>
                <a:spcPts val="300"/>
              </a:spcBef>
              <a:spcAft>
                <a:spcPts val="0"/>
              </a:spcAft>
              <a:buSzPts val="1400"/>
              <a:buChar char="•"/>
            </a:pPr>
            <a:r>
              <a:rPr lang="en-GB" sz="1400"/>
              <a:t>Literature survey and research gap</a:t>
            </a:r>
            <a:endParaRPr sz="1400"/>
          </a:p>
          <a:p>
            <a:pPr indent="-88900" lvl="0" marL="0" rtl="0" algn="l">
              <a:spcBef>
                <a:spcPts val="300"/>
              </a:spcBef>
              <a:spcAft>
                <a:spcPts val="0"/>
              </a:spcAft>
              <a:buSzPts val="1400"/>
              <a:buChar char="•"/>
            </a:pPr>
            <a:r>
              <a:rPr lang="en-GB" sz="1400"/>
              <a:t>Objectives, scope and requirements</a:t>
            </a:r>
            <a:endParaRPr sz="1400"/>
          </a:p>
          <a:p>
            <a:pPr indent="-88900" lvl="0" marL="0" rtl="0" algn="l">
              <a:spcBef>
                <a:spcPts val="300"/>
              </a:spcBef>
              <a:spcAft>
                <a:spcPts val="0"/>
              </a:spcAft>
              <a:buSzPts val="1400"/>
              <a:buChar char="•"/>
            </a:pPr>
            <a:r>
              <a:rPr lang="en-GB" sz="1400"/>
              <a:t>System design — architecture, request flow, drift pipeline, decision logic</a:t>
            </a:r>
            <a:endParaRPr sz="1400"/>
          </a:p>
          <a:p>
            <a:pPr indent="-88900" lvl="0" marL="0" rtl="0" algn="l">
              <a:spcBef>
                <a:spcPts val="300"/>
              </a:spcBef>
              <a:spcAft>
                <a:spcPts val="0"/>
              </a:spcAft>
              <a:buSzPts val="1400"/>
              <a:buChar char="•"/>
            </a:pPr>
            <a:r>
              <a:rPr lang="en-GB" sz="1400"/>
              <a:t>Implementation status</a:t>
            </a:r>
            <a:endParaRPr sz="1400"/>
          </a:p>
          <a:p>
            <a:pPr indent="-88900" lvl="0" marL="0" rtl="0" algn="l">
              <a:spcBef>
                <a:spcPts val="300"/>
              </a:spcBef>
              <a:spcAft>
                <a:spcPts val="0"/>
              </a:spcAft>
              <a:buSzPts val="1400"/>
              <a:buChar char="•"/>
            </a:pPr>
            <a:r>
              <a:rPr lang="en-GB" sz="1400"/>
              <a:t>Results — live demonstration and drift attribution</a:t>
            </a:r>
            <a:endParaRPr sz="1400"/>
          </a:p>
          <a:p>
            <a:pPr indent="-88900" lvl="0" marL="0" rtl="0" algn="l">
              <a:spcBef>
                <a:spcPts val="300"/>
              </a:spcBef>
              <a:spcAft>
                <a:spcPts val="0"/>
              </a:spcAft>
              <a:buSzPts val="1400"/>
              <a:buChar char="•"/>
            </a:pPr>
            <a:r>
              <a:rPr lang="en-GB" sz="1400"/>
              <a:t>Data and validation — how the detector is calibrated, and against what</a:t>
            </a:r>
            <a:endParaRPr sz="1400"/>
          </a:p>
          <a:p>
            <a:pPr indent="-88900" lvl="0" marL="0" rtl="0" algn="l">
              <a:spcBef>
                <a:spcPts val="300"/>
              </a:spcBef>
              <a:spcAft>
                <a:spcPts val="0"/>
              </a:spcAft>
              <a:buSzPts val="1400"/>
              <a:buChar char="•"/>
            </a:pPr>
            <a:r>
              <a:rPr lang="en-GB" sz="1400"/>
              <a:t>Engineering rigour — load testing, the defects it found, and the fixes</a:t>
            </a:r>
            <a:endParaRPr sz="1400"/>
          </a:p>
          <a:p>
            <a:pPr indent="-88900" lvl="0" marL="0" rtl="0" algn="l">
              <a:spcBef>
                <a:spcPts val="300"/>
              </a:spcBef>
              <a:spcAft>
                <a:spcPts val="0"/>
              </a:spcAft>
              <a:buSzPts val="1400"/>
              <a:buChar char="•"/>
            </a:pPr>
            <a:r>
              <a:rPr lang="en-GB" sz="1400"/>
              <a:t>Team contributions and conclusion</a:t>
            </a:r>
            <a:endParaRPr sz="1400"/>
          </a:p>
        </p:txBody>
      </p:sp>
      <p:pic>
        <p:nvPicPr>
          <p:cNvPr id="102" name="Google Shape;1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1" y="65086"/>
            <a:ext cx="869949" cy="8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 September 2026</a:t>
            </a:r>
            <a:endParaRPr/>
          </a:p>
        </p:txBody>
      </p:sp>
      <p:sp>
        <p:nvSpPr>
          <p:cNvPr id="104" name="Google Shape;104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5" name="Google Shape;105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Dept of AI &amp; DS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>
            <p:ph type="ctrTitle"/>
          </p:nvPr>
        </p:nvSpPr>
        <p:spPr>
          <a:xfrm>
            <a:off x="1263651" y="152399"/>
            <a:ext cx="7270749" cy="66040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GB" sz="2400"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/>
          </a:p>
        </p:txBody>
      </p:sp>
      <p:sp>
        <p:nvSpPr>
          <p:cNvPr id="111" name="Google Shape;111;p15"/>
          <p:cNvSpPr txBox="1"/>
          <p:nvPr>
            <p:ph idx="1" type="subTitle"/>
          </p:nvPr>
        </p:nvSpPr>
        <p:spPr>
          <a:xfrm>
            <a:off x="1263650" y="1181100"/>
            <a:ext cx="7270750" cy="3460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i="0" lang="en-GB" sz="1100">
                <a:latin typeface="Calibri"/>
                <a:ea typeface="Calibri"/>
                <a:cs typeface="Calibri"/>
                <a:sym typeface="Calibri"/>
              </a:rPr>
              <a:t>A model is validated once, deployed, and then trusted indefinitely. Drift is checked on a quarterly report — but decisions are made every second.</a:t>
            </a:r>
            <a:endParaRPr/>
          </a:p>
        </p:txBody>
      </p:sp>
      <p:pic>
        <p:nvPicPr>
          <p:cNvPr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1" y="65086"/>
            <a:ext cx="869949" cy="8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 September 2026</a:t>
            </a:r>
            <a:endParaRPr/>
          </a:p>
        </p:txBody>
      </p:sp>
      <p:sp>
        <p:nvSpPr>
          <p:cNvPr id="114" name="Google Shape;114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5" name="Google Shape;115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Dept of AI &amp; DS</a:t>
            </a:r>
            <a:endParaRPr/>
          </a:p>
        </p:txBody>
      </p:sp>
      <p:pic>
        <p:nvPicPr>
          <p:cNvPr descr="problem_timeline.png" id="116" name="Google Shape;1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754524"/>
            <a:ext cx="9143998" cy="2286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type="ctrTitle"/>
          </p:nvPr>
        </p:nvSpPr>
        <p:spPr>
          <a:xfrm>
            <a:off x="1263651" y="152399"/>
            <a:ext cx="7270749" cy="66040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GB" sz="2400">
                <a:latin typeface="Calibri"/>
                <a:ea typeface="Calibri"/>
                <a:cs typeface="Calibri"/>
                <a:sym typeface="Calibri"/>
              </a:rPr>
              <a:t>Why Existing Tooling Does Not Close It</a:t>
            </a:r>
            <a:endParaRPr/>
          </a:p>
        </p:txBody>
      </p:sp>
      <p:sp>
        <p:nvSpPr>
          <p:cNvPr id="122" name="Google Shape;122;p16"/>
          <p:cNvSpPr txBox="1"/>
          <p:nvPr>
            <p:ph idx="1" type="subTitle"/>
          </p:nvPr>
        </p:nvSpPr>
        <p:spPr>
          <a:xfrm>
            <a:off x="1244600" y="1200150"/>
            <a:ext cx="7270750" cy="3460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i="0" lang="en-GB" sz="1100">
                <a:latin typeface="Calibri"/>
                <a:ea typeface="Calibri"/>
                <a:cs typeface="Calibri"/>
                <a:sym typeface="Calibri"/>
              </a:rPr>
              <a:t>The tools exist. They sit beside the request path and report afterwards. None of them can stop the decision that is about to be made.</a:t>
            </a:r>
            <a:endParaRPr/>
          </a:p>
        </p:txBody>
      </p:sp>
      <p:pic>
        <p:nvPicPr>
          <p:cNvPr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1" y="65086"/>
            <a:ext cx="869949" cy="8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 September 2026</a:t>
            </a:r>
            <a:endParaRPr/>
          </a:p>
        </p:txBody>
      </p:sp>
      <p:sp>
        <p:nvSpPr>
          <p:cNvPr id="125" name="Google Shape;125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6" name="Google Shape;126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Dept of AI &amp; DS</a:t>
            </a:r>
            <a:endParaRPr/>
          </a:p>
        </p:txBody>
      </p:sp>
      <p:pic>
        <p:nvPicPr>
          <p:cNvPr descr="on_path.png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623875"/>
            <a:ext cx="9143998" cy="277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>
            <p:ph type="ctrTitle"/>
          </p:nvPr>
        </p:nvSpPr>
        <p:spPr>
          <a:xfrm>
            <a:off x="1263651" y="152399"/>
            <a:ext cx="7270749" cy="66040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GB" sz="2400">
                <a:latin typeface="Calibri"/>
                <a:ea typeface="Calibri"/>
                <a:cs typeface="Calibri"/>
                <a:sym typeface="Calibri"/>
              </a:rPr>
              <a:t>Literature Survey</a:t>
            </a:r>
            <a:endParaRPr/>
          </a:p>
        </p:txBody>
      </p:sp>
      <p:sp>
        <p:nvSpPr>
          <p:cNvPr id="133" name="Google Shape;133;p17"/>
          <p:cNvSpPr txBox="1"/>
          <p:nvPr>
            <p:ph idx="1" type="subTitle"/>
          </p:nvPr>
        </p:nvSpPr>
        <p:spPr>
          <a:xfrm>
            <a:off x="1263650" y="1181100"/>
            <a:ext cx="7270750" cy="3460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i="0" lang="en-GB" sz="1100">
                <a:latin typeface="Calibri"/>
                <a:ea typeface="Calibri"/>
                <a:cs typeface="Calibri"/>
                <a:sym typeface="Calibri"/>
              </a:rPr>
              <a:t>Six works across three areas: ML systems infrastructure, distribution-shift detection, and tamper-evident logging.</a:t>
            </a:r>
            <a:endParaRPr/>
          </a:p>
        </p:txBody>
      </p:sp>
      <p:pic>
        <p:nvPicPr>
          <p:cNvPr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1" y="65086"/>
            <a:ext cx="869949" cy="8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 September 2026</a:t>
            </a:r>
            <a:endParaRPr/>
          </a:p>
        </p:txBody>
      </p:sp>
      <p:sp>
        <p:nvSpPr>
          <p:cNvPr id="136" name="Google Shape;136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7" name="Google Shape;137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Dept of AI &amp; DS</a:t>
            </a:r>
            <a:endParaRPr/>
          </a:p>
        </p:txBody>
      </p:sp>
      <p:graphicFrame>
        <p:nvGraphicFramePr>
          <p:cNvPr id="138" name="Google Shape;138;p17"/>
          <p:cNvGraphicFramePr/>
          <p:nvPr/>
        </p:nvGraphicFramePr>
        <p:xfrm>
          <a:off x="720090" y="16802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{5153738A-5B41-497C-A225-D786135C6D59}</a:tableStyleId>
              </a:tblPr>
              <a:tblGrid>
                <a:gridCol w="1843425"/>
                <a:gridCol w="921700"/>
                <a:gridCol w="460850"/>
                <a:gridCol w="1843425"/>
                <a:gridCol w="1382550"/>
                <a:gridCol w="1228950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 u="none" cap="none" strike="noStrike"/>
                        <a:t>Paper Title 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Name of Journal / Conference 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Published Year 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Novelty / Techniques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Limitations 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Gap Identified </a:t>
                      </a:r>
                      <a:endParaRPr sz="1400"/>
                    </a:p>
                  </a:txBody>
                  <a:tcPr marT="34300" marB="34300" marR="68600" marL="68600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Hidden Technical Debt in Machine Learning Systems</a:t>
                      </a:r>
                      <a:endParaRPr sz="14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Sculley et al., Google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NeurIPS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2015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Shows ML systems accrue hidden debt: glue code, configuration and data dependencies dominate the codebase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Diagnoses the problem; proposes no runtime mechanism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Names the infrastructure gap but does not close it</a:t>
                      </a:r>
                      <a:endParaRPr sz="1400"/>
                    </a:p>
                  </a:txBody>
                  <a:tcPr marT="34300" marB="34300" marR="68600" marL="68600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Survey on Concept Drift Adaptation</a:t>
                      </a:r>
                      <a:endParaRPr sz="14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Gama, Zliobaite, Bifet et al.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ACM Computing Surveys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2014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Canonical taxonomy of drift; detectors, adaptive windowing, ensemble adaptation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Framed as offline / streaming learning; no enforcement step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Detection is fully decoupled from any decision</a:t>
                      </a:r>
                      <a:endParaRPr sz="1400"/>
                    </a:p>
                  </a:txBody>
                  <a:tcPr marT="34300" marB="34300" marR="68600" marL="68600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Learning under Concept Drift: A Review</a:t>
                      </a:r>
                      <a:endParaRPr sz="14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Lu, Liu, Dong, Gu, Gama, Zhang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IEEE TKDE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2019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Consolidates drift detection, understanding and adaptation into one framework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Assumes labels arrive; evaluated in batch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Unlabelled live traffic is not addressed</a:t>
                      </a:r>
                      <a:endParaRPr sz="1400"/>
                    </a:p>
                  </a:txBody>
                  <a:tcPr marT="34300" marB="34300" marR="68600" marL="68600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Failing Loudly: Detecting Dataset Shift</a:t>
                      </a:r>
                      <a:endParaRPr sz="14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Rabanser, Gunnemann, Lipton (CMU)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NeurIPS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2019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Empirical comparison of shift detectors; dimensionality reduction plus two-sample tests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Offline batch study; no latency budget considered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Detectors are never placed on a request path</a:t>
                      </a:r>
                      <a:endParaRPr sz="1400"/>
                    </a:p>
                  </a:txBody>
                  <a:tcPr marT="34300" marB="34300" marR="68600" marL="68600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Validation for Machine Learning</a:t>
                      </a:r>
                      <a:endParaRPr sz="14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Breck, Polyzotis et al., Google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MLSys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2019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Schema-driven validation of training and serving data in production TFX pipelines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Validates schema conformance, not distributional trust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Pipeline-time only; no per-request verdict</a:t>
                      </a:r>
                      <a:endParaRPr sz="1400"/>
                    </a:p>
                  </a:txBody>
                  <a:tcPr marT="34300" marB="34300" marR="68600" marL="68600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Certificate Transparency</a:t>
                      </a:r>
                      <a:endParaRPr sz="14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Laurie, Langley, Kasper, Google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RFC 6962, IETF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2013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Append-only Merkle-tree logs making modification of history detectable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Designed for TLS certificates, not model decisions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Tamper-evidence never applied to ML decision records</a:t>
                      </a:r>
                      <a:endParaRPr sz="1400"/>
                    </a:p>
                  </a:txBody>
                  <a:tcPr marT="34300" marB="34300" marR="68600" marL="6860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/>
          <p:nvPr>
            <p:ph type="ctrTitle"/>
          </p:nvPr>
        </p:nvSpPr>
        <p:spPr>
          <a:xfrm>
            <a:off x="1263651" y="152399"/>
            <a:ext cx="7270749" cy="66040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GB" sz="2400">
                <a:latin typeface="Calibri"/>
                <a:ea typeface="Calibri"/>
                <a:cs typeface="Calibri"/>
                <a:sym typeface="Calibri"/>
              </a:rPr>
              <a:t>Research Gap and Objectives</a:t>
            </a:r>
            <a:endParaRPr/>
          </a:p>
        </p:txBody>
      </p:sp>
      <p:sp>
        <p:nvSpPr>
          <p:cNvPr id="144" name="Google Shape;144;p18"/>
          <p:cNvSpPr txBox="1"/>
          <p:nvPr>
            <p:ph idx="1" type="subTitle"/>
          </p:nvPr>
        </p:nvSpPr>
        <p:spPr>
          <a:xfrm>
            <a:off x="1263650" y="1181100"/>
            <a:ext cx="7270750" cy="3460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i="0" lang="en-GB" sz="1100">
                <a:latin typeface="Calibri"/>
                <a:ea typeface="Calibri"/>
                <a:cs typeface="Calibri"/>
                <a:sym typeface="Calibri"/>
              </a:rPr>
              <a:t>Every gap the survey identified maps to an objective, and every objective is implemented and demonstrated.</a:t>
            </a:r>
            <a:endParaRPr/>
          </a:p>
        </p:txBody>
      </p:sp>
      <p:pic>
        <p:nvPicPr>
          <p:cNvPr id="145" name="Google Shape;14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1" y="65086"/>
            <a:ext cx="869949" cy="8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 September 2026</a:t>
            </a:r>
            <a:endParaRPr/>
          </a:p>
        </p:txBody>
      </p:sp>
      <p:sp>
        <p:nvSpPr>
          <p:cNvPr id="147" name="Google Shape;147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8" name="Google Shape;148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Dept of AI &amp; DS</a:t>
            </a:r>
            <a:endParaRPr/>
          </a:p>
        </p:txBody>
      </p:sp>
      <p:pic>
        <p:nvPicPr>
          <p:cNvPr descr="gap_map.png" id="149" name="Google Shape;14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721804"/>
            <a:ext cx="9143998" cy="2660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type="ctrTitle"/>
          </p:nvPr>
        </p:nvSpPr>
        <p:spPr>
          <a:xfrm>
            <a:off x="1263651" y="152399"/>
            <a:ext cx="7270749" cy="66040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GB" sz="2400">
                <a:latin typeface="Calibri"/>
                <a:ea typeface="Calibri"/>
                <a:cs typeface="Calibri"/>
                <a:sym typeface="Calibri"/>
              </a:rPr>
              <a:t>Scope and SDG Alignment</a:t>
            </a:r>
            <a:endParaRPr/>
          </a:p>
        </p:txBody>
      </p:sp>
      <p:sp>
        <p:nvSpPr>
          <p:cNvPr id="155" name="Google Shape;155;p19"/>
          <p:cNvSpPr txBox="1"/>
          <p:nvPr>
            <p:ph idx="1" type="subTitle"/>
          </p:nvPr>
        </p:nvSpPr>
        <p:spPr>
          <a:xfrm>
            <a:off x="1263650" y="1181100"/>
            <a:ext cx="7270750" cy="3460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b="1" i="0" lang="en-GB" sz="1300">
                <a:latin typeface="Calibri"/>
                <a:ea typeface="Calibri"/>
                <a:cs typeface="Calibri"/>
                <a:sym typeface="Calibri"/>
              </a:rPr>
              <a:t>In scope</a:t>
            </a:r>
            <a:endParaRPr/>
          </a:p>
          <a:p>
            <a:pPr indent="-209550" lvl="0" marL="2159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0" i="0" lang="en-GB" sz="1100">
                <a:latin typeface="Calibri"/>
                <a:ea typeface="Calibri"/>
                <a:cs typeface="Calibri"/>
                <a:sym typeface="Calibri"/>
              </a:rPr>
              <a:t>Drift detection with per-feature attribution, policy evaluation, signal fusion, runtime enforcement, tamper-evident audit, multi-tenant configuration.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b="1" i="0" lang="en-GB" sz="1300">
                <a:latin typeface="Calibri"/>
                <a:ea typeface="Calibri"/>
                <a:cs typeface="Calibri"/>
                <a:sym typeface="Calibri"/>
              </a:rPr>
              <a:t>Out of scope</a:t>
            </a:r>
            <a:endParaRPr/>
          </a:p>
          <a:p>
            <a:pPr indent="-209550" lvl="0" marL="2159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0" i="0" lang="en-GB" sz="1100">
                <a:latin typeface="Calibri"/>
                <a:ea typeface="Calibri"/>
                <a:cs typeface="Calibri"/>
                <a:sym typeface="Calibri"/>
              </a:rPr>
              <a:t>Custos does not train, serve or host models. It does not explain individual predictions, and it does not retrain or roll back. It decides and records — humans act.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b="1" i="0" lang="en-GB" sz="1300">
                <a:latin typeface="Calibri"/>
                <a:ea typeface="Calibri"/>
                <a:cs typeface="Calibri"/>
                <a:sym typeface="Calibri"/>
              </a:rPr>
              <a:t>SDG alignment</a:t>
            </a:r>
            <a:endParaRPr/>
          </a:p>
          <a:p>
            <a:pPr indent="-209550" lvl="0" marL="2159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1" i="0" lang="en-GB" sz="1100">
                <a:latin typeface="Calibri"/>
                <a:ea typeface="Calibri"/>
                <a:cs typeface="Calibri"/>
                <a:sym typeface="Calibri"/>
              </a:rPr>
              <a:t>SDG 9  </a:t>
            </a:r>
            <a:r>
              <a:rPr b="0" i="0" lang="en-GB" sz="1100">
                <a:latin typeface="Calibri"/>
                <a:ea typeface="Calibri"/>
                <a:cs typeface="Calibri"/>
                <a:sym typeface="Calibri"/>
              </a:rPr>
              <a:t>Industry, Innovation and Infrastructure — auditable infrastructure for automated decisions.</a:t>
            </a:r>
            <a:endParaRPr/>
          </a:p>
          <a:p>
            <a:pPr indent="-209550" lvl="0" marL="2159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1" i="0" lang="en-GB" sz="1100">
                <a:latin typeface="Calibri"/>
                <a:ea typeface="Calibri"/>
                <a:cs typeface="Calibri"/>
                <a:sym typeface="Calibri"/>
              </a:rPr>
              <a:t>SDG 10  </a:t>
            </a:r>
            <a:r>
              <a:rPr b="0" i="0" lang="en-GB" sz="1100">
                <a:latin typeface="Calibri"/>
                <a:ea typeface="Calibri"/>
                <a:cs typeface="Calibri"/>
                <a:sym typeface="Calibri"/>
              </a:rPr>
              <a:t>Reduced Inequalities — blocking a drifted model limits systematically unfair credit decisions.</a:t>
            </a:r>
            <a:endParaRPr/>
          </a:p>
          <a:p>
            <a:pPr indent="-209550" lvl="0" marL="2159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1" i="0" lang="en-GB" sz="1100">
                <a:latin typeface="Calibri"/>
                <a:ea typeface="Calibri"/>
                <a:cs typeface="Calibri"/>
                <a:sym typeface="Calibri"/>
              </a:rPr>
              <a:t>SDG 16  </a:t>
            </a:r>
            <a:r>
              <a:rPr b="0" i="0" lang="en-GB" sz="1100">
                <a:latin typeface="Calibri"/>
                <a:ea typeface="Calibri"/>
                <a:cs typeface="Calibri"/>
                <a:sym typeface="Calibri"/>
              </a:rPr>
              <a:t>Peace, Justice and Strong Institutions — verifiable records support regulatory audit.</a:t>
            </a:r>
            <a:endParaRPr/>
          </a:p>
        </p:txBody>
      </p:sp>
      <p:pic>
        <p:nvPicPr>
          <p:cNvPr id="156" name="Google Shape;15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1" y="65086"/>
            <a:ext cx="869949" cy="8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 September 2026</a:t>
            </a:r>
            <a:endParaRPr/>
          </a:p>
        </p:txBody>
      </p:sp>
      <p:sp>
        <p:nvSpPr>
          <p:cNvPr id="158" name="Google Shape;158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9" name="Google Shape;159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Dept of AI &amp; DS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 txBox="1"/>
          <p:nvPr>
            <p:ph type="ctrTitle"/>
          </p:nvPr>
        </p:nvSpPr>
        <p:spPr>
          <a:xfrm>
            <a:off x="1263651" y="152399"/>
            <a:ext cx="7499349" cy="66040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GB" sz="2400">
                <a:latin typeface="Calibri"/>
                <a:ea typeface="Calibri"/>
                <a:cs typeface="Calibri"/>
                <a:sym typeface="Calibri"/>
              </a:rPr>
              <a:t>Requirements</a:t>
            </a:r>
            <a:endParaRPr/>
          </a:p>
        </p:txBody>
      </p:sp>
      <p:sp>
        <p:nvSpPr>
          <p:cNvPr id="165" name="Google Shape;165;p20"/>
          <p:cNvSpPr txBox="1"/>
          <p:nvPr>
            <p:ph idx="1" type="subTitle"/>
          </p:nvPr>
        </p:nvSpPr>
        <p:spPr>
          <a:xfrm>
            <a:off x="1263650" y="1181100"/>
            <a:ext cx="7270750" cy="3460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i="0" lang="en-GB" sz="1100">
                <a:latin typeface="Calibri"/>
                <a:ea typeface="Calibri"/>
                <a:cs typeface="Calibri"/>
                <a:sym typeface="Calibri"/>
              </a:rPr>
              <a:t>Ten functional requirements and six non-functional ones. The latency and fail-open constraints drove most of the architecture.</a:t>
            </a:r>
            <a:endParaRPr/>
          </a:p>
        </p:txBody>
      </p:sp>
      <p:pic>
        <p:nvPicPr>
          <p:cNvPr id="166" name="Google Shape;16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1" y="65086"/>
            <a:ext cx="869949" cy="8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 September 2026</a:t>
            </a:r>
            <a:endParaRPr/>
          </a:p>
        </p:txBody>
      </p:sp>
      <p:sp>
        <p:nvSpPr>
          <p:cNvPr id="168" name="Google Shape;16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9" name="Google Shape;169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Dept of AI &amp; DS</a:t>
            </a:r>
            <a:endParaRPr/>
          </a:p>
        </p:txBody>
      </p:sp>
      <p:graphicFrame>
        <p:nvGraphicFramePr>
          <p:cNvPr id="170" name="Google Shape;170;p20"/>
          <p:cNvGraphicFramePr/>
          <p:nvPr/>
        </p:nvGraphicFramePr>
        <p:xfrm>
          <a:off x="720090" y="185166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{5153738A-5B41-497C-A225-D786135C6D59}</a:tableStyleId>
              </a:tblPr>
              <a:tblGrid>
                <a:gridCol w="384050"/>
                <a:gridCol w="3225975"/>
                <a:gridCol w="537675"/>
                <a:gridCol w="3533250"/>
              </a:tblGrid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47625" marL="47625">
                    <a:solidFill>
                      <a:srgbClr val="1F5C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Functional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1F5C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47625" marL="47625">
                    <a:solidFill>
                      <a:srgbClr val="1F5C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Non-functional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1F5CA8"/>
                    </a:solidFill>
                  </a:tcPr>
                </a:tc>
              </a:tr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FR1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Register models and capture a reference distribution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NFR1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Gateway p99 &lt;= 50 ms; 20 ms per-engine cap</a:t>
                      </a:r>
                      <a:endParaRPr sz="1100"/>
                    </a:p>
                  </a:txBody>
                  <a:tcPr marT="28575" marB="28575" marR="47625" marL="47625"/>
                </a:tc>
              </a:tr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FR2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Compute PSI and KS per feature, offline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NFR2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Custos failure must not fail the caller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</a:tr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FR3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Roll per-feature statistics into one severity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NFR3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tenant_id on every table and every query</a:t>
                      </a:r>
                      <a:endParaRPr sz="1100"/>
                    </a:p>
                  </a:txBody>
                  <a:tcPr marT="28575" marB="28575" marR="47625" marL="47625"/>
                </a:tc>
              </a:tr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FR4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Evaluate tenant policy rules against request context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NFR4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Keys stored as SHA-256; rule text parsed, never eval'd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</a:tr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FR5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Fuse signals into a weighted trust score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NFR5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new signal must not modify existing code</a:t>
                      </a:r>
                      <a:endParaRPr sz="1100"/>
                    </a:p>
                  </a:txBody>
                  <a:tcPr marT="28575" marB="28575" marR="47625" marL="47625"/>
                </a:tc>
              </a:tr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FR6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 ALLOW / REVIEW / BLOCK with reasons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NFR6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Gateway and worker horizontally scalable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</a:tr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FR7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Honour an engine veto over all other signals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Python 3.11, FastAPI, SQLAlchemy 2, Celery</a:t>
                      </a:r>
                      <a:endParaRPr sz="1100"/>
                    </a:p>
                  </a:txBody>
                  <a:tcPr marT="28575" marB="28575" marR="47625" marL="47625"/>
                </a:tc>
              </a:tr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FR8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Append every decision to a tamper-evident chain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React 18 + TypeScript 5, Vite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</a:tr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FR9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Verify a chain and report the first modified entry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PostgreSQL 16 + Redis 7; SQLite on a single node</a:t>
                      </a:r>
                      <a:endParaRPr sz="1100"/>
                    </a:p>
                  </a:txBody>
                  <a:tcPr marT="28575" marB="28575" marR="47625" marL="47625"/>
                </a:tc>
              </a:tr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FR10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Route unregistered models to REVIEW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Docker Compose; runs on a laptop, no services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"/>
          <p:cNvSpPr txBox="1"/>
          <p:nvPr>
            <p:ph type="ctrTitle"/>
          </p:nvPr>
        </p:nvSpPr>
        <p:spPr>
          <a:xfrm>
            <a:off x="1263651" y="152399"/>
            <a:ext cx="7270749" cy="66040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GB" sz="2400"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/>
          </a:p>
        </p:txBody>
      </p:sp>
      <p:sp>
        <p:nvSpPr>
          <p:cNvPr id="176" name="Google Shape;176;p21"/>
          <p:cNvSpPr txBox="1"/>
          <p:nvPr>
            <p:ph idx="1" type="subTitle"/>
          </p:nvPr>
        </p:nvSpPr>
        <p:spPr>
          <a:xfrm>
            <a:off x="1263650" y="1181100"/>
            <a:ext cx="7270750" cy="3460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i="0" lang="en-GB" sz="1100">
                <a:latin typeface="Calibri"/>
                <a:ea typeface="Calibri"/>
                <a:cs typeface="Calibri"/>
                <a:sym typeface="Calibri"/>
              </a:rPr>
              <a:t>Two planes. The data plane does the minimum possible work per request; everything expensive lives on the control plane or in the offline worker.</a:t>
            </a:r>
            <a:endParaRPr/>
          </a:p>
        </p:txBody>
      </p:sp>
      <p:pic>
        <p:nvPicPr>
          <p:cNvPr id="177" name="Google Shape;17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1" y="65086"/>
            <a:ext cx="869949" cy="8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 September 2026</a:t>
            </a:r>
            <a:endParaRPr/>
          </a:p>
        </p:txBody>
      </p:sp>
      <p:sp>
        <p:nvSpPr>
          <p:cNvPr id="179" name="Google Shape;179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0" name="Google Shape;180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Dept of AI &amp; DS</a:t>
            </a:r>
            <a:endParaRPr/>
          </a:p>
        </p:txBody>
      </p:sp>
      <p:pic>
        <p:nvPicPr>
          <p:cNvPr descr="architecture.png" id="181" name="Google Shape;18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775824"/>
            <a:ext cx="9070597" cy="280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 txBox="1"/>
          <p:nvPr>
            <p:ph type="ctrTitle"/>
          </p:nvPr>
        </p:nvSpPr>
        <p:spPr>
          <a:xfrm>
            <a:off x="1263651" y="152399"/>
            <a:ext cx="7270749" cy="66040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GB" sz="2400">
                <a:latin typeface="Calibri"/>
                <a:ea typeface="Calibri"/>
                <a:cs typeface="Calibri"/>
                <a:sym typeface="Calibri"/>
              </a:rPr>
              <a:t>Request Flow</a:t>
            </a:r>
            <a:endParaRPr/>
          </a:p>
        </p:txBody>
      </p:sp>
      <p:sp>
        <p:nvSpPr>
          <p:cNvPr id="187" name="Google Shape;187;p22"/>
          <p:cNvSpPr txBox="1"/>
          <p:nvPr>
            <p:ph idx="1" type="subTitle"/>
          </p:nvPr>
        </p:nvSpPr>
        <p:spPr>
          <a:xfrm>
            <a:off x="1263650" y="1181100"/>
            <a:ext cx="7270750" cy="3460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b="0" i="0" lang="en-GB" sz="1000">
                <a:latin typeface="Calibri"/>
                <a:ea typeface="Calibri"/>
                <a:cs typeface="Calibri"/>
                <a:sym typeface="Calibri"/>
              </a:rPr>
              <a:t>One /v1/evaluate call. Steps 2, 3 and 5 are cached reads; step 7 is pure computation; only 8 and 10 touch the database — and 10 runs after the caller already has its answer.</a:t>
            </a:r>
            <a:endParaRPr/>
          </a:p>
        </p:txBody>
      </p:sp>
      <p:pic>
        <p:nvPicPr>
          <p:cNvPr id="188" name="Google Shape;18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1" y="65086"/>
            <a:ext cx="869949" cy="8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 September 2026</a:t>
            </a:r>
            <a:endParaRPr/>
          </a:p>
        </p:txBody>
      </p:sp>
      <p:sp>
        <p:nvSpPr>
          <p:cNvPr id="190" name="Google Shape;190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1" name="Google Shape;19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Dept of AI &amp; DS</a:t>
            </a:r>
            <a:endParaRPr/>
          </a:p>
        </p:txBody>
      </p:sp>
      <p:pic>
        <p:nvPicPr>
          <p:cNvPr descr="request_flow.png" id="192" name="Google Shape;19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520500"/>
            <a:ext cx="9143999" cy="324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"/>
          <p:cNvSpPr txBox="1"/>
          <p:nvPr>
            <p:ph type="ctrTitle"/>
          </p:nvPr>
        </p:nvSpPr>
        <p:spPr>
          <a:xfrm>
            <a:off x="1263651" y="152399"/>
            <a:ext cx="7270749" cy="66040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GB" sz="2400">
                <a:latin typeface="Calibri"/>
                <a:ea typeface="Calibri"/>
                <a:cs typeface="Calibri"/>
                <a:sym typeface="Calibri"/>
              </a:rPr>
              <a:t>Drift Pipeline</a:t>
            </a:r>
            <a:endParaRPr/>
          </a:p>
        </p:txBody>
      </p:sp>
      <p:sp>
        <p:nvSpPr>
          <p:cNvPr id="198" name="Google Shape;198;p23"/>
          <p:cNvSpPr txBox="1"/>
          <p:nvPr>
            <p:ph idx="1" type="subTitle"/>
          </p:nvPr>
        </p:nvSpPr>
        <p:spPr>
          <a:xfrm>
            <a:off x="1263650" y="1181100"/>
            <a:ext cx="7270750" cy="3460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b="0" i="0" lang="en-GB" sz="1000">
                <a:latin typeface="Calibri"/>
                <a:ea typeface="Calibri"/>
                <a:cs typeface="Calibri"/>
                <a:sym typeface="Calibri"/>
              </a:rPr>
              <a:t>Where the statistics run, and where they do not. This split is what makes a 50 ms budget achievable while still computing PSI and KS over full windows.</a:t>
            </a:r>
            <a:endParaRPr/>
          </a:p>
        </p:txBody>
      </p:sp>
      <p:pic>
        <p:nvPicPr>
          <p:cNvPr id="199" name="Google Shape;19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1" y="65086"/>
            <a:ext cx="869949" cy="8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 September 2026</a:t>
            </a:r>
            <a:endParaRPr/>
          </a:p>
        </p:txBody>
      </p:sp>
      <p:sp>
        <p:nvSpPr>
          <p:cNvPr id="201" name="Google Shape;201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2" name="Google Shape;202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Dept of AI &amp; DS</a:t>
            </a:r>
            <a:endParaRPr/>
          </a:p>
        </p:txBody>
      </p:sp>
      <p:pic>
        <p:nvPicPr>
          <p:cNvPr descr="drift_pipeline.png" id="203" name="Google Shape;20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819475"/>
            <a:ext cx="9144000" cy="23275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4"/>
          <p:cNvSpPr txBox="1"/>
          <p:nvPr>
            <p:ph type="ctrTitle"/>
          </p:nvPr>
        </p:nvSpPr>
        <p:spPr>
          <a:xfrm>
            <a:off x="1263651" y="152399"/>
            <a:ext cx="7270749" cy="66040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GB" sz="2400">
                <a:latin typeface="Calibri"/>
                <a:ea typeface="Calibri"/>
                <a:cs typeface="Calibri"/>
                <a:sym typeface="Calibri"/>
              </a:rPr>
              <a:t>Decision Logic</a:t>
            </a:r>
            <a:endParaRPr/>
          </a:p>
        </p:txBody>
      </p:sp>
      <p:sp>
        <p:nvSpPr>
          <p:cNvPr id="209" name="Google Shape;209;p24"/>
          <p:cNvSpPr txBox="1"/>
          <p:nvPr>
            <p:ph idx="1" type="subTitle"/>
          </p:nvPr>
        </p:nvSpPr>
        <p:spPr>
          <a:xfrm>
            <a:off x="1263650" y="1181100"/>
            <a:ext cx="7270750" cy="3460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b="0" i="0" lang="en-GB" sz="1000">
                <a:latin typeface="Calibri"/>
                <a:ea typeface="Calibri"/>
                <a:cs typeface="Calibri"/>
                <a:sym typeface="Calibri"/>
              </a:rPr>
              <a:t>Signals fuse as a weighted mean over non-degraded engines; a veto clamps the score to zero. The cascade below is then evaluated in order — the order is the specification.</a:t>
            </a:r>
            <a:endParaRPr/>
          </a:p>
        </p:txBody>
      </p:sp>
      <p:pic>
        <p:nvPicPr>
          <p:cNvPr id="210" name="Google Shape;21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1" y="65086"/>
            <a:ext cx="869949" cy="8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 September 2026</a:t>
            </a:r>
            <a:endParaRPr/>
          </a:p>
        </p:txBody>
      </p:sp>
      <p:sp>
        <p:nvSpPr>
          <p:cNvPr id="212" name="Google Shape;212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3" name="Google Shape;21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Dept of AI &amp; DS</a:t>
            </a:r>
            <a:endParaRPr/>
          </a:p>
        </p:txBody>
      </p:sp>
      <p:pic>
        <p:nvPicPr>
          <p:cNvPr descr="decision_flow.png" id="214" name="Google Shape;21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" y="1881226"/>
            <a:ext cx="9048752" cy="2262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5"/>
          <p:cNvSpPr txBox="1"/>
          <p:nvPr>
            <p:ph type="ctrTitle"/>
          </p:nvPr>
        </p:nvSpPr>
        <p:spPr>
          <a:xfrm>
            <a:off x="1263651" y="152399"/>
            <a:ext cx="7270749" cy="66040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GB" sz="2400">
                <a:latin typeface="Calibri"/>
                <a:ea typeface="Calibri"/>
                <a:cs typeface="Calibri"/>
                <a:sym typeface="Calibri"/>
              </a:rPr>
              <a:t>Implementation Status</a:t>
            </a:r>
            <a:endParaRPr/>
          </a:p>
        </p:txBody>
      </p:sp>
      <p:sp>
        <p:nvSpPr>
          <p:cNvPr id="220" name="Google Shape;220;p25"/>
          <p:cNvSpPr txBox="1"/>
          <p:nvPr>
            <p:ph idx="1" type="subTitle"/>
          </p:nvPr>
        </p:nvSpPr>
        <p:spPr>
          <a:xfrm>
            <a:off x="1263650" y="1181100"/>
            <a:ext cx="7270750" cy="3460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i="0" lang="en-GB" sz="1100">
                <a:latin typeface="Calibri"/>
                <a:ea typeface="Calibri"/>
                <a:cs typeface="Calibri"/>
                <a:sym typeface="Calibri"/>
              </a:rPr>
              <a:t>Nine of eleven components are complete and exercised end to end. The remaining two are deliberate, not unfinished.</a:t>
            </a:r>
            <a:endParaRPr/>
          </a:p>
        </p:txBody>
      </p:sp>
      <p:pic>
        <p:nvPicPr>
          <p:cNvPr id="221" name="Google Shape;22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1" y="65086"/>
            <a:ext cx="869949" cy="8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 September 2026</a:t>
            </a:r>
            <a:endParaRPr/>
          </a:p>
        </p:txBody>
      </p:sp>
      <p:sp>
        <p:nvSpPr>
          <p:cNvPr id="223" name="Google Shape;223;p2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4" name="Google Shape;224;p2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Dept of AI &amp; DS</a:t>
            </a:r>
            <a:endParaRPr/>
          </a:p>
        </p:txBody>
      </p:sp>
      <p:graphicFrame>
        <p:nvGraphicFramePr>
          <p:cNvPr id="225" name="Google Shape;225;p25"/>
          <p:cNvGraphicFramePr/>
          <p:nvPr/>
        </p:nvGraphicFramePr>
        <p:xfrm>
          <a:off x="521640" y="185166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{5153738A-5B41-497C-A225-D786135C6D59}</a:tableStyleId>
              </a:tblPr>
              <a:tblGrid>
                <a:gridCol w="1551750"/>
                <a:gridCol w="5553675"/>
                <a:gridCol w="1061725"/>
              </a:tblGrid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Component</a:t>
                      </a:r>
                      <a:endParaRPr sz="1300"/>
                    </a:p>
                  </a:txBody>
                  <a:tcPr marT="28575" marB="28575" marR="47625" marL="47625">
                    <a:solidFill>
                      <a:srgbClr val="1F5C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was built</a:t>
                      </a:r>
                      <a:endParaRPr sz="1300"/>
                    </a:p>
                  </a:txBody>
                  <a:tcPr marT="28575" marB="28575" marR="47625" marL="47625">
                    <a:solidFill>
                      <a:srgbClr val="1F5C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sz="1300"/>
                    </a:p>
                  </a:txBody>
                  <a:tcPr marT="28575" marB="28575" marR="47625" marL="47625">
                    <a:solidFill>
                      <a:srgbClr val="1F5CA8"/>
                    </a:solidFill>
                  </a:tcPr>
                </a:tc>
              </a:tr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Contract layer</a:t>
                      </a:r>
                      <a:endParaRPr sz="13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Pydantic schemas, SQLAlchemy ORM over 7 tables, Alembic migration, TTL cache, tenant config, JSON logging, metrics</a:t>
                      </a:r>
                      <a:endParaRPr sz="13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Complete</a:t>
                      </a:r>
                      <a:endParaRPr sz="1300"/>
                    </a:p>
                  </a:txBody>
                  <a:tcPr marT="28575" marB="28575" marR="47625" marL="47625"/>
                </a:tc>
              </a:tr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Drift engine</a:t>
                      </a:r>
                      <a:endParaRPr sz="13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PSI and KS in pure stdlib Python, band mapping, monotone severity roll-up, offline Celery worker, cached hot-path read</a:t>
                      </a:r>
                      <a:endParaRPr sz="13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Complete</a:t>
                      </a:r>
                      <a:endParaRPr sz="13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</a:tr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Policy engine</a:t>
                      </a:r>
                      <a:endParaRPr sz="13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Tokeniser, recursive-descent parser, AST evaluator, veto handling — no eval anywhere</a:t>
                      </a:r>
                      <a:endParaRPr sz="13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Complete</a:t>
                      </a:r>
                      <a:endParaRPr sz="1300"/>
                    </a:p>
                  </a:txBody>
                  <a:tcPr marT="28575" marB="28575" marR="47625" marL="47625"/>
                </a:tc>
              </a:tr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Trust engine</a:t>
                      </a:r>
                      <a:endParaRPr sz="13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Concurrent fan-out with per-engine timeouts, weighted fusion, degraded exclusion, decision matrix</a:t>
                      </a:r>
                      <a:endParaRPr sz="13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Complete</a:t>
                      </a:r>
                      <a:endParaRPr sz="13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</a:tr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Audit chain</a:t>
                      </a:r>
                      <a:endParaRPr sz="13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SHA-256 chain with race-safe append, verification endpoint, streamed evidence export</a:t>
                      </a:r>
                      <a:endParaRPr sz="13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Complete</a:t>
                      </a:r>
                      <a:endParaRPr sz="1300"/>
                    </a:p>
                  </a:txBody>
                  <a:tcPr marT="28575" marB="28575" marR="47625" marL="47625"/>
                </a:tc>
              </a:tr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Gateway + control plane</a:t>
                      </a:r>
                      <a:endParaRPr sz="13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/v1/evaluate, /health, /metrics and 14 control-plane endpoints across 5 route modules</a:t>
                      </a:r>
                      <a:endParaRPr sz="13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Complete</a:t>
                      </a:r>
                      <a:endParaRPr sz="13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</a:tr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Python SDK</a:t>
                      </a:r>
                      <a:endParaRPr sz="13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@guard decorator, gate() context manager, fail-open client — standard library only</a:t>
                      </a:r>
                      <a:endParaRPr sz="13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Complete</a:t>
                      </a:r>
                      <a:endParaRPr sz="1300"/>
                    </a:p>
                  </a:txBody>
                  <a:tcPr marT="28575" marB="28575" marR="47625" marL="47625"/>
                </a:tc>
              </a:tr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Dashboard</a:t>
                      </a:r>
                      <a:endParaRPr sz="13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React + TypeScript operator console: models, drift, decisions, audit, chain verification</a:t>
                      </a:r>
                      <a:endParaRPr sz="13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Complete</a:t>
                      </a:r>
                      <a:endParaRPr sz="13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</a:tr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Fintech demo</a:t>
                      </a:r>
                      <a:endParaRPr sz="13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Credit model, guarded loan agent, three drift scenarios, narrated one-command runner</a:t>
                      </a:r>
                      <a:endParaRPr sz="13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Complete</a:t>
                      </a:r>
                      <a:endParaRPr sz="1300"/>
                    </a:p>
                  </a:txBody>
                  <a:tcPr marT="28575" marB="28575" marR="47625" marL="47625"/>
                </a:tc>
              </a:tr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Risk engine</a:t>
                      </a:r>
                      <a:endParaRPr sz="13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Seam registered and wired; returns degraded so it cannot contribute unearned trust</a:t>
                      </a:r>
                      <a:endParaRPr sz="13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 design</a:t>
                      </a:r>
                      <a:endParaRPr sz="13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</a:tr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Sidecar proxy</a:t>
                      </a:r>
                      <a:endParaRPr sz="13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Language-agnostic interceptor for non-Python callers</a:t>
                      </a:r>
                      <a:endParaRPr sz="13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Review-2</a:t>
                      </a:r>
                      <a:endParaRPr sz="1300"/>
                    </a:p>
                  </a:txBody>
                  <a:tcPr marT="28575" marB="28575" marR="47625" marL="476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"/>
          <p:cNvSpPr txBox="1"/>
          <p:nvPr>
            <p:ph type="ctrTitle"/>
          </p:nvPr>
        </p:nvSpPr>
        <p:spPr>
          <a:xfrm>
            <a:off x="1263651" y="152399"/>
            <a:ext cx="7270749" cy="66040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GB" sz="2400">
                <a:latin typeface="Calibri"/>
                <a:ea typeface="Calibri"/>
                <a:cs typeface="Calibri"/>
                <a:sym typeface="Calibri"/>
              </a:rPr>
              <a:t>Results — Live Demonstration</a:t>
            </a:r>
            <a:endParaRPr/>
          </a:p>
        </p:txBody>
      </p:sp>
      <p:sp>
        <p:nvSpPr>
          <p:cNvPr id="231" name="Google Shape;231;p26"/>
          <p:cNvSpPr txBox="1"/>
          <p:nvPr>
            <p:ph idx="1" type="subTitle"/>
          </p:nvPr>
        </p:nvSpPr>
        <p:spPr>
          <a:xfrm>
            <a:off x="1263650" y="1181100"/>
            <a:ext cx="7270750" cy="3460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i="0" lang="en-GB" sz="1100">
                <a:latin typeface="Calibri"/>
                <a:ea typeface="Calibri"/>
                <a:cs typeface="Calibri"/>
                <a:sym typeface="Calibri"/>
              </a:rPr>
              <a:t>A lending agent auto-approves loans behind Custos. One command, no external infrastructure. The model and the code never change — only the incoming population does.</a:t>
            </a:r>
            <a:endParaRPr/>
          </a:p>
        </p:txBody>
      </p:sp>
      <p:pic>
        <p:nvPicPr>
          <p:cNvPr id="232" name="Google Shape;23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1" y="65086"/>
            <a:ext cx="869949" cy="8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 September 2026</a:t>
            </a:r>
            <a:endParaRPr/>
          </a:p>
        </p:txBody>
      </p:sp>
      <p:sp>
        <p:nvSpPr>
          <p:cNvPr id="234" name="Google Shape;234;p2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5" name="Google Shape;235;p2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Dept of AI &amp; DS</a:t>
            </a:r>
            <a:endParaRPr/>
          </a:p>
        </p:txBody>
      </p:sp>
      <p:pic>
        <p:nvPicPr>
          <p:cNvPr descr="demo_trajectory.png" id="236" name="Google Shape;23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672974"/>
            <a:ext cx="9143998" cy="28263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7"/>
          <p:cNvSpPr txBox="1"/>
          <p:nvPr>
            <p:ph type="ctrTitle"/>
          </p:nvPr>
        </p:nvSpPr>
        <p:spPr>
          <a:xfrm>
            <a:off x="1263651" y="152399"/>
            <a:ext cx="7270749" cy="66040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GB" sz="2400">
                <a:latin typeface="Calibri"/>
                <a:ea typeface="Calibri"/>
                <a:cs typeface="Calibri"/>
                <a:sym typeface="Calibri"/>
              </a:rPr>
              <a:t>Results — Drift Attribution</a:t>
            </a:r>
            <a:endParaRPr/>
          </a:p>
        </p:txBody>
      </p:sp>
      <p:sp>
        <p:nvSpPr>
          <p:cNvPr id="242" name="Google Shape;242;p27"/>
          <p:cNvSpPr txBox="1"/>
          <p:nvPr>
            <p:ph idx="1" type="subTitle"/>
          </p:nvPr>
        </p:nvSpPr>
        <p:spPr>
          <a:xfrm>
            <a:off x="1263650" y="1181100"/>
            <a:ext cx="7270750" cy="3460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i="0" lang="en-GB" sz="1100">
                <a:latin typeface="Calibri"/>
                <a:ea typeface="Calibri"/>
                <a:cs typeface="Calibri"/>
                <a:sym typeface="Calibri"/>
              </a:rPr>
              <a:t>Severity says the model moved; attribution says which input moved — the difference between a population shift and a broken upstream feed.</a:t>
            </a:r>
            <a:endParaRPr/>
          </a:p>
        </p:txBody>
      </p:sp>
      <p:pic>
        <p:nvPicPr>
          <p:cNvPr id="243" name="Google Shape;24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1" y="65086"/>
            <a:ext cx="869949" cy="8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  September 2026</a:t>
            </a:r>
            <a:endParaRPr/>
          </a:p>
        </p:txBody>
      </p:sp>
      <p:sp>
        <p:nvSpPr>
          <p:cNvPr id="245" name="Google Shape;245;p2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6" name="Google Shape;246;p2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Dept of AI &amp; DS</a:t>
            </a:r>
            <a:endParaRPr/>
          </a:p>
        </p:txBody>
      </p:sp>
      <p:pic>
        <p:nvPicPr>
          <p:cNvPr descr="drift_attribution.png" id="247" name="Google Shape;24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759751"/>
            <a:ext cx="9080624" cy="260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8"/>
          <p:cNvSpPr txBox="1"/>
          <p:nvPr>
            <p:ph type="ctrTitle"/>
          </p:nvPr>
        </p:nvSpPr>
        <p:spPr>
          <a:xfrm>
            <a:off x="1263651" y="152398"/>
            <a:ext cx="72708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GB" sz="2400">
                <a:latin typeface="Calibri"/>
                <a:ea typeface="Calibri"/>
                <a:cs typeface="Calibri"/>
                <a:sym typeface="Calibri"/>
              </a:rPr>
              <a:t>Data and Validation</a:t>
            </a:r>
            <a:endParaRPr sz="1100"/>
          </a:p>
        </p:txBody>
      </p:sp>
      <p:sp>
        <p:nvSpPr>
          <p:cNvPr id="253" name="Google Shape;253;p28"/>
          <p:cNvSpPr txBox="1"/>
          <p:nvPr>
            <p:ph idx="1" type="subTitle"/>
          </p:nvPr>
        </p:nvSpPr>
        <p:spPr>
          <a:xfrm>
            <a:off x="1263650" y="1181100"/>
            <a:ext cx="7270800" cy="3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i="0" lang="en-GB" sz="1100">
                <a:latin typeface="Calibri"/>
                <a:ea typeface="Calibri"/>
                <a:cs typeface="Calibri"/>
                <a:sym typeface="Calibri"/>
              </a:rPr>
              <a:t>Custos contains no trained model, no fitted parameters, no weights. It is a measuring instrument — so it is validated the way instruments are, by calibration against known inputs, not by accuracy on held-out data.</a:t>
            </a:r>
            <a:endParaRPr sz="1100"/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b="0" i="0" lang="en-GB" sz="1000">
                <a:latin typeface="Calibri"/>
                <a:ea typeface="Calibri"/>
                <a:cs typeface="Calibri"/>
                <a:sym typeface="Calibri"/>
              </a:rPr>
              <a:t>A thermometer is not validated by pointing it at random objects. It goes into melting ice to read 0 °C and boiling water to read 100 °C. The reference points have to be known, or the reading cannot be checked against anything.</a:t>
            </a:r>
            <a:endParaRPr sz="1100"/>
          </a:p>
        </p:txBody>
      </p:sp>
      <p:pic>
        <p:nvPicPr>
          <p:cNvPr id="254" name="Google Shape;25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1" y="65086"/>
            <a:ext cx="869949" cy="8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12 September 2026</a:t>
            </a:r>
            <a:endParaRPr sz="1100"/>
          </a:p>
        </p:txBody>
      </p:sp>
      <p:sp>
        <p:nvSpPr>
          <p:cNvPr id="256" name="Google Shape;256;p28"/>
          <p:cNvSpPr txBox="1"/>
          <p:nvPr>
            <p:ph idx="12" type="sldNum"/>
          </p:nvPr>
        </p:nvSpPr>
        <p:spPr>
          <a:xfrm>
            <a:off x="6354343" y="3497413"/>
            <a:ext cx="4116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7" name="Google Shape;257;p2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Dept of AI &amp; DS</a:t>
            </a:r>
            <a:endParaRPr sz="1100"/>
          </a:p>
        </p:txBody>
      </p:sp>
      <p:graphicFrame>
        <p:nvGraphicFramePr>
          <p:cNvPr id="258" name="Google Shape;258;p28"/>
          <p:cNvGraphicFramePr/>
          <p:nvPr/>
        </p:nvGraphicFramePr>
        <p:xfrm>
          <a:off x="720090" y="294894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{5153738A-5B41-497C-A225-D786135C6D59}</a:tableStyleId>
              </a:tblPr>
              <a:tblGrid>
                <a:gridCol w="844900"/>
                <a:gridCol w="2304275"/>
                <a:gridCol w="1459375"/>
                <a:gridCol w="1766625"/>
                <a:gridCol w="1305750"/>
              </a:tblGrid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28575" marR="47625" marL="47625">
                    <a:solidFill>
                      <a:srgbClr val="1F5C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used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1F5C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it answers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1F5C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Ground truth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1F5C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1F5CA8"/>
                    </a:solidFill>
                  </a:tcPr>
                </a:tc>
              </a:tr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Calibration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Controlled distributions with shifts of a chosen size, injected into the demo's own feature population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 the detector correct?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Known — we chose the shift, so the right answer exists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Done · 43 detector tests</a:t>
                      </a:r>
                      <a:endParaRPr sz="1100"/>
                    </a:p>
                  </a:txBody>
                  <a:tcPr marT="28575" marB="28575" marR="47625" marL="47625"/>
                </a:tc>
              </a:tr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Field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real-world credit data, replayed in time order through the same drift code the gateway runs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Does it fire on drift that actually happened?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Unknown — but nobody chose the drift, which is what makes it fair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Harness built · Lending Club run is Review-2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259" name="Google Shape;259;p28"/>
          <p:cNvSpPr txBox="1"/>
          <p:nvPr/>
        </p:nvSpPr>
        <p:spPr>
          <a:xfrm>
            <a:off x="7143750" y="4767263"/>
            <a:ext cx="1333500" cy="27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1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9"/>
          <p:cNvSpPr txBox="1"/>
          <p:nvPr>
            <p:ph type="ctrTitle"/>
          </p:nvPr>
        </p:nvSpPr>
        <p:spPr>
          <a:xfrm>
            <a:off x="1263651" y="152398"/>
            <a:ext cx="72708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GB" sz="2400">
                <a:latin typeface="Calibri"/>
                <a:ea typeface="Calibri"/>
                <a:cs typeface="Calibri"/>
                <a:sym typeface="Calibri"/>
              </a:rPr>
              <a:t>Calibration — the Instrument in Ice and Steam</a:t>
            </a:r>
            <a:endParaRPr sz="1100"/>
          </a:p>
        </p:txBody>
      </p:sp>
      <p:sp>
        <p:nvSpPr>
          <p:cNvPr id="265" name="Google Shape;265;p29"/>
          <p:cNvSpPr txBox="1"/>
          <p:nvPr>
            <p:ph idx="1" type="subTitle"/>
          </p:nvPr>
        </p:nvSpPr>
        <p:spPr>
          <a:xfrm>
            <a:off x="1263650" y="1181100"/>
            <a:ext cx="7270800" cy="3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i="0" lang="en-GB" sz="1100">
                <a:latin typeface="Calibri"/>
                <a:ea typeface="Calibri"/>
                <a:cs typeface="Calibri"/>
                <a:sym typeface="Calibri"/>
              </a:rPr>
              <a:t>Shift a feature's mean by a chosen number of standard deviations and check what PSI reports back. Because the input was chosen, the correct output is known — which is precisely what real data cannot offer.</a:t>
            </a:r>
            <a:endParaRPr sz="1100"/>
          </a:p>
        </p:txBody>
      </p:sp>
      <p:pic>
        <p:nvPicPr>
          <p:cNvPr id="266" name="Google Shape;26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1" y="65086"/>
            <a:ext cx="869949" cy="8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12 September 2026</a:t>
            </a:r>
            <a:endParaRPr sz="1100"/>
          </a:p>
        </p:txBody>
      </p:sp>
      <p:sp>
        <p:nvSpPr>
          <p:cNvPr id="268" name="Google Shape;268;p29"/>
          <p:cNvSpPr txBox="1"/>
          <p:nvPr>
            <p:ph idx="12" type="sldNum"/>
          </p:nvPr>
        </p:nvSpPr>
        <p:spPr>
          <a:xfrm>
            <a:off x="6354343" y="3497413"/>
            <a:ext cx="4116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9" name="Google Shape;269;p2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Dept of AI &amp; DS</a:t>
            </a:r>
            <a:endParaRPr sz="1100"/>
          </a:p>
        </p:txBody>
      </p:sp>
      <p:pic>
        <p:nvPicPr>
          <p:cNvPr descr="calibration_curve.png" id="270" name="Google Shape;27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635050"/>
            <a:ext cx="9144000" cy="2867878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9"/>
          <p:cNvSpPr txBox="1"/>
          <p:nvPr/>
        </p:nvSpPr>
        <p:spPr>
          <a:xfrm>
            <a:off x="7143750" y="4767263"/>
            <a:ext cx="1333500" cy="27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11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1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0"/>
          <p:cNvSpPr txBox="1"/>
          <p:nvPr>
            <p:ph type="ctrTitle"/>
          </p:nvPr>
        </p:nvSpPr>
        <p:spPr>
          <a:xfrm>
            <a:off x="1263651" y="152398"/>
            <a:ext cx="72708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GB" sz="2400">
                <a:latin typeface="Calibri"/>
                <a:ea typeface="Calibri"/>
                <a:cs typeface="Calibri"/>
                <a:sym typeface="Calibri"/>
              </a:rPr>
              <a:t>What the Controlled Data Proves</a:t>
            </a:r>
            <a:endParaRPr sz="1100"/>
          </a:p>
        </p:txBody>
      </p:sp>
      <p:sp>
        <p:nvSpPr>
          <p:cNvPr id="277" name="Google Shape;277;p30"/>
          <p:cNvSpPr txBox="1"/>
          <p:nvPr>
            <p:ph idx="1" type="subTitle"/>
          </p:nvPr>
        </p:nvSpPr>
        <p:spPr>
          <a:xfrm>
            <a:off x="1263650" y="1181100"/>
            <a:ext cx="7270800" cy="3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i="0" lang="en-GB" sz="1100">
                <a:latin typeface="Calibri"/>
                <a:ea typeface="Calibri"/>
                <a:cs typeface="Calibri"/>
                <a:sym typeface="Calibri"/>
              </a:rPr>
              <a:t>Five properties, 43 detector tests. The right-hand column is the answer to “why not just use a real dataset?” — none of these could be checked on one.</a:t>
            </a:r>
            <a:endParaRPr sz="1100"/>
          </a:p>
        </p:txBody>
      </p:sp>
      <p:pic>
        <p:nvPicPr>
          <p:cNvPr id="278" name="Google Shape;27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1" y="65086"/>
            <a:ext cx="869949" cy="8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12 September 2026</a:t>
            </a:r>
            <a:endParaRPr sz="1100"/>
          </a:p>
        </p:txBody>
      </p:sp>
      <p:sp>
        <p:nvSpPr>
          <p:cNvPr id="280" name="Google Shape;280;p30"/>
          <p:cNvSpPr txBox="1"/>
          <p:nvPr>
            <p:ph idx="12" type="sldNum"/>
          </p:nvPr>
        </p:nvSpPr>
        <p:spPr>
          <a:xfrm>
            <a:off x="6354343" y="3497413"/>
            <a:ext cx="4116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1" name="Google Shape;281;p3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Dept of AI &amp; DS</a:t>
            </a:r>
            <a:endParaRPr sz="1100"/>
          </a:p>
        </p:txBody>
      </p:sp>
      <p:graphicFrame>
        <p:nvGraphicFramePr>
          <p:cNvPr id="282" name="Google Shape;282;p30"/>
          <p:cNvGraphicFramePr/>
          <p:nvPr/>
        </p:nvGraphicFramePr>
        <p:xfrm>
          <a:off x="720090" y="185166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{5153738A-5B41-497C-A225-D786135C6D59}</a:tableStyleId>
              </a:tblPr>
              <a:tblGrid>
                <a:gridCol w="1689800"/>
                <a:gridCol w="3533250"/>
                <a:gridCol w="2457900"/>
              </a:tblGrid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is checked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1F5C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How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1F5C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Why it could not be done on real data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1F5CA8"/>
                    </a:solidFill>
                  </a:tcPr>
                </a:tc>
              </a:tr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PSI is arithmetically right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Checked against a value computed by hand from the definition; KS against a case where the CDF gap is exactly 0.5 by construction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There is no hand-computable right answer for 2.2 million rows</a:t>
                      </a:r>
                      <a:endParaRPr sz="1100"/>
                    </a:p>
                  </a:txBody>
                  <a:tcPr marT="28575" marB="28575" marR="47625" marL="47625"/>
                </a:tc>
              </a:tr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0σ reads stable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Two draws from the same distribution report PSI 0.030 — below the 0.10 stable band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real dataset is known to contain zero drift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</a:tr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1σ reads significant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one-standard-deviation mean shift reports PSI 1.019 — 4× the 0.25 threshold a credit-risk team already uses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true shift in real data is unmeasured, so the reading cannot be graded</a:t>
                      </a:r>
                      <a:endParaRPr sz="1100"/>
                    </a:p>
                  </a:txBody>
                  <a:tcPr marT="28575" marB="28575" marR="47625" marL="47625"/>
                </a:tc>
              </a:tr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Severity never moves the wrong way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500 randomised perturbations: increasing any feature's drift can never lower the reported severity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Requires controlling the input to know which direction is correct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</a:tr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 refuses to guess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 empty window raises rather than returning 0.0; below MIN_SAMPLES = 30 it reports insufficient data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Reporting 'no drift' for 'no data' is the exact failure the system exists to prevent</a:t>
                      </a:r>
                      <a:endParaRPr sz="1100"/>
                    </a:p>
                  </a:txBody>
                  <a:tcPr marT="28575" marB="28575" marR="47625" marL="47625"/>
                </a:tc>
              </a:tr>
            </a:tbl>
          </a:graphicData>
        </a:graphic>
      </p:graphicFrame>
      <p:sp>
        <p:nvSpPr>
          <p:cNvPr id="283" name="Google Shape;283;p30"/>
          <p:cNvSpPr txBox="1"/>
          <p:nvPr/>
        </p:nvSpPr>
        <p:spPr>
          <a:xfrm>
            <a:off x="7143750" y="4767263"/>
            <a:ext cx="1333500" cy="27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11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1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1"/>
          <p:cNvSpPr txBox="1"/>
          <p:nvPr>
            <p:ph type="ctrTitle"/>
          </p:nvPr>
        </p:nvSpPr>
        <p:spPr>
          <a:xfrm>
            <a:off x="1263651" y="152398"/>
            <a:ext cx="72708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GB" sz="2400">
                <a:latin typeface="Calibri"/>
                <a:ea typeface="Calibri"/>
                <a:cs typeface="Calibri"/>
                <a:sym typeface="Calibri"/>
              </a:rPr>
              <a:t>Validating the Latency Claim</a:t>
            </a:r>
            <a:endParaRPr sz="1100"/>
          </a:p>
        </p:txBody>
      </p:sp>
      <p:sp>
        <p:nvSpPr>
          <p:cNvPr id="289" name="Google Shape;289;p31"/>
          <p:cNvSpPr txBox="1"/>
          <p:nvPr>
            <p:ph idx="1" type="subTitle"/>
          </p:nvPr>
        </p:nvSpPr>
        <p:spPr>
          <a:xfrm>
            <a:off x="1263650" y="1181100"/>
            <a:ext cx="7270800" cy="3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i="0" lang="en-GB" sz="1100">
                <a:latin typeface="Calibri"/>
                <a:ea typeface="Calibri"/>
                <a:cs typeface="Calibri"/>
                <a:sym typeface="Calibri"/>
              </a:rPr>
              <a:t>NFR1 asserts a 50 ms p99. An assertion in a design document is not evidence, so we built the instrument that could falsify it — and it did.</a:t>
            </a:r>
            <a:endParaRPr sz="1100"/>
          </a:p>
        </p:txBody>
      </p:sp>
      <p:pic>
        <p:nvPicPr>
          <p:cNvPr id="290" name="Google Shape;29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1" y="65086"/>
            <a:ext cx="869949" cy="8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12 September 2026</a:t>
            </a:r>
            <a:endParaRPr sz="1100"/>
          </a:p>
        </p:txBody>
      </p:sp>
      <p:sp>
        <p:nvSpPr>
          <p:cNvPr id="292" name="Google Shape;292;p31"/>
          <p:cNvSpPr txBox="1"/>
          <p:nvPr>
            <p:ph idx="12" type="sldNum"/>
          </p:nvPr>
        </p:nvSpPr>
        <p:spPr>
          <a:xfrm>
            <a:off x="6354343" y="3497413"/>
            <a:ext cx="4116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3" name="Google Shape;293;p3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Dept of AI &amp; DS</a:t>
            </a:r>
            <a:endParaRPr sz="1100"/>
          </a:p>
        </p:txBody>
      </p:sp>
      <p:pic>
        <p:nvPicPr>
          <p:cNvPr descr="load_profile.png" id="294" name="Google Shape;29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636576"/>
            <a:ext cx="9144000" cy="3026876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1"/>
          <p:cNvSpPr txBox="1"/>
          <p:nvPr/>
        </p:nvSpPr>
        <p:spPr>
          <a:xfrm>
            <a:off x="7143750" y="4767263"/>
            <a:ext cx="1333500" cy="27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11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2"/>
          <p:cNvSpPr txBox="1"/>
          <p:nvPr>
            <p:ph type="ctrTitle"/>
          </p:nvPr>
        </p:nvSpPr>
        <p:spPr>
          <a:xfrm>
            <a:off x="1263651" y="152398"/>
            <a:ext cx="72708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GB" sz="2400">
                <a:latin typeface="Calibri"/>
                <a:ea typeface="Calibri"/>
                <a:cs typeface="Calibri"/>
                <a:sym typeface="Calibri"/>
              </a:rPr>
              <a:t>What Load Testing Exposed</a:t>
            </a:r>
            <a:endParaRPr sz="1100"/>
          </a:p>
        </p:txBody>
      </p:sp>
      <p:sp>
        <p:nvSpPr>
          <p:cNvPr id="301" name="Google Shape;301;p32"/>
          <p:cNvSpPr txBox="1"/>
          <p:nvPr>
            <p:ph idx="1" type="subTitle"/>
          </p:nvPr>
        </p:nvSpPr>
        <p:spPr>
          <a:xfrm>
            <a:off x="1263650" y="1181100"/>
            <a:ext cx="7270800" cy="3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i="0" lang="en-GB" sz="1100">
                <a:latin typeface="Calibri"/>
                <a:ea typeface="Calibri"/>
                <a:cs typeface="Calibri"/>
                <a:sym typeface="Calibri"/>
              </a:rPr>
              <a:t>Three defects, none of them reachable by a test that sends one request at a time. This is the difference between a suite that passes and a system that works.</a:t>
            </a:r>
            <a:endParaRPr sz="1100"/>
          </a:p>
        </p:txBody>
      </p:sp>
      <p:pic>
        <p:nvPicPr>
          <p:cNvPr id="302" name="Google Shape;30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1" y="65086"/>
            <a:ext cx="869949" cy="8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12 September 2026</a:t>
            </a:r>
            <a:endParaRPr sz="1100"/>
          </a:p>
        </p:txBody>
      </p:sp>
      <p:sp>
        <p:nvSpPr>
          <p:cNvPr id="304" name="Google Shape;304;p3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Dept of AI &amp; DS</a:t>
            </a:r>
            <a:endParaRPr sz="1100"/>
          </a:p>
        </p:txBody>
      </p:sp>
      <p:graphicFrame>
        <p:nvGraphicFramePr>
          <p:cNvPr id="305" name="Google Shape;305;p32"/>
          <p:cNvGraphicFramePr/>
          <p:nvPr/>
        </p:nvGraphicFramePr>
        <p:xfrm>
          <a:off x="720090" y="185166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{5153738A-5B41-497C-A225-D786135C6D59}</a:tableStyleId>
              </a:tblPr>
              <a:tblGrid>
                <a:gridCol w="1536175"/>
                <a:gridCol w="3686850"/>
                <a:gridCol w="2457900"/>
              </a:tblGrid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we believed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1F5C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the harness measured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1F5C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we did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1F5CA8"/>
                    </a:solidFill>
                  </a:tcPr>
                </a:tc>
              </a:tr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Gateway p99 is 0.5 ms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 ms was the trust engine's own timer, which stops before the audit write. The caller actually waits 49 ms at the ceiling — 98% of the budget, not 1%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 the client-observed number; treat the internal metric as a component timing, not the request</a:t>
                      </a:r>
                      <a:endParaRPr sz="1100"/>
                    </a:p>
                  </a:txBody>
                  <a:tcPr marT="28575" marB="28575" marR="47625" marL="47625"/>
                </a:tc>
              </a:tr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audit chain records every decision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Under concurrent appends, 2 of 96 entries were dropped — and verification still reported the chain intact, because a hash chain detects a modified entry, never a missing one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Per-tenant advisory lock on Postgres, jittered backoff everywhere. 0 lost from 2 to 48 writers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</a:tr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Overload makes it slow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Overload makes it answer differently: past the ceiling, engines exceed their 20 ms timeout, drop out of fusion, and ~13% of verdicts flip ALLOW to REVIEW on traffic an idle gateway allows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Documented as an operational property; admission control is the Review-2 fix</a:t>
                      </a:r>
                      <a:endParaRPr sz="1100"/>
                    </a:p>
                  </a:txBody>
                  <a:tcPr marT="28575" marB="28575" marR="47625" marL="47625"/>
                </a:tc>
              </a:tr>
            </a:tbl>
          </a:graphicData>
        </a:graphic>
      </p:graphicFrame>
      <p:sp>
        <p:nvSpPr>
          <p:cNvPr id="306" name="Google Shape;306;p32"/>
          <p:cNvSpPr txBox="1"/>
          <p:nvPr/>
        </p:nvSpPr>
        <p:spPr>
          <a:xfrm>
            <a:off x="7143750" y="4767263"/>
            <a:ext cx="1333500" cy="27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11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3"/>
          <p:cNvSpPr txBox="1"/>
          <p:nvPr>
            <p:ph type="ctrTitle"/>
          </p:nvPr>
        </p:nvSpPr>
        <p:spPr>
          <a:xfrm>
            <a:off x="1263651" y="152398"/>
            <a:ext cx="72708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GB" sz="2400">
                <a:latin typeface="Calibri"/>
                <a:ea typeface="Calibri"/>
                <a:cs typeface="Calibri"/>
                <a:sym typeface="Calibri"/>
              </a:rPr>
              <a:t>Case Study — The Audit Log That Lied</a:t>
            </a:r>
            <a:endParaRPr sz="1100"/>
          </a:p>
        </p:txBody>
      </p:sp>
      <p:sp>
        <p:nvSpPr>
          <p:cNvPr id="312" name="Google Shape;312;p33"/>
          <p:cNvSpPr txBox="1"/>
          <p:nvPr>
            <p:ph idx="1" type="subTitle"/>
          </p:nvPr>
        </p:nvSpPr>
        <p:spPr>
          <a:xfrm>
            <a:off x="1263650" y="1181100"/>
            <a:ext cx="7270800" cy="3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i="0" lang="en-GB" sz="1100">
                <a:latin typeface="Calibri"/>
                <a:ea typeface="Calibri"/>
                <a:cs typeface="Calibri"/>
                <a:sym typeface="Calibri"/>
              </a:rPr>
              <a:t>Our strongest claim is tamper-evident evidence for every decision. Under concurrency it was dropping entries and reporting itself intact.</a:t>
            </a:r>
            <a:endParaRPr sz="1100"/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i="0" lang="en-GB" sz="1100">
                <a:latin typeface="Calibri"/>
                <a:ea typeface="Calibri"/>
                <a:cs typeface="Calibri"/>
                <a:sym typeface="Calibri"/>
              </a:rPr>
              <a:t>Symptom</a:t>
            </a:r>
            <a:endParaRPr sz="1100"/>
          </a:p>
          <a:p>
            <a:pPr indent="-215900" lvl="0" marL="2159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GB" sz="1000">
                <a:latin typeface="Calibri"/>
                <a:ea typeface="Calibri"/>
                <a:cs typeface="Calibri"/>
                <a:sym typeface="Calibri"/>
              </a:rPr>
              <a:t>At 24 concurrent writers, 2 of 96 appends were lost — and GET /audit/verify still returned “all 94 entries verified”. A hash chain detects a modified entry, never a missing one.</a:t>
            </a:r>
            <a:endParaRPr sz="1100"/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i="0" lang="en-GB" sz="1100">
                <a:latin typeface="Calibri"/>
                <a:ea typeface="Calibri"/>
                <a:cs typeface="Calibri"/>
                <a:sym typeface="Calibri"/>
              </a:rPr>
              <a:t>Diagnosis before cure</a:t>
            </a:r>
            <a:endParaRPr sz="1100"/>
          </a:p>
          <a:p>
            <a:pPr indent="-215900" lvl="0" marL="2159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GB" sz="1000">
                <a:latin typeface="Calibri"/>
                <a:ea typeface="Calibri"/>
                <a:cs typeface="Calibri"/>
                <a:sym typeface="Calibri"/>
              </a:rPr>
              <a:t>Measured where it was actually reachable: 0 lost at 1 uvicorn worker, 2 lost at 4. The event loop already serialised single-worker writes, so the obvious per-tenant in-process lock would have protected the only configuration that was not broken.</a:t>
            </a:r>
            <a:endParaRPr sz="1100"/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i="0" lang="en-GB" sz="1100">
                <a:latin typeface="Calibri"/>
                <a:ea typeface="Calibri"/>
                <a:cs typeface="Calibri"/>
                <a:sym typeface="Calibri"/>
              </a:rPr>
              <a:t>Fix</a:t>
            </a:r>
            <a:endParaRPr sz="1100"/>
          </a:p>
          <a:p>
            <a:pPr indent="-215900" lvl="0" marL="2159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GB" sz="1000">
                <a:latin typeface="Calibri"/>
                <a:ea typeface="Calibri"/>
                <a:cs typeface="Calibri"/>
                <a:sym typeface="Calibri"/>
              </a:rPr>
              <a:t>Postgres: pg_advisory_xact_lock per tenant, taken before the chain head is read. Every backend: jittered backoff, because five instant retries kept the racers in lockstep. Result: 0 lost from 2 to 48 writers — and 2× the throughput, since the retry storm was itself the load.</a:t>
            </a:r>
            <a:endParaRPr sz="1100"/>
          </a:p>
        </p:txBody>
      </p:sp>
      <p:pic>
        <p:nvPicPr>
          <p:cNvPr id="313" name="Google Shape;31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1" y="65086"/>
            <a:ext cx="869949" cy="8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12 September 2026</a:t>
            </a:r>
            <a:endParaRPr sz="1100"/>
          </a:p>
        </p:txBody>
      </p:sp>
      <p:sp>
        <p:nvSpPr>
          <p:cNvPr id="315" name="Google Shape;315;p3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Dept of AI &amp; DS</a:t>
            </a:r>
            <a:endParaRPr sz="1100"/>
          </a:p>
        </p:txBody>
      </p:sp>
      <p:sp>
        <p:nvSpPr>
          <p:cNvPr id="316" name="Google Shape;316;p33"/>
          <p:cNvSpPr txBox="1"/>
          <p:nvPr/>
        </p:nvSpPr>
        <p:spPr>
          <a:xfrm>
            <a:off x="7143750" y="4767263"/>
            <a:ext cx="1333500" cy="27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b="0" i="0" sz="11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4"/>
          <p:cNvSpPr txBox="1"/>
          <p:nvPr>
            <p:ph type="ctrTitle"/>
          </p:nvPr>
        </p:nvSpPr>
        <p:spPr>
          <a:xfrm>
            <a:off x="1263651" y="152399"/>
            <a:ext cx="7270749" cy="66040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GB" sz="2400">
                <a:latin typeface="Calibri"/>
                <a:ea typeface="Calibri"/>
                <a:cs typeface="Calibri"/>
                <a:sym typeface="Calibri"/>
              </a:rPr>
              <a:t>Contributions and Conclusion</a:t>
            </a:r>
            <a:endParaRPr/>
          </a:p>
        </p:txBody>
      </p:sp>
      <p:sp>
        <p:nvSpPr>
          <p:cNvPr id="322" name="Google Shape;322;p34"/>
          <p:cNvSpPr txBox="1"/>
          <p:nvPr>
            <p:ph idx="1" type="subTitle"/>
          </p:nvPr>
        </p:nvSpPr>
        <p:spPr>
          <a:xfrm>
            <a:off x="1263650" y="1181100"/>
            <a:ext cx="7270750" cy="3460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/>
              <a:t>274 tests passing · 50 ms p99 budget verified under load to 100 req/s per instance · two concurrency defects found by our own harness and fixed · audit chain demonstrated under an actual tampering attempt.</a:t>
            </a:r>
            <a:endParaRPr sz="11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GB" sz="1200"/>
              <a:t>Next, for Review-2</a:t>
            </a:r>
            <a:endParaRPr sz="1100"/>
          </a:p>
          <a:p>
            <a:pPr indent="-215900" lvl="0" marL="215900" rtl="0" algn="l">
              <a:spcBef>
                <a:spcPts val="300"/>
              </a:spcBef>
              <a:spcAft>
                <a:spcPts val="0"/>
              </a:spcAft>
              <a:buSzPts val="1000"/>
              <a:buChar char="•"/>
            </a:pPr>
            <a:r>
              <a:rPr lang="en-GB" sz="1000"/>
              <a:t>Admission control: shed load at the door rather than let a spike silently convert auto-approvals into review backlog.</a:t>
            </a:r>
            <a:endParaRPr sz="1100"/>
          </a:p>
          <a:p>
            <a:pPr indent="-215900" lvl="0" marL="215900" rtl="0" algn="l">
              <a:spcBef>
                <a:spcPts val="300"/>
              </a:spcBef>
              <a:spcAft>
                <a:spcPts val="0"/>
              </a:spcAft>
              <a:buSzPts val="1000"/>
              <a:buChar char="•"/>
            </a:pPr>
            <a:r>
              <a:rPr lang="en-GB" sz="1000"/>
              <a:t>Validate against real drift using the Lending Club dataset, replacing the controlled synthetic scenarios.</a:t>
            </a:r>
            <a:endParaRPr sz="1100"/>
          </a:p>
          <a:p>
            <a:pPr indent="-215900" lvl="0" marL="215900" rtl="0" algn="l">
              <a:spcBef>
                <a:spcPts val="300"/>
              </a:spcBef>
              <a:spcAft>
                <a:spcPts val="0"/>
              </a:spcAft>
              <a:buSzPts val="1000"/>
              <a:buChar char="•"/>
            </a:pPr>
            <a:r>
              <a:rPr lang="en-GB" sz="1000"/>
              <a:t>Model and data versioning, plus a retraining trigger — the components practitioners named as prerequisites.</a:t>
            </a:r>
            <a:endParaRPr sz="1100"/>
          </a:p>
          <a:p>
            <a:pPr indent="-215900" lvl="0" marL="215900" rtl="0" algn="l">
              <a:spcBef>
                <a:spcPts val="300"/>
              </a:spcBef>
              <a:spcAft>
                <a:spcPts val="0"/>
              </a:spcAft>
              <a:buSzPts val="1000"/>
              <a:buChar char="•"/>
            </a:pPr>
            <a:r>
              <a:rPr lang="en-GB" sz="1000"/>
              <a:t>Move the audit write off the hot path, and re-measure against Postgres rather than SQLite.</a:t>
            </a:r>
            <a:endParaRPr b="1" sz="1100"/>
          </a:p>
        </p:txBody>
      </p:sp>
      <p:pic>
        <p:nvPicPr>
          <p:cNvPr id="323" name="Google Shape;32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1" y="65086"/>
            <a:ext cx="869949" cy="8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3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 September 2026</a:t>
            </a:r>
            <a:endParaRPr/>
          </a:p>
        </p:txBody>
      </p:sp>
      <p:sp>
        <p:nvSpPr>
          <p:cNvPr id="325" name="Google Shape;325;p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26" name="Google Shape;326;p3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Dept of AI &amp; DS</a:t>
            </a:r>
            <a:endParaRPr/>
          </a:p>
        </p:txBody>
      </p:sp>
      <p:graphicFrame>
        <p:nvGraphicFramePr>
          <p:cNvPr id="327" name="Google Shape;327;p34"/>
          <p:cNvGraphicFramePr/>
          <p:nvPr/>
        </p:nvGraphicFramePr>
        <p:xfrm>
          <a:off x="720090" y="315468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{5153738A-5B41-497C-A225-D786135C6D59}</a:tableStyleId>
              </a:tblPr>
              <a:tblGrid>
                <a:gridCol w="1536175"/>
                <a:gridCol w="1075325"/>
                <a:gridCol w="5069425"/>
              </a:tblGrid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Team member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1F5C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USN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1F5C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Modules owned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1F5CA8"/>
                    </a:solidFill>
                  </a:tcPr>
                </a:tc>
              </a:tr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AYUSH PANDEY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1BM23AD074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Architecture and ADRs · drift engine (PSI/KS detectors, severity roll-up, offline worker) · trust engine fusion and decision matrix</a:t>
                      </a:r>
                      <a:endParaRPr sz="1100"/>
                    </a:p>
                  </a:txBody>
                  <a:tcPr marT="28575" marB="28575" marR="47625" marL="47625"/>
                </a:tc>
              </a:tr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VIVEK BOORA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1BM23AD073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Gateway and control-plane APIs · policy engine and rule grammar · tamper-evident audit chain and evidence export</a:t>
                      </a:r>
                      <a:endParaRPr sz="1100"/>
                    </a:p>
                  </a:txBody>
                  <a:tcPr marT="28575" marB="28575" marR="47625" marL="47625">
                    <a:solidFill>
                      <a:srgbClr val="F4F6F9"/>
                    </a:solidFill>
                  </a:tcPr>
                </a:tc>
              </a:tr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NITIN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1BM24AD404</a:t>
                      </a:r>
                      <a:endParaRPr sz="1100"/>
                    </a:p>
                  </a:txBody>
                  <a:tcPr marT="28575" marB="28575" marR="47625" marL="476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Python SDK · React operator dashboard · fintech demonstration · 268-test suite across unit, integration and end-to-end</a:t>
                      </a:r>
                      <a:endParaRPr sz="1100"/>
                    </a:p>
                  </a:txBody>
                  <a:tcPr marT="28575" marB="28575" marR="47625" marL="476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